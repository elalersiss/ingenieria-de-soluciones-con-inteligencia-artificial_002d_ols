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67" r:id="rId4"/>
    <p:sldId id="283" r:id="rId5"/>
    <p:sldId id="284" r:id="rId6"/>
    <p:sldId id="270" r:id="rId7"/>
    <p:sldId id="275" r:id="rId8"/>
    <p:sldId id="276" r:id="rId9"/>
    <p:sldId id="277" r:id="rId10"/>
    <p:sldId id="278" r:id="rId11"/>
    <p:sldId id="280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2905" autoAdjust="0"/>
  </p:normalViewPr>
  <p:slideViewPr>
    <p:cSldViewPr snapToGrid="0">
      <p:cViewPr varScale="1">
        <p:scale>
          <a:sx n="62" d="100"/>
          <a:sy n="62" d="100"/>
        </p:scale>
        <p:origin x="8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9651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6413-4022-C3C4-7911-E30E71E3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5E8F25-6392-6924-C9B6-8034B0EA6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55F415-FEB3-1C09-5D6E-3A7F0B60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3B22C-98FF-D369-70ED-34DA4D8B3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9433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EF18-6F18-3996-8AFC-26DACB94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8C87DF-0610-004B-3F1C-4FD8A7A4E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011944-3FD5-D4CF-DE6B-63F675C2F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518EB7-3B3B-4FB1-6E66-DD56ADEC3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8664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7230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9646-783F-2ADE-93F4-C84400C0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F72E4C-E81B-0EA1-DA7A-2DBF3EC38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E03872-D8E6-E590-D66A-EDA103A9F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AB0C6D-38CA-DE9D-F17E-85E0FB78C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353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4A66D-5C72-220E-A5B3-0A5AA479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8815F3-77FE-F972-730F-0A51D79F3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615D61-1257-526C-DDBF-89B5FE88A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439C01-EB8A-6060-305B-4DC2AC01E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24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7F09-2CEE-134E-D77D-A9C91303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C29A37-AF18-232E-292F-B7EE3593E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9816B6-E7FA-70BD-3CFD-8A36D91FB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45DDCA-8C6A-4606-D024-8FFC7CFD1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1102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937C-1FAB-0A38-8FC7-D65557A0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B3CBCA-642F-CFE1-02EF-9BC594EA6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5A6867-27B3-A90A-6B9C-B318F76F0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8FED1-35A7-123A-CEDC-E08A19BA1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798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16-03-2026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56E4-CA9F-D506-B0D1-EEE348E0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EDB48-DD50-4819-B34A-4BE67304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Noticias: </a:t>
            </a:r>
            <a:r>
              <a:rPr lang="es-MX" sz="3600" i="1" dirty="0"/>
              <a:t>Yann </a:t>
            </a:r>
            <a:r>
              <a:rPr lang="es-MX" sz="3600" i="1" dirty="0" err="1"/>
              <a:t>LeCun</a:t>
            </a:r>
            <a:r>
              <a:rPr lang="es-MX" sz="3600" i="1" dirty="0"/>
              <a:t>, pionero en AI, reclama que los </a:t>
            </a:r>
            <a:r>
              <a:rPr lang="es-MX" sz="3600" i="1" dirty="0" err="1"/>
              <a:t>LLMs</a:t>
            </a:r>
            <a:r>
              <a:rPr lang="es-MX" sz="3600" i="1" dirty="0"/>
              <a:t> no son capaces de entender el mundo físico.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201A8FD-C688-8C94-3C88-C8750E71A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3DF0326-9135-76DA-7228-1FFF075BD56C}"/>
              </a:ext>
            </a:extLst>
          </p:cNvPr>
          <p:cNvSpPr txBox="1"/>
          <p:nvPr/>
        </p:nvSpPr>
        <p:spPr>
          <a:xfrm>
            <a:off x="503358" y="6291699"/>
            <a:ext cx="7604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b="1" i="1" dirty="0"/>
              <a:t>Nota:</a:t>
            </a:r>
            <a:r>
              <a:rPr lang="es-CL" sz="1200" dirty="0"/>
              <a:t> https://www.wired.com/story/yann-lecun-raises-dollar1-billion-to-build-ai-that-understands-the-physical-world/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FC4493D-8108-57B2-6D72-E3D0C0B44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48" y="1610468"/>
            <a:ext cx="10958794" cy="46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93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08BD-6591-3817-0522-CCA60F58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84A0F-F196-EF93-7722-5C7C746D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Clase 1.2: </a:t>
            </a:r>
            <a:r>
              <a:rPr lang="es-MX" sz="3600" i="1" dirty="0"/>
              <a:t>Técnicas de </a:t>
            </a:r>
            <a:r>
              <a:rPr lang="es-CL" sz="3600" i="1" dirty="0" err="1"/>
              <a:t>Prompt</a:t>
            </a:r>
            <a:r>
              <a:rPr lang="es-CL" sz="3600" i="1" dirty="0"/>
              <a:t> </a:t>
            </a:r>
            <a:r>
              <a:rPr lang="es-CL" sz="3600" i="1" dirty="0" err="1"/>
              <a:t>Engineering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70F39DB-595B-4BED-DADD-2EE9AF2AA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34375E6-C820-EAEA-A2C4-2EEA9664306D}"/>
              </a:ext>
            </a:extLst>
          </p:cNvPr>
          <p:cNvSpPr txBox="1">
            <a:spLocks/>
          </p:cNvSpPr>
          <p:nvPr/>
        </p:nvSpPr>
        <p:spPr>
          <a:xfrm>
            <a:off x="762553" y="1349744"/>
            <a:ext cx="10515600" cy="43842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/>
              <a:t>Se cubrirán los siguientes tópicos en la clase: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Zero-</a:t>
            </a:r>
            <a:r>
              <a:rPr lang="es-MX" sz="2800" dirty="0" err="1"/>
              <a:t>shot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Few-shot</a:t>
            </a:r>
            <a:r>
              <a:rPr lang="es-MX" sz="2800" dirty="0"/>
              <a:t> </a:t>
            </a:r>
            <a:r>
              <a:rPr lang="es-MX" sz="2800" dirty="0" err="1"/>
              <a:t>learning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Chain-of-thought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Prompts</a:t>
            </a:r>
            <a:r>
              <a:rPr lang="es-MX" sz="2800" dirty="0"/>
              <a:t> Especializados.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r>
              <a:rPr lang="es-MX" sz="2800" dirty="0"/>
              <a:t>No obstante, esta clase </a:t>
            </a:r>
            <a:r>
              <a:rPr lang="es-MX" sz="2800" b="1" i="1" u="sng" dirty="0"/>
              <a:t>no cubrirá </a:t>
            </a:r>
            <a:r>
              <a:rPr lang="es-MX" sz="2800" dirty="0"/>
              <a:t>los siguientes tópicos: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fine-</a:t>
            </a:r>
            <a:r>
              <a:rPr lang="es-MX" sz="2800" dirty="0" err="1"/>
              <a:t>tunning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RAG.</a:t>
            </a:r>
          </a:p>
          <a:p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316300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9ED0E-F8B6-BECA-055E-F89143B0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CFC42-A4EA-B840-37D0-8D1BB2B8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3" y="113696"/>
            <a:ext cx="10515600" cy="1325563"/>
          </a:xfrm>
        </p:spPr>
        <p:txBody>
          <a:bodyPr>
            <a:noAutofit/>
          </a:bodyPr>
          <a:lstStyle/>
          <a:p>
            <a:r>
              <a:rPr lang="es-CL" b="1" i="1" dirty="0"/>
              <a:t>Reminder:</a:t>
            </a:r>
            <a:r>
              <a:rPr lang="es-CL" dirty="0"/>
              <a:t> </a:t>
            </a:r>
            <a:r>
              <a:rPr lang="es-CL" sz="3600" i="1" dirty="0"/>
              <a:t>Que hemos visto hasta ahora…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2555913-07F9-9178-83D0-341E967AC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5A5714F-54DF-8691-28CB-BF6B6910530F}"/>
              </a:ext>
            </a:extLst>
          </p:cNvPr>
          <p:cNvSpPr txBox="1"/>
          <p:nvPr/>
        </p:nvSpPr>
        <p:spPr>
          <a:xfrm>
            <a:off x="620313" y="63571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b="1" i="1" dirty="0"/>
              <a:t>Nota</a:t>
            </a:r>
            <a:r>
              <a:rPr lang="es-CL" sz="1400" dirty="0"/>
              <a:t>: https://arxiv.org/pdf/2509.04664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81E169B-F00E-72AD-FB82-E54857197CE2}"/>
              </a:ext>
            </a:extLst>
          </p:cNvPr>
          <p:cNvSpPr/>
          <p:nvPr/>
        </p:nvSpPr>
        <p:spPr>
          <a:xfrm>
            <a:off x="4571999" y="2448041"/>
            <a:ext cx="2640460" cy="16125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LLMs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F1DFB0F-C11B-7ECE-2138-D762EA475E53}"/>
              </a:ext>
            </a:extLst>
          </p:cNvPr>
          <p:cNvCxnSpPr>
            <a:cxnSpLocks/>
          </p:cNvCxnSpPr>
          <p:nvPr/>
        </p:nvCxnSpPr>
        <p:spPr>
          <a:xfrm>
            <a:off x="2703816" y="2085353"/>
            <a:ext cx="1868183" cy="11689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516BD4A-0F95-577E-D0D1-58A2323AFD18}"/>
              </a:ext>
            </a:extLst>
          </p:cNvPr>
          <p:cNvCxnSpPr>
            <a:cxnSpLocks/>
          </p:cNvCxnSpPr>
          <p:nvPr/>
        </p:nvCxnSpPr>
        <p:spPr>
          <a:xfrm flipV="1">
            <a:off x="2703816" y="3285161"/>
            <a:ext cx="1868183" cy="1135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21BFC83-7B68-6433-E9B4-0201A3DBAB7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212459" y="3254339"/>
            <a:ext cx="19623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E2D3B5-6BB2-493A-0860-90574EABC06A}"/>
              </a:ext>
            </a:extLst>
          </p:cNvPr>
          <p:cNvSpPr txBox="1"/>
          <p:nvPr/>
        </p:nvSpPr>
        <p:spPr>
          <a:xfrm>
            <a:off x="467913" y="1685198"/>
            <a:ext cx="23014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Los </a:t>
            </a:r>
            <a:r>
              <a:rPr lang="es-MX" i="1" dirty="0" err="1"/>
              <a:t>LLMs</a:t>
            </a:r>
            <a:r>
              <a:rPr lang="es-MX" i="1" dirty="0"/>
              <a:t> tiene una estructura de mensajes:</a:t>
            </a:r>
          </a:p>
          <a:p>
            <a:r>
              <a:rPr lang="es-MX" b="1" i="1" dirty="0"/>
              <a:t>-</a:t>
            </a:r>
            <a:r>
              <a:rPr lang="es-MX" b="1" i="1" dirty="0" err="1"/>
              <a:t>Prompt</a:t>
            </a:r>
            <a:r>
              <a:rPr lang="es-MX" b="1" i="1" dirty="0"/>
              <a:t> de Sistema</a:t>
            </a:r>
          </a:p>
          <a:p>
            <a:r>
              <a:rPr lang="es-MX" b="1" i="1" dirty="0"/>
              <a:t>-Human </a:t>
            </a:r>
            <a:r>
              <a:rPr lang="es-MX" b="1" i="1" dirty="0" err="1"/>
              <a:t>Message</a:t>
            </a:r>
            <a:endParaRPr lang="es-MX" b="1" i="1" dirty="0"/>
          </a:p>
          <a:p>
            <a:r>
              <a:rPr lang="es-MX" b="1" i="1" dirty="0"/>
              <a:t>-</a:t>
            </a:r>
            <a:r>
              <a:rPr lang="es-MX" b="1" i="1" dirty="0" err="1"/>
              <a:t>Asistent</a:t>
            </a:r>
            <a:r>
              <a:rPr lang="es-MX" b="1" i="1" dirty="0"/>
              <a:t> </a:t>
            </a:r>
            <a:r>
              <a:rPr lang="es-MX" b="1" i="1" dirty="0" err="1"/>
              <a:t>Message</a:t>
            </a:r>
            <a:endParaRPr lang="es-MX" b="1" i="1" dirty="0"/>
          </a:p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18933A-DBE1-FF87-0F38-CEDCEFDB3FF0}"/>
              </a:ext>
            </a:extLst>
          </p:cNvPr>
          <p:cNvSpPr txBox="1"/>
          <p:nvPr/>
        </p:nvSpPr>
        <p:spPr>
          <a:xfrm>
            <a:off x="328137" y="3972473"/>
            <a:ext cx="251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Los </a:t>
            </a:r>
            <a:r>
              <a:rPr lang="es-MX" i="1" dirty="0" err="1"/>
              <a:t>LLMs</a:t>
            </a:r>
            <a:r>
              <a:rPr lang="es-MX" i="1" dirty="0"/>
              <a:t> tiene una parámetros de entrada</a:t>
            </a:r>
          </a:p>
          <a:p>
            <a:r>
              <a:rPr lang="es-MX" i="1" dirty="0"/>
              <a:t>-</a:t>
            </a:r>
            <a:r>
              <a:rPr lang="es-MX" i="1" dirty="0" err="1"/>
              <a:t>Tempuratura</a:t>
            </a:r>
            <a:endParaRPr lang="es-MX" i="1" dirty="0"/>
          </a:p>
          <a:p>
            <a:r>
              <a:rPr lang="es-MX" i="1" dirty="0"/>
              <a:t>-Max token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0E1BD5-D542-3F51-A9E0-C1EBF0D742B1}"/>
              </a:ext>
            </a:extLst>
          </p:cNvPr>
          <p:cNvSpPr txBox="1"/>
          <p:nvPr/>
        </p:nvSpPr>
        <p:spPr>
          <a:xfrm>
            <a:off x="9321906" y="2389140"/>
            <a:ext cx="23014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Los </a:t>
            </a:r>
            <a:r>
              <a:rPr lang="es-MX" i="1" dirty="0" err="1"/>
              <a:t>LLMs</a:t>
            </a:r>
            <a:r>
              <a:rPr lang="es-MX" i="1" dirty="0"/>
              <a:t> entregan los siguiente output:</a:t>
            </a:r>
          </a:p>
          <a:p>
            <a:r>
              <a:rPr lang="es-MX" i="1" dirty="0"/>
              <a:t>- Texto generado (response/</a:t>
            </a:r>
            <a:r>
              <a:rPr lang="es-MX" i="1" dirty="0" err="1"/>
              <a:t>completion</a:t>
            </a:r>
            <a:r>
              <a:rPr lang="es-MX" i="1" dirty="0"/>
              <a:t>)</a:t>
            </a:r>
          </a:p>
          <a:p>
            <a:r>
              <a:rPr lang="es-MX" i="1" dirty="0"/>
              <a:t>- </a:t>
            </a:r>
            <a:r>
              <a:rPr lang="es-MX" i="1" dirty="0" err="1"/>
              <a:t>Usage_prompt</a:t>
            </a:r>
            <a:r>
              <a:rPr lang="es-MX" i="1" dirty="0"/>
              <a:t> (</a:t>
            </a:r>
          </a:p>
          <a:p>
            <a:r>
              <a:rPr lang="es-MX" i="1" dirty="0" err="1"/>
              <a:t>Prompt</a:t>
            </a:r>
            <a:r>
              <a:rPr lang="es-MX" i="1" dirty="0"/>
              <a:t>, </a:t>
            </a:r>
            <a:r>
              <a:rPr lang="es-MX" i="1" dirty="0" err="1"/>
              <a:t>completion</a:t>
            </a:r>
            <a:r>
              <a:rPr lang="es-MX" i="1" dirty="0"/>
              <a:t> and total tokens)</a:t>
            </a:r>
          </a:p>
          <a:p>
            <a:r>
              <a:rPr lang="es-MX" i="1" dirty="0"/>
              <a:t>- </a:t>
            </a:r>
            <a:r>
              <a:rPr lang="es-MX" i="1" dirty="0" err="1"/>
              <a:t>Finished</a:t>
            </a:r>
            <a:r>
              <a:rPr lang="es-MX" i="1" dirty="0"/>
              <a:t> </a:t>
            </a:r>
            <a:r>
              <a:rPr lang="es-MX" i="1" dirty="0" err="1"/>
              <a:t>reason</a:t>
            </a:r>
            <a:r>
              <a:rPr lang="es-MX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0404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A64D0-9D25-0F5B-463E-2C59EFED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0AFF-BF81-7614-B2DC-CBD76E919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3" y="113696"/>
            <a:ext cx="10515600" cy="1325563"/>
          </a:xfrm>
        </p:spPr>
        <p:txBody>
          <a:bodyPr>
            <a:noAutofit/>
          </a:bodyPr>
          <a:lstStyle/>
          <a:p>
            <a:r>
              <a:rPr lang="es-CL" b="1" i="1" dirty="0"/>
              <a:t>Reminder:</a:t>
            </a:r>
            <a:r>
              <a:rPr lang="es-CL" dirty="0"/>
              <a:t> </a:t>
            </a:r>
            <a:r>
              <a:rPr lang="es-CL" sz="3600" i="1" dirty="0"/>
              <a:t>Que hemos visto hasta ahora…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7BA5057-F796-7C0D-775A-278C7B578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0D6B4F4-73E0-017D-2EA2-6E32745F8FF6}"/>
              </a:ext>
            </a:extLst>
          </p:cNvPr>
          <p:cNvSpPr/>
          <p:nvPr/>
        </p:nvSpPr>
        <p:spPr>
          <a:xfrm>
            <a:off x="4571999" y="2448041"/>
            <a:ext cx="2640460" cy="16125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LLMs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8DD948-8DAF-CB43-3A1D-5DE2E95BFDE9}"/>
              </a:ext>
            </a:extLst>
          </p:cNvPr>
          <p:cNvCxnSpPr>
            <a:cxnSpLocks/>
          </p:cNvCxnSpPr>
          <p:nvPr/>
        </p:nvCxnSpPr>
        <p:spPr>
          <a:xfrm>
            <a:off x="2703816" y="2085353"/>
            <a:ext cx="1868183" cy="11689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79FE218D-2E71-8FFF-EA51-CFC35ED2F7A6}"/>
              </a:ext>
            </a:extLst>
          </p:cNvPr>
          <p:cNvCxnSpPr>
            <a:cxnSpLocks/>
          </p:cNvCxnSpPr>
          <p:nvPr/>
        </p:nvCxnSpPr>
        <p:spPr>
          <a:xfrm flipV="1">
            <a:off x="2703816" y="3285161"/>
            <a:ext cx="1868183" cy="1135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1908C19-72D6-0562-F6A3-C4DF386ADAF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212459" y="3254339"/>
            <a:ext cx="14589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CDD96F5-3D6A-FE31-D0A9-4056EB1849F9}"/>
              </a:ext>
            </a:extLst>
          </p:cNvPr>
          <p:cNvSpPr txBox="1"/>
          <p:nvPr/>
        </p:nvSpPr>
        <p:spPr>
          <a:xfrm>
            <a:off x="467913" y="1685198"/>
            <a:ext cx="23014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Los </a:t>
            </a:r>
            <a:r>
              <a:rPr lang="es-MX" dirty="0" err="1"/>
              <a:t>LLMs</a:t>
            </a:r>
            <a:r>
              <a:rPr lang="es-MX" dirty="0"/>
              <a:t> tienen una estructura de mensajes, compuesta por:</a:t>
            </a:r>
          </a:p>
          <a:p>
            <a:r>
              <a:rPr lang="es-MX" dirty="0"/>
              <a:t>-</a:t>
            </a:r>
            <a:r>
              <a:rPr lang="es-MX" dirty="0" err="1"/>
              <a:t>Prompt</a:t>
            </a:r>
            <a:r>
              <a:rPr lang="es-MX" dirty="0"/>
              <a:t> de sistema</a:t>
            </a:r>
          </a:p>
          <a:p>
            <a:r>
              <a:rPr lang="es-MX" dirty="0"/>
              <a:t>-Human </a:t>
            </a:r>
            <a:r>
              <a:rPr lang="es-MX" dirty="0" err="1"/>
              <a:t>message</a:t>
            </a:r>
            <a:endParaRPr lang="es-MX" dirty="0"/>
          </a:p>
          <a:p>
            <a:r>
              <a:rPr lang="es-MX" dirty="0"/>
              <a:t>-</a:t>
            </a:r>
            <a:r>
              <a:rPr lang="es-MX" dirty="0" err="1"/>
              <a:t>Assistant</a:t>
            </a:r>
            <a:r>
              <a:rPr lang="es-MX" dirty="0"/>
              <a:t> </a:t>
            </a:r>
            <a:r>
              <a:rPr lang="es-MX" dirty="0" err="1"/>
              <a:t>message</a:t>
            </a:r>
            <a:endParaRPr lang="es-MX" dirty="0"/>
          </a:p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B423E46-49D6-7D5B-BC8E-106BDC4846CC}"/>
              </a:ext>
            </a:extLst>
          </p:cNvPr>
          <p:cNvSpPr txBox="1"/>
          <p:nvPr/>
        </p:nvSpPr>
        <p:spPr>
          <a:xfrm>
            <a:off x="328137" y="3972473"/>
            <a:ext cx="2515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Los </a:t>
            </a:r>
            <a:r>
              <a:rPr lang="es-MX" dirty="0" err="1"/>
              <a:t>LLMs</a:t>
            </a:r>
            <a:r>
              <a:rPr lang="es-MX" dirty="0"/>
              <a:t> tienen parámetros de entrada, entre los que se encuentran:</a:t>
            </a:r>
          </a:p>
          <a:p>
            <a:r>
              <a:rPr lang="es-CL" dirty="0"/>
              <a:t>- Temperatura</a:t>
            </a:r>
          </a:p>
          <a:p>
            <a:r>
              <a:rPr lang="es-CL" dirty="0"/>
              <a:t>- Max tokens</a:t>
            </a:r>
          </a:p>
          <a:p>
            <a:endParaRPr lang="es-MX" i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F50EC0A-7182-88DB-F435-9F58F64A56CD}"/>
              </a:ext>
            </a:extLst>
          </p:cNvPr>
          <p:cNvSpPr txBox="1"/>
          <p:nvPr/>
        </p:nvSpPr>
        <p:spPr>
          <a:xfrm>
            <a:off x="8728336" y="2273290"/>
            <a:ext cx="34636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Los </a:t>
            </a:r>
            <a:r>
              <a:rPr lang="es-MX" dirty="0" err="1"/>
              <a:t>LLMs</a:t>
            </a:r>
            <a:r>
              <a:rPr lang="es-MX" dirty="0"/>
              <a:t> entregan los siguientes outputs:</a:t>
            </a:r>
          </a:p>
          <a:p>
            <a:r>
              <a:rPr lang="es-MX" dirty="0"/>
              <a:t>1-) Texto generado (response/</a:t>
            </a:r>
            <a:r>
              <a:rPr lang="es-MX" dirty="0" err="1"/>
              <a:t>completion</a:t>
            </a:r>
            <a:r>
              <a:rPr lang="es-MX" dirty="0"/>
              <a:t>)</a:t>
            </a:r>
          </a:p>
          <a:p>
            <a:r>
              <a:rPr lang="es-MX" dirty="0"/>
              <a:t>2)-</a:t>
            </a:r>
            <a:r>
              <a:rPr lang="es-CL" dirty="0"/>
              <a:t> </a:t>
            </a:r>
            <a:r>
              <a:rPr lang="es-CL" dirty="0" err="1"/>
              <a:t>Usage</a:t>
            </a:r>
            <a:r>
              <a:rPr lang="es-CL" dirty="0"/>
              <a:t> </a:t>
            </a:r>
            <a:r>
              <a:rPr lang="es-CL" dirty="0" err="1"/>
              <a:t>prompt</a:t>
            </a:r>
            <a:r>
              <a:rPr lang="es-CL" dirty="0"/>
              <a:t>: incluye </a:t>
            </a:r>
            <a:r>
              <a:rPr lang="es-CL" dirty="0" err="1"/>
              <a:t>prompt</a:t>
            </a:r>
            <a:r>
              <a:rPr lang="es-CL" dirty="0"/>
              <a:t> tokens, </a:t>
            </a:r>
            <a:r>
              <a:rPr lang="es-CL" dirty="0" err="1"/>
              <a:t>completion</a:t>
            </a:r>
            <a:r>
              <a:rPr lang="es-CL" dirty="0"/>
              <a:t> tokens y total tokens.</a:t>
            </a:r>
          </a:p>
          <a:p>
            <a:r>
              <a:rPr lang="es-MX" dirty="0"/>
              <a:t>- </a:t>
            </a:r>
            <a:r>
              <a:rPr lang="es-MX" dirty="0" err="1"/>
              <a:t>Finish</a:t>
            </a:r>
            <a:r>
              <a:rPr lang="es-MX" dirty="0"/>
              <a:t> </a:t>
            </a:r>
            <a:r>
              <a:rPr lang="es-MX" dirty="0" err="1"/>
              <a:t>reason</a:t>
            </a:r>
            <a:r>
              <a:rPr lang="es-MX" dirty="0"/>
              <a:t>: indica la razón por la cual el modelo terminó de generar la respuesta.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533743C-4340-4DC6-C7EB-827C0B035B76}"/>
              </a:ext>
            </a:extLst>
          </p:cNvPr>
          <p:cNvCxnSpPr>
            <a:cxnSpLocks/>
          </p:cNvCxnSpPr>
          <p:nvPr/>
        </p:nvCxnSpPr>
        <p:spPr>
          <a:xfrm flipV="1">
            <a:off x="2519956" y="1801947"/>
            <a:ext cx="1661626" cy="94268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D4E7EA-482B-13F3-B669-3D3D1DA7E9F4}"/>
              </a:ext>
            </a:extLst>
          </p:cNvPr>
          <p:cNvSpPr txBox="1"/>
          <p:nvPr/>
        </p:nvSpPr>
        <p:spPr>
          <a:xfrm>
            <a:off x="4181582" y="156900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b="1" i="1" dirty="0" err="1">
                <a:solidFill>
                  <a:schemeClr val="accent1"/>
                </a:solidFill>
              </a:rPr>
              <a:t>Prompt</a:t>
            </a:r>
            <a:r>
              <a:rPr lang="es-CL" sz="1800" b="1" i="1" dirty="0">
                <a:solidFill>
                  <a:schemeClr val="accent1"/>
                </a:solidFill>
              </a:rPr>
              <a:t> </a:t>
            </a:r>
            <a:r>
              <a:rPr lang="es-CL" sz="1800" b="1" i="1" dirty="0" err="1">
                <a:solidFill>
                  <a:schemeClr val="accent1"/>
                </a:solidFill>
              </a:rPr>
              <a:t>Engineering</a:t>
            </a:r>
            <a:r>
              <a:rPr lang="es-CL" sz="1800" b="1" i="1" dirty="0">
                <a:solidFill>
                  <a:schemeClr val="accent1"/>
                </a:solidFill>
              </a:rPr>
              <a:t>: Estructurar la llamada. </a:t>
            </a:r>
            <a:endParaRPr lang="es-CL" dirty="0">
              <a:solidFill>
                <a:schemeClr val="accent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A5D3405-C41D-4D98-5E19-F6DA120F7543}"/>
              </a:ext>
            </a:extLst>
          </p:cNvPr>
          <p:cNvCxnSpPr>
            <a:cxnSpLocks/>
          </p:cNvCxnSpPr>
          <p:nvPr/>
        </p:nvCxnSpPr>
        <p:spPr>
          <a:xfrm>
            <a:off x="5892229" y="4060636"/>
            <a:ext cx="0" cy="9274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F93415B-B9AB-5F62-148B-9386A22F0B63}"/>
              </a:ext>
            </a:extLst>
          </p:cNvPr>
          <p:cNvSpPr txBox="1"/>
          <p:nvPr/>
        </p:nvSpPr>
        <p:spPr>
          <a:xfrm>
            <a:off x="3809364" y="4988135"/>
            <a:ext cx="4389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Los proveedores más conocidos de </a:t>
            </a:r>
            <a:r>
              <a:rPr lang="es-MX" dirty="0" err="1"/>
              <a:t>LLMs</a:t>
            </a:r>
            <a:r>
              <a:rPr lang="es-MX" dirty="0"/>
              <a:t> son </a:t>
            </a:r>
            <a:r>
              <a:rPr lang="es-MX" b="1" dirty="0"/>
              <a:t>Meta, </a:t>
            </a:r>
            <a:r>
              <a:rPr lang="es-MX" b="1" dirty="0" err="1"/>
              <a:t>OpenAI</a:t>
            </a:r>
            <a:r>
              <a:rPr lang="es-MX" b="1" dirty="0"/>
              <a:t>, </a:t>
            </a:r>
            <a:r>
              <a:rPr lang="es-MX" b="1" dirty="0" err="1"/>
              <a:t>Anthropic</a:t>
            </a:r>
            <a:r>
              <a:rPr lang="es-MX" b="1" i="1" dirty="0"/>
              <a:t>, </a:t>
            </a:r>
            <a:r>
              <a:rPr lang="es-MX" b="1" dirty="0"/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260439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39E2-9FF2-6A1E-1922-F99FF4B6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9CF08-BB9D-142B-F583-41A6E9F9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Why</a:t>
            </a:r>
            <a:r>
              <a:rPr lang="es-MX" sz="3600" b="1" i="1" dirty="0"/>
              <a:t>: </a:t>
            </a:r>
            <a:r>
              <a:rPr lang="es-MX" sz="3600" i="1" dirty="0"/>
              <a:t>¿Por qué los </a:t>
            </a:r>
            <a:r>
              <a:rPr lang="es-MX" sz="3600" i="1" dirty="0" err="1"/>
              <a:t>LLMs</a:t>
            </a:r>
            <a:r>
              <a:rPr lang="es-MX" sz="3600" i="1" dirty="0"/>
              <a:t> no me responden como quiero?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640CBAF-E7ED-BECE-3438-38C63614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26CCDA-81A2-57FF-10E7-339F8BF3C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579" y="1518663"/>
            <a:ext cx="4095961" cy="427377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A241361-22FB-2CAF-6A41-558EAD3FC1CD}"/>
              </a:ext>
            </a:extLst>
          </p:cNvPr>
          <p:cNvSpPr txBox="1">
            <a:spLocks/>
          </p:cNvSpPr>
          <p:nvPr/>
        </p:nvSpPr>
        <p:spPr>
          <a:xfrm>
            <a:off x="6325152" y="1355148"/>
            <a:ext cx="5298164" cy="47703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400" dirty="0"/>
              <a:t>Los modelos de lenguaje son entrenados con toda la información del internet, y tiene una fecha de corte de entrenamiento (“</a:t>
            </a:r>
            <a:r>
              <a:rPr lang="es-CL" sz="2400" dirty="0" err="1"/>
              <a:t>cut</a:t>
            </a:r>
            <a:r>
              <a:rPr lang="es-CL" sz="2400" dirty="0"/>
              <a:t>-off”).  </a:t>
            </a:r>
          </a:p>
          <a:p>
            <a:endParaRPr lang="es-C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Los </a:t>
            </a:r>
            <a:r>
              <a:rPr lang="es-CL" sz="2400" dirty="0" err="1"/>
              <a:t>LLMs</a:t>
            </a:r>
            <a:r>
              <a:rPr lang="es-CL" sz="2400" dirty="0"/>
              <a:t> son generalistas.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Tienen una fecha de corte.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Se construyen en base a datos públicos, no privados.</a:t>
            </a:r>
          </a:p>
          <a:p>
            <a:endParaRPr lang="es-CL" sz="2400" dirty="0"/>
          </a:p>
          <a:p>
            <a:r>
              <a:rPr lang="es-CL" sz="2400" dirty="0"/>
              <a:t>Hay técnicas para resolver estos </a:t>
            </a:r>
            <a:r>
              <a:rPr lang="es-CL" sz="2400" b="1" i="1" dirty="0"/>
              <a:t>problemas.</a:t>
            </a:r>
          </a:p>
          <a:p>
            <a:endParaRPr lang="es-CL" sz="2400" i="1" dirty="0"/>
          </a:p>
        </p:txBody>
      </p:sp>
    </p:spTree>
    <p:extLst>
      <p:ext uri="{BB962C8B-B14F-4D97-AF65-F5344CB8AC3E}">
        <p14:creationId xmlns:p14="http://schemas.microsoft.com/office/powerpoint/2010/main" val="91472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BBEE-0EEA-D3BB-8336-78BD3BF3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11CD5-E2F0-0C7B-0469-9F67F6F3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3" y="113696"/>
            <a:ext cx="10515600" cy="1325563"/>
          </a:xfrm>
        </p:spPr>
        <p:txBody>
          <a:bodyPr>
            <a:noAutofit/>
          </a:bodyPr>
          <a:lstStyle/>
          <a:p>
            <a:r>
              <a:rPr lang="es-CL" sz="3600" b="1" i="1" dirty="0" err="1"/>
              <a:t>Hallucinate</a:t>
            </a:r>
            <a:r>
              <a:rPr lang="es-CL" sz="3600" i="1" dirty="0"/>
              <a:t>: El talón de Aquiles de los </a:t>
            </a:r>
            <a:r>
              <a:rPr lang="es-CL" sz="3600" i="1" dirty="0" err="1"/>
              <a:t>LLMs</a:t>
            </a:r>
            <a:r>
              <a:rPr lang="es-CL" sz="3600" i="1" dirty="0"/>
              <a:t>.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FF229DD-BF71-3CB6-1424-6EDCC25B4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C8188E-B197-9277-DC7A-EE5834C1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960" y="1127759"/>
            <a:ext cx="7361114" cy="4301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6056470-B727-A2D1-B079-B71906FC5623}"/>
              </a:ext>
            </a:extLst>
          </p:cNvPr>
          <p:cNvSpPr txBox="1"/>
          <p:nvPr/>
        </p:nvSpPr>
        <p:spPr>
          <a:xfrm>
            <a:off x="620313" y="63571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b="1" i="1" dirty="0"/>
              <a:t>Nota</a:t>
            </a:r>
            <a:r>
              <a:rPr lang="es-CL" sz="1400" dirty="0"/>
              <a:t>: https://arxiv.org/pdf/2509.04664</a:t>
            </a:r>
          </a:p>
        </p:txBody>
      </p:sp>
    </p:spTree>
    <p:extLst>
      <p:ext uri="{BB962C8B-B14F-4D97-AF65-F5344CB8AC3E}">
        <p14:creationId xmlns:p14="http://schemas.microsoft.com/office/powerpoint/2010/main" val="264951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57B2-31A0-85D8-4B12-CD0BE347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9BC08-3932-D5B2-1A43-AF96CCAE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33" y="1912016"/>
            <a:ext cx="10515600" cy="1325563"/>
          </a:xfrm>
        </p:spPr>
        <p:txBody>
          <a:bodyPr>
            <a:noAutofit/>
          </a:bodyPr>
          <a:lstStyle/>
          <a:p>
            <a:r>
              <a:rPr lang="es-CL" sz="4000" b="1" i="1" dirty="0" err="1"/>
              <a:t>Prompt</a:t>
            </a:r>
            <a:r>
              <a:rPr lang="es-CL" sz="4000" b="1" i="1" dirty="0"/>
              <a:t> </a:t>
            </a:r>
            <a:r>
              <a:rPr lang="es-CL" sz="4000" b="1" i="1" dirty="0" err="1"/>
              <a:t>Engineering</a:t>
            </a:r>
            <a:r>
              <a:rPr lang="es-CL" sz="4000" b="1" i="1" dirty="0"/>
              <a:t> </a:t>
            </a:r>
            <a:r>
              <a:rPr lang="es-CL" sz="3600" i="1" dirty="0"/>
              <a:t>es una técnica para mejorar las respuestas de los modelos, buscando consistencia, reducción de alucinaciones y personalización de los </a:t>
            </a:r>
            <a:r>
              <a:rPr lang="es-CL" sz="3600" i="1" dirty="0" err="1"/>
              <a:t>LLMs</a:t>
            </a:r>
            <a:r>
              <a:rPr lang="es-CL" sz="3600" i="1" dirty="0"/>
              <a:t>.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2A28363-6D93-DE8C-F932-8DCEC843D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67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F6F4-5476-9149-08BA-FB2D7CC11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8D10D67-7E7E-C414-C0CB-715BE675B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50C4F39-F3C2-B27A-0FE5-F58F5C3ABC75}"/>
              </a:ext>
            </a:extLst>
          </p:cNvPr>
          <p:cNvCxnSpPr/>
          <p:nvPr/>
        </p:nvCxnSpPr>
        <p:spPr>
          <a:xfrm>
            <a:off x="4033520" y="3545840"/>
            <a:ext cx="2611120" cy="1198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33F31236-89EE-7DE6-FCC1-2E845015F422}"/>
              </a:ext>
            </a:extLst>
          </p:cNvPr>
          <p:cNvSpPr txBox="1">
            <a:spLocks/>
          </p:cNvSpPr>
          <p:nvPr/>
        </p:nvSpPr>
        <p:spPr>
          <a:xfrm>
            <a:off x="6852920" y="39816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i="1" dirty="0"/>
              <a:t>¿Es la solución perfecta?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FE87BB0-667A-CFD8-2698-11DF0259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5E4E6BD-601A-AEE7-6BDC-3DF9315AF672}"/>
              </a:ext>
            </a:extLst>
          </p:cNvPr>
          <p:cNvSpPr txBox="1">
            <a:spLocks/>
          </p:cNvSpPr>
          <p:nvPr/>
        </p:nvSpPr>
        <p:spPr>
          <a:xfrm>
            <a:off x="691433" y="19120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4000" b="1" i="1"/>
              <a:t>Prompt Engineering </a:t>
            </a:r>
            <a:r>
              <a:rPr lang="es-CL" sz="3600" i="1"/>
              <a:t>es una técnica para mejorar las respuestas de los modelos, buscando consistencia, reducción de alucinaciones y personalización de los LLMs.</a:t>
            </a:r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130485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FDF3-09BE-1AB8-3EC0-9C42158B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2A8930F-1822-7455-B419-932B3D791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00FB54E-34D5-66B4-CA62-2D6A3F706930}"/>
              </a:ext>
            </a:extLst>
          </p:cNvPr>
          <p:cNvCxnSpPr/>
          <p:nvPr/>
        </p:nvCxnSpPr>
        <p:spPr>
          <a:xfrm>
            <a:off x="4033520" y="3545840"/>
            <a:ext cx="2611120" cy="1198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8089AB0F-C3E5-E4BD-55D8-E8A91BBA79F0}"/>
              </a:ext>
            </a:extLst>
          </p:cNvPr>
          <p:cNvSpPr txBox="1">
            <a:spLocks/>
          </p:cNvSpPr>
          <p:nvPr/>
        </p:nvSpPr>
        <p:spPr>
          <a:xfrm>
            <a:off x="6852920" y="40819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i="1" dirty="0"/>
              <a:t>¿Es la solución perfecta?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221EEEA-9C05-EEE1-C27E-326A96503126}"/>
              </a:ext>
            </a:extLst>
          </p:cNvPr>
          <p:cNvSpPr txBox="1">
            <a:spLocks/>
          </p:cNvSpPr>
          <p:nvPr/>
        </p:nvSpPr>
        <p:spPr>
          <a:xfrm>
            <a:off x="7490874" y="47447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i="1" dirty="0"/>
              <a:t>No, pero ayuda.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EA02DBA-441B-1A94-F9CC-A494815C2334}"/>
              </a:ext>
            </a:extLst>
          </p:cNvPr>
          <p:cNvSpPr txBox="1">
            <a:spLocks/>
          </p:cNvSpPr>
          <p:nvPr/>
        </p:nvSpPr>
        <p:spPr>
          <a:xfrm>
            <a:off x="691433" y="19120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4000" b="1" i="1"/>
              <a:t>Prompt Engineering </a:t>
            </a:r>
            <a:r>
              <a:rPr lang="es-CL" sz="3600" i="1"/>
              <a:t>es una técnica para mejorar las respuestas de los modelos, buscando consistencia, reducción de alucinaciones y personalización de los LLMs.</a:t>
            </a:r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4135010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97FD-2191-E9AA-3D7F-CD2F3740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56AF0-4894-BD4E-ED99-0933E6ADF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80" y="2471875"/>
            <a:ext cx="10515600" cy="1325563"/>
          </a:xfrm>
        </p:spPr>
        <p:txBody>
          <a:bodyPr>
            <a:noAutofit/>
          </a:bodyPr>
          <a:lstStyle/>
          <a:p>
            <a:r>
              <a:rPr lang="es-CL" sz="3600" i="1" dirty="0"/>
              <a:t>¿Cuáles son las técnicas de </a:t>
            </a:r>
            <a:r>
              <a:rPr lang="es-CL" sz="3600" i="1" dirty="0" err="1"/>
              <a:t>Prompt</a:t>
            </a:r>
            <a:r>
              <a:rPr lang="es-CL" sz="3600" i="1" dirty="0"/>
              <a:t> </a:t>
            </a:r>
            <a:r>
              <a:rPr lang="es-CL" sz="3600" i="1" dirty="0" err="1"/>
              <a:t>Engineering</a:t>
            </a:r>
            <a:r>
              <a:rPr lang="es-CL" sz="3600" i="1" dirty="0"/>
              <a:t>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10E2652-E8AB-542F-F375-D5A600D6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17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88FF-14EF-D369-96A0-A78B148A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619C9-3C53-B17C-0F4A-2E607A64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0435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Zero – </a:t>
            </a:r>
            <a:r>
              <a:rPr lang="es-MX" sz="3600" b="1" i="1" dirty="0" err="1"/>
              <a:t>Shot</a:t>
            </a:r>
            <a:r>
              <a:rPr lang="es-MX" sz="3600" b="1" i="1" dirty="0"/>
              <a:t> </a:t>
            </a:r>
            <a:r>
              <a:rPr lang="es-CL" sz="3600" b="1" i="1" dirty="0" err="1"/>
              <a:t>Prompting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C9AD642-C65A-F352-B420-FE924CA93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A09965E-1AA7-4955-EA0B-59F1D1D0BE72}"/>
              </a:ext>
            </a:extLst>
          </p:cNvPr>
          <p:cNvSpPr txBox="1"/>
          <p:nvPr/>
        </p:nvSpPr>
        <p:spPr>
          <a:xfrm>
            <a:off x="503358" y="6291699"/>
            <a:ext cx="7604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b="1" i="1" dirty="0"/>
              <a:t>Nota:</a:t>
            </a:r>
            <a:r>
              <a:rPr lang="es-CL" sz="1200" dirty="0"/>
              <a:t> https://blog.langchain.com/few-shot-prompting-to-improve-tool-calling-performance/ 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5681707-FFBC-C1EA-DF55-C85DF5E7A034}"/>
              </a:ext>
            </a:extLst>
          </p:cNvPr>
          <p:cNvSpPr txBox="1">
            <a:spLocks/>
          </p:cNvSpPr>
          <p:nvPr/>
        </p:nvSpPr>
        <p:spPr>
          <a:xfrm>
            <a:off x="5878113" y="993489"/>
            <a:ext cx="5257800" cy="402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400" b="1" i="1" dirty="0"/>
              <a:t>Mensaje directo al LLM, sin ningún ejemplo previo. </a:t>
            </a:r>
          </a:p>
          <a:p>
            <a:endParaRPr lang="es-CL" sz="2400" dirty="0"/>
          </a:p>
          <a:p>
            <a:r>
              <a:rPr lang="es-CL" sz="2400" dirty="0"/>
              <a:t>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Implementación fácil y rápida.</a:t>
            </a:r>
          </a:p>
          <a:p>
            <a:endParaRPr lang="es-CL" sz="2400" dirty="0"/>
          </a:p>
          <a:p>
            <a:r>
              <a:rPr lang="es-CL" sz="2400" dirty="0"/>
              <a:t>Desventajas: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Poco confiable.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Los problemas reales son complejos, entonces muy poco usado en la industria.</a:t>
            </a:r>
            <a:endParaRPr lang="es-CL" sz="2400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9682C2-D1FE-20EF-659B-C64CFBE5D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439" y="4847209"/>
            <a:ext cx="6088162" cy="101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C53E-E63A-B17C-52BE-C441A66F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7F201-709B-965B-BAA9-BDC841B2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0435"/>
            <a:ext cx="10515600" cy="1325563"/>
          </a:xfrm>
        </p:spPr>
        <p:txBody>
          <a:bodyPr>
            <a:noAutofit/>
          </a:bodyPr>
          <a:lstStyle/>
          <a:p>
            <a:r>
              <a:rPr lang="es-CL" sz="4000" b="1" i="1" dirty="0" err="1"/>
              <a:t>Few-Shot</a:t>
            </a:r>
            <a:r>
              <a:rPr lang="es-CL" sz="4000" b="1" i="1" dirty="0"/>
              <a:t> </a:t>
            </a:r>
            <a:r>
              <a:rPr lang="es-CL" sz="4000" b="1" i="1" dirty="0" err="1"/>
              <a:t>Prompting</a:t>
            </a:r>
            <a:endParaRPr lang="es-CL" sz="40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3E498152-BC00-D3C0-5FB0-E57A2384A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54B9A69B-616B-831D-6B60-DD1EB1E07EE0}"/>
              </a:ext>
            </a:extLst>
          </p:cNvPr>
          <p:cNvSpPr txBox="1">
            <a:spLocks/>
          </p:cNvSpPr>
          <p:nvPr/>
        </p:nvSpPr>
        <p:spPr>
          <a:xfrm>
            <a:off x="5878113" y="1146017"/>
            <a:ext cx="5257800" cy="402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b="1" i="1" dirty="0"/>
              <a:t>Mensaje directo al LLM, pero con ejemplos de entradas y salidas. Le doy ejemplos al LLM de como quiero que trabaje.</a:t>
            </a:r>
          </a:p>
          <a:p>
            <a:endParaRPr lang="es-CL" sz="2000" dirty="0"/>
          </a:p>
          <a:p>
            <a:r>
              <a:rPr lang="es-CL" sz="2000" dirty="0"/>
              <a:t>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Mas preciso en la tarea. Le enseño como comportarse.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sz="2000" dirty="0"/>
          </a:p>
          <a:p>
            <a:r>
              <a:rPr lang="es-CL" sz="2000" dirty="0"/>
              <a:t>Desventajas: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Output más estándar.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Necesito tener los ejemplos.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El </a:t>
            </a:r>
            <a:r>
              <a:rPr lang="es-CL" sz="2000" dirty="0" err="1"/>
              <a:t>prompt</a:t>
            </a:r>
            <a:r>
              <a:rPr lang="es-CL" sz="2000" dirty="0"/>
              <a:t> puede tomar más tiempo en construirlo.</a:t>
            </a:r>
            <a:endParaRPr lang="es-CL" sz="2000" i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564E48-ECA7-77F3-4357-CD86D66E2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709" y="5001376"/>
            <a:ext cx="4711942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9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DE96E-925A-C73F-24E6-01835329F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0E760-3551-AF8A-6D5D-67111174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9480" y="249601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i="1" dirty="0" err="1"/>
              <a:t>Chain-of-Thought</a:t>
            </a:r>
            <a:br>
              <a:rPr lang="es-CL" i="1" dirty="0"/>
            </a:br>
            <a:r>
              <a:rPr lang="es-CL" i="1" dirty="0"/>
              <a:t>(COF)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DF939F5-A8CF-81E5-C6E4-5597E16F2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6F56345-3B6F-EA99-70E7-DA2C9941FBC9}"/>
              </a:ext>
            </a:extLst>
          </p:cNvPr>
          <p:cNvSpPr txBox="1">
            <a:spLocks/>
          </p:cNvSpPr>
          <p:nvPr/>
        </p:nvSpPr>
        <p:spPr>
          <a:xfrm>
            <a:off x="5878113" y="855882"/>
            <a:ext cx="5257800" cy="402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b="1" i="1" dirty="0"/>
              <a:t>Antes de tener una respuesta, lo correcto es “pensar”. El COF busca que los </a:t>
            </a:r>
            <a:r>
              <a:rPr lang="es-CL" sz="2000" b="1" i="1" dirty="0" err="1"/>
              <a:t>LLMs</a:t>
            </a:r>
            <a:r>
              <a:rPr lang="es-CL" sz="2000" b="1" i="1" dirty="0"/>
              <a:t> construyan una secuencia de pasos antes de entregar la respuesta, como si estuvieran haciendo el calculo matemático de una expresión compleja en “Voz Alta”.</a:t>
            </a:r>
          </a:p>
          <a:p>
            <a:endParaRPr lang="es-CL" sz="2000" dirty="0"/>
          </a:p>
          <a:p>
            <a:r>
              <a:rPr lang="es-CL" sz="2000" dirty="0"/>
              <a:t>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Mayor confiabilidad.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Trazabilidad del pensamiento respecto a la respuesta dada.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Descompone, razona y construye la respuesta.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 err="1"/>
              <a:t>Debugging</a:t>
            </a:r>
            <a:r>
              <a:rPr lang="es-CL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sz="2000" dirty="0"/>
          </a:p>
          <a:p>
            <a:r>
              <a:rPr lang="es-CL" sz="2000" dirty="0"/>
              <a:t>Desventajas: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Toma mayor tiempo de inferencia.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No aplica para todos los casos.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4212E0-03F1-1C6C-29AB-461DD511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171" y="5306127"/>
            <a:ext cx="5188217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4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9C8E-B0EB-11C4-E11D-50EF48FD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BD657-9DB5-49BA-C1F6-71970FFAF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29597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i="1" dirty="0"/>
              <a:t>Técnicas avanzadas de </a:t>
            </a:r>
            <a:r>
              <a:rPr lang="es-CL" i="1" dirty="0" err="1"/>
              <a:t>Prompting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C405D2B-4254-1703-253C-F04B1FC99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D1CD4FE-6463-F120-23B7-DA026D6802E9}"/>
              </a:ext>
            </a:extLst>
          </p:cNvPr>
          <p:cNvSpPr txBox="1"/>
          <p:nvPr/>
        </p:nvSpPr>
        <p:spPr>
          <a:xfrm>
            <a:off x="503358" y="18253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 err="1">
                <a:effectLst/>
                <a:latin typeface="system-ui"/>
              </a:rPr>
              <a:t>Tree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of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Thoughts</a:t>
            </a:r>
            <a:r>
              <a:rPr lang="es-CL" b="1" i="1" dirty="0">
                <a:effectLst/>
                <a:latin typeface="system-ui"/>
              </a:rPr>
              <a:t> (</a:t>
            </a:r>
            <a:r>
              <a:rPr lang="es-CL" b="1" i="1" dirty="0" err="1">
                <a:effectLst/>
                <a:latin typeface="system-ui"/>
              </a:rPr>
              <a:t>ToT</a:t>
            </a:r>
            <a:r>
              <a:rPr lang="es-CL" b="1" i="1" dirty="0">
                <a:effectLst/>
                <a:latin typeface="system-ui"/>
              </a:rPr>
              <a:t>)</a:t>
            </a:r>
          </a:p>
        </p:txBody>
      </p:sp>
      <p:pic>
        <p:nvPicPr>
          <p:cNvPr id="1026" name="Picture 2" descr="Iconos gratis de computadora">
            <a:extLst>
              <a:ext uri="{FF2B5EF4-FFF2-40B4-BE49-F238E27FC236}">
                <a16:creationId xmlns:a16="http://schemas.microsoft.com/office/drawing/2014/main" id="{C5B75F41-B9E4-41E8-4260-C7FCAC6E4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98" y="4983450"/>
            <a:ext cx="1076643" cy="107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4DB099-3A6E-7D3D-71F8-86EE69B62C46}"/>
              </a:ext>
            </a:extLst>
          </p:cNvPr>
          <p:cNvSpPr txBox="1"/>
          <p:nvPr/>
        </p:nvSpPr>
        <p:spPr>
          <a:xfrm>
            <a:off x="503358" y="2459435"/>
            <a:ext cx="23312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0" i="0" dirty="0" err="1">
                <a:effectLst/>
                <a:latin typeface="+mj-lt"/>
              </a:rPr>
              <a:t>Tree</a:t>
            </a:r>
            <a:r>
              <a:rPr lang="es-MX" b="0" i="0" dirty="0">
                <a:effectLst/>
                <a:latin typeface="+mj-lt"/>
              </a:rPr>
              <a:t> </a:t>
            </a:r>
            <a:r>
              <a:rPr lang="es-MX" b="0" i="0" dirty="0" err="1">
                <a:effectLst/>
                <a:latin typeface="+mj-lt"/>
              </a:rPr>
              <a:t>of</a:t>
            </a:r>
            <a:r>
              <a:rPr lang="es-MX" b="0" i="0" dirty="0">
                <a:effectLst/>
                <a:latin typeface="+mj-lt"/>
              </a:rPr>
              <a:t> </a:t>
            </a:r>
            <a:r>
              <a:rPr lang="es-MX" b="0" i="0" dirty="0" err="1">
                <a:effectLst/>
                <a:latin typeface="+mj-lt"/>
              </a:rPr>
              <a:t>Thoughts</a:t>
            </a:r>
            <a:r>
              <a:rPr lang="es-MX" b="0" i="0" dirty="0">
                <a:effectLst/>
                <a:latin typeface="+mj-lt"/>
              </a:rPr>
              <a:t> permite al modelo explorar múltiples caminos de razonamiento de manera sistemática, evaluando y seleccionando las mejores opciones.</a:t>
            </a:r>
            <a:endParaRPr lang="es-CL" dirty="0">
              <a:latin typeface="+mj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77B1DC-856D-B783-90C0-E152B584A88A}"/>
              </a:ext>
            </a:extLst>
          </p:cNvPr>
          <p:cNvSpPr txBox="1"/>
          <p:nvPr/>
        </p:nvSpPr>
        <p:spPr>
          <a:xfrm>
            <a:off x="3129280" y="1823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 err="1"/>
              <a:t>Self-Consistency</a:t>
            </a:r>
            <a:endParaRPr lang="es-CL" b="1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7AACDB-8BD9-46B6-1A0F-DAB02822F253}"/>
              </a:ext>
            </a:extLst>
          </p:cNvPr>
          <p:cNvSpPr txBox="1"/>
          <p:nvPr/>
        </p:nvSpPr>
        <p:spPr>
          <a:xfrm>
            <a:off x="3055838" y="2474387"/>
            <a:ext cx="2133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latin typeface="+mj-lt"/>
              </a:rPr>
              <a:t>Self-Consistency</a:t>
            </a:r>
            <a:r>
              <a:rPr lang="es-MX" dirty="0">
                <a:latin typeface="+mj-lt"/>
              </a:rPr>
              <a:t> mejora la confiabilidad generando múltiples respuestas y seleccionando la más consistente.</a:t>
            </a:r>
            <a:endParaRPr lang="es-CL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CE749-3F4A-E937-ECE3-01F3ED9559F6}"/>
              </a:ext>
            </a:extLst>
          </p:cNvPr>
          <p:cNvSpPr txBox="1"/>
          <p:nvPr/>
        </p:nvSpPr>
        <p:spPr>
          <a:xfrm>
            <a:off x="5262880" y="1697301"/>
            <a:ext cx="2905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 err="1">
                <a:effectLst/>
                <a:latin typeface="system-ui"/>
              </a:rPr>
              <a:t>Program-Aided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Language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Models</a:t>
            </a:r>
            <a:r>
              <a:rPr lang="es-CL" b="1" i="1" dirty="0">
                <a:effectLst/>
                <a:latin typeface="system-ui"/>
              </a:rPr>
              <a:t> (PAL)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F3E59C-F1E5-7CB7-9701-2B4B74C52893}"/>
              </a:ext>
            </a:extLst>
          </p:cNvPr>
          <p:cNvSpPr txBox="1"/>
          <p:nvPr/>
        </p:nvSpPr>
        <p:spPr>
          <a:xfrm>
            <a:off x="5189438" y="2459435"/>
            <a:ext cx="2631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+mj-lt"/>
              </a:rPr>
              <a:t>PAL combina el </a:t>
            </a:r>
            <a:r>
              <a:rPr lang="es-MX" b="1" dirty="0">
                <a:latin typeface="+mj-lt"/>
              </a:rPr>
              <a:t>razonamiento de </a:t>
            </a:r>
            <a:r>
              <a:rPr lang="es-MX" b="1" dirty="0" err="1">
                <a:latin typeface="+mj-lt"/>
              </a:rPr>
              <a:t>LLMs</a:t>
            </a:r>
            <a:r>
              <a:rPr lang="es-MX" b="1" dirty="0">
                <a:latin typeface="+mj-lt"/>
              </a:rPr>
              <a:t> con la precisión </a:t>
            </a:r>
            <a:r>
              <a:rPr lang="es-MX" dirty="0">
                <a:latin typeface="+mj-lt"/>
              </a:rPr>
              <a:t>de código ejecutable para cálculos exactos. Se utiliza para cálculos numéricos más complejos, que necesitan una secuencia de etapas.</a:t>
            </a:r>
            <a:endParaRPr lang="es-CL" dirty="0"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88A4BD-AA7F-77A7-70D7-106161425348}"/>
              </a:ext>
            </a:extLst>
          </p:cNvPr>
          <p:cNvSpPr txBox="1"/>
          <p:nvPr/>
        </p:nvSpPr>
        <p:spPr>
          <a:xfrm>
            <a:off x="8168640" y="1777665"/>
            <a:ext cx="1889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>
                <a:effectLst/>
                <a:latin typeface="system-ui"/>
              </a:rPr>
              <a:t>Meta-</a:t>
            </a:r>
            <a:r>
              <a:rPr lang="es-CL" b="1" i="1" dirty="0" err="1">
                <a:effectLst/>
                <a:latin typeface="system-ui"/>
              </a:rPr>
              <a:t>Prompting</a:t>
            </a:r>
            <a:endParaRPr lang="es-CL" b="1" i="1" dirty="0">
              <a:effectLst/>
              <a:latin typeface="system-ui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AA51790-A77D-F4ED-1830-8D716694817B}"/>
              </a:ext>
            </a:extLst>
          </p:cNvPr>
          <p:cNvSpPr txBox="1"/>
          <p:nvPr/>
        </p:nvSpPr>
        <p:spPr>
          <a:xfrm>
            <a:off x="8104921" y="2410833"/>
            <a:ext cx="20984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+mj-lt"/>
              </a:rPr>
              <a:t>Meta-</a:t>
            </a:r>
            <a:r>
              <a:rPr lang="es-MX" dirty="0" err="1">
                <a:latin typeface="+mj-lt"/>
              </a:rPr>
              <a:t>prompting</a:t>
            </a:r>
            <a:r>
              <a:rPr lang="es-MX" dirty="0">
                <a:latin typeface="+mj-lt"/>
              </a:rPr>
              <a:t> usa el LLM para generar y optimizar </a:t>
            </a:r>
            <a:r>
              <a:rPr lang="es-MX" dirty="0" err="1">
                <a:latin typeface="+mj-lt"/>
              </a:rPr>
              <a:t>prompts</a:t>
            </a:r>
            <a:r>
              <a:rPr lang="es-MX" dirty="0">
                <a:latin typeface="+mj-lt"/>
              </a:rPr>
              <a:t> para tareas específicas.</a:t>
            </a:r>
            <a:endParaRPr lang="es-CL" dirty="0">
              <a:latin typeface="+mj-lt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AA99AB4-6B7F-7909-CD4F-7698AE7F395B}"/>
              </a:ext>
            </a:extLst>
          </p:cNvPr>
          <p:cNvSpPr txBox="1"/>
          <p:nvPr/>
        </p:nvSpPr>
        <p:spPr>
          <a:xfrm>
            <a:off x="10233879" y="1769748"/>
            <a:ext cx="2435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 err="1">
                <a:effectLst/>
                <a:latin typeface="system-ui"/>
              </a:rPr>
              <a:t>Prompt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Chaining</a:t>
            </a:r>
            <a:endParaRPr lang="es-CL" b="1" i="1" dirty="0">
              <a:effectLst/>
              <a:latin typeface="system-ui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E14901A-FD14-98EC-2D35-FC5B0E039ACA}"/>
              </a:ext>
            </a:extLst>
          </p:cNvPr>
          <p:cNvSpPr txBox="1"/>
          <p:nvPr/>
        </p:nvSpPr>
        <p:spPr>
          <a:xfrm>
            <a:off x="10233879" y="2449275"/>
            <a:ext cx="1701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latin typeface="+mj-lt"/>
              </a:rPr>
              <a:t>Prompt</a:t>
            </a:r>
            <a:r>
              <a:rPr lang="es-MX" dirty="0">
                <a:latin typeface="+mj-lt"/>
              </a:rPr>
              <a:t> </a:t>
            </a:r>
            <a:r>
              <a:rPr lang="es-MX" dirty="0" err="1">
                <a:latin typeface="+mj-lt"/>
              </a:rPr>
              <a:t>chaining</a:t>
            </a:r>
            <a:r>
              <a:rPr lang="es-MX" dirty="0">
                <a:latin typeface="+mj-lt"/>
              </a:rPr>
              <a:t> conecta múltiples </a:t>
            </a:r>
            <a:r>
              <a:rPr lang="es-MX" dirty="0" err="1">
                <a:latin typeface="+mj-lt"/>
              </a:rPr>
              <a:t>prompts</a:t>
            </a:r>
            <a:r>
              <a:rPr lang="es-MX" dirty="0">
                <a:latin typeface="+mj-lt"/>
              </a:rPr>
              <a:t> en secuencia, donde la salida de uno alimenta al siguiente</a:t>
            </a:r>
            <a:endParaRPr lang="es-C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1771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58A0-794F-5921-15D7-173C2BEC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5ADF8-A9FF-E866-10E0-2A117C96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b="1" i="1" dirty="0"/>
              <a:t>¿Cómo construir un buen </a:t>
            </a:r>
            <a:r>
              <a:rPr lang="es-CL" b="1" i="1" dirty="0" err="1"/>
              <a:t>prompt</a:t>
            </a:r>
            <a:r>
              <a:rPr lang="es-CL" b="1" i="1" dirty="0"/>
              <a:t>?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4A59FE5F-6308-414A-B524-2C28C2A89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 hay descripción alternativa para esta imagen">
            <a:extLst>
              <a:ext uri="{FF2B5EF4-FFF2-40B4-BE49-F238E27FC236}">
                <a16:creationId xmlns:a16="http://schemas.microsoft.com/office/drawing/2014/main" id="{56550877-2049-8D3E-B996-E3A149F8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140" y="1252153"/>
            <a:ext cx="6600825" cy="517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236819F-4191-1CC2-08B6-5D22E8C9E284}"/>
              </a:ext>
            </a:extLst>
          </p:cNvPr>
          <p:cNvSpPr txBox="1"/>
          <p:nvPr/>
        </p:nvSpPr>
        <p:spPr>
          <a:xfrm>
            <a:off x="3112452" y="6245277"/>
            <a:ext cx="6410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Simplicity is the ultimate sophistication. (Leonardo da Vinci)</a:t>
            </a:r>
            <a:endParaRPr lang="es-CL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3217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A072-4FB4-1AEA-6405-AD28382B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F6A2F-BEA6-1803-B104-1569CD39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9214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b="1" i="1" dirty="0"/>
              <a:t>Idea: </a:t>
            </a:r>
            <a:r>
              <a:rPr lang="es-CL" i="1" dirty="0"/>
              <a:t>¿Qué construir?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7FA739C-FD19-C7A3-92E5-12E2677E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504857C-8158-13E6-E65D-FF5D0A702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87" y="1246386"/>
            <a:ext cx="3486329" cy="4629388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F506C4D-D57F-2B42-AAAA-4288500E34C7}"/>
              </a:ext>
            </a:extLst>
          </p:cNvPr>
          <p:cNvCxnSpPr>
            <a:cxnSpLocks/>
          </p:cNvCxnSpPr>
          <p:nvPr/>
        </p:nvCxnSpPr>
        <p:spPr>
          <a:xfrm>
            <a:off x="8329097" y="532825"/>
            <a:ext cx="0" cy="4820707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0CF6536-C762-6FF0-C45A-ECE5BD764B4C}"/>
              </a:ext>
            </a:extLst>
          </p:cNvPr>
          <p:cNvCxnSpPr>
            <a:cxnSpLocks/>
          </p:cNvCxnSpPr>
          <p:nvPr/>
        </p:nvCxnSpPr>
        <p:spPr>
          <a:xfrm>
            <a:off x="5524937" y="3057585"/>
            <a:ext cx="560832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855A544-5DD8-BE4C-D828-A49F7C67C2B2}"/>
              </a:ext>
            </a:extLst>
          </p:cNvPr>
          <p:cNvSpPr txBox="1"/>
          <p:nvPr/>
        </p:nvSpPr>
        <p:spPr>
          <a:xfrm>
            <a:off x="602207" y="6062606"/>
            <a:ext cx="701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Cementerios de Startup: </a:t>
            </a:r>
            <a:r>
              <a:rPr lang="es-CL" i="1" dirty="0"/>
              <a:t>https://startups.rip/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1349F77-222A-C1F1-5E97-659F1818C3FA}"/>
              </a:ext>
            </a:extLst>
          </p:cNvPr>
          <p:cNvSpPr txBox="1"/>
          <p:nvPr/>
        </p:nvSpPr>
        <p:spPr>
          <a:xfrm>
            <a:off x="6257668" y="1089010"/>
            <a:ext cx="139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>
                <a:solidFill>
                  <a:srgbClr val="C00000"/>
                </a:solidFill>
              </a:rPr>
              <a:t>Vices</a:t>
            </a:r>
            <a:endParaRPr lang="es-CL" b="1" i="1" dirty="0">
              <a:solidFill>
                <a:srgbClr val="C00000"/>
              </a:solidFill>
            </a:endParaRPr>
          </a:p>
          <a:p>
            <a:r>
              <a:rPr lang="es-CL" b="1" i="1" dirty="0">
                <a:solidFill>
                  <a:srgbClr val="C00000"/>
                </a:solidFill>
              </a:rPr>
              <a:t>(vicios)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74483BE-E5DF-870B-333B-AC0F473F6083}"/>
              </a:ext>
            </a:extLst>
          </p:cNvPr>
          <p:cNvSpPr txBox="1"/>
          <p:nvPr/>
        </p:nvSpPr>
        <p:spPr>
          <a:xfrm>
            <a:off x="9741339" y="1144849"/>
            <a:ext cx="139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>
                <a:solidFill>
                  <a:schemeClr val="accent6"/>
                </a:solidFill>
              </a:rPr>
              <a:t>Wholesome</a:t>
            </a:r>
            <a:endParaRPr lang="es-CL" b="1" i="1" dirty="0">
              <a:solidFill>
                <a:schemeClr val="accent6"/>
              </a:solidFill>
            </a:endParaRPr>
          </a:p>
          <a:p>
            <a:r>
              <a:rPr lang="es-CL" b="1" i="1" dirty="0">
                <a:solidFill>
                  <a:schemeClr val="accent6"/>
                </a:solidFill>
              </a:rPr>
              <a:t>(sano)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742445-4608-FFD7-0081-DF1CDD4A59B4}"/>
              </a:ext>
            </a:extLst>
          </p:cNvPr>
          <p:cNvSpPr txBox="1"/>
          <p:nvPr/>
        </p:nvSpPr>
        <p:spPr>
          <a:xfrm>
            <a:off x="6231058" y="3187668"/>
            <a:ext cx="139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>
                <a:solidFill>
                  <a:schemeClr val="accent1"/>
                </a:solidFill>
              </a:rPr>
              <a:t>Toxic</a:t>
            </a:r>
            <a:endParaRPr lang="es-CL" b="1" i="1" dirty="0">
              <a:solidFill>
                <a:schemeClr val="accent1"/>
              </a:solidFill>
            </a:endParaRPr>
          </a:p>
          <a:p>
            <a:r>
              <a:rPr lang="es-CL" b="1" i="1" dirty="0">
                <a:solidFill>
                  <a:schemeClr val="accent1"/>
                </a:solidFill>
              </a:rPr>
              <a:t>(toxico)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E0FFF16-16C2-0C14-BB68-7D4B67D87B5B}"/>
              </a:ext>
            </a:extLst>
          </p:cNvPr>
          <p:cNvSpPr txBox="1"/>
          <p:nvPr/>
        </p:nvSpPr>
        <p:spPr>
          <a:xfrm>
            <a:off x="9507103" y="3272519"/>
            <a:ext cx="1971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>
                <a:solidFill>
                  <a:srgbClr val="FFC000"/>
                </a:solidFill>
              </a:rPr>
              <a:t>Chores</a:t>
            </a:r>
          </a:p>
          <a:p>
            <a:r>
              <a:rPr lang="es-CL" b="1" i="1" dirty="0">
                <a:solidFill>
                  <a:srgbClr val="FFC000"/>
                </a:solidFill>
              </a:rPr>
              <a:t>(tareas rutinarias)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88E4CDB-450E-FAAF-83AA-5623C6824247}"/>
              </a:ext>
            </a:extLst>
          </p:cNvPr>
          <p:cNvSpPr txBox="1"/>
          <p:nvPr/>
        </p:nvSpPr>
        <p:spPr>
          <a:xfrm>
            <a:off x="6098663" y="2639239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/>
              <a:t>Bad</a:t>
            </a:r>
            <a:r>
              <a:rPr lang="es-CL" b="1" i="1" dirty="0"/>
              <a:t> </a:t>
            </a:r>
            <a:r>
              <a:rPr lang="es-CL" b="1" i="1" dirty="0" err="1"/>
              <a:t>for</a:t>
            </a:r>
            <a:r>
              <a:rPr lang="es-CL" b="1" i="1" dirty="0"/>
              <a:t> </a:t>
            </a:r>
            <a:r>
              <a:rPr lang="es-CL" b="1" i="1" dirty="0" err="1"/>
              <a:t>you</a:t>
            </a:r>
            <a:endParaRPr lang="es-CL" b="1" i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8044EA5-458E-AA93-FF59-5716A172B098}"/>
              </a:ext>
            </a:extLst>
          </p:cNvPr>
          <p:cNvSpPr txBox="1"/>
          <p:nvPr/>
        </p:nvSpPr>
        <p:spPr>
          <a:xfrm>
            <a:off x="9136711" y="2615625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/>
              <a:t>Good </a:t>
            </a:r>
            <a:r>
              <a:rPr lang="es-CL" b="1" i="1" dirty="0" err="1"/>
              <a:t>for</a:t>
            </a:r>
            <a:r>
              <a:rPr lang="es-CL" b="1" i="1" dirty="0"/>
              <a:t> </a:t>
            </a:r>
            <a:r>
              <a:rPr lang="es-CL" b="1" i="1" dirty="0" err="1"/>
              <a:t>you</a:t>
            </a:r>
            <a:endParaRPr lang="es-CL" b="1" i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26A6338-B070-4003-2A2F-3D1AC0484AF4}"/>
              </a:ext>
            </a:extLst>
          </p:cNvPr>
          <p:cNvSpPr txBox="1"/>
          <p:nvPr/>
        </p:nvSpPr>
        <p:spPr>
          <a:xfrm>
            <a:off x="8298962" y="855882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/>
              <a:t>Enjoyable</a:t>
            </a:r>
            <a:endParaRPr lang="es-CL" b="1" i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2F801DD-765B-799B-8586-9CEF9F3C8DC6}"/>
              </a:ext>
            </a:extLst>
          </p:cNvPr>
          <p:cNvSpPr txBox="1"/>
          <p:nvPr/>
        </p:nvSpPr>
        <p:spPr>
          <a:xfrm>
            <a:off x="8329097" y="4835848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/>
              <a:t>Unpleasant</a:t>
            </a:r>
            <a:endParaRPr lang="es-CL" b="1" i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A8DFF91-D8C2-82F0-001C-4D69462B9254}"/>
              </a:ext>
            </a:extLst>
          </p:cNvPr>
          <p:cNvSpPr txBox="1"/>
          <p:nvPr/>
        </p:nvSpPr>
        <p:spPr>
          <a:xfrm>
            <a:off x="8547431" y="4133783"/>
            <a:ext cx="3038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Cursos de entrenamiento (trabajo)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8DEC8C6-AB86-9828-2388-1550872ED7DC}"/>
              </a:ext>
            </a:extLst>
          </p:cNvPr>
          <p:cNvSpPr txBox="1"/>
          <p:nvPr/>
        </p:nvSpPr>
        <p:spPr>
          <a:xfrm>
            <a:off x="5819922" y="4339867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Control de gastos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A2CE433-E5CE-EB1A-ED29-45F04281C369}"/>
              </a:ext>
            </a:extLst>
          </p:cNvPr>
          <p:cNvSpPr txBox="1"/>
          <p:nvPr/>
        </p:nvSpPr>
        <p:spPr>
          <a:xfrm>
            <a:off x="8547431" y="1971292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 err="1"/>
              <a:t>playing</a:t>
            </a:r>
            <a:r>
              <a:rPr lang="es-CL" i="1" dirty="0"/>
              <a:t> </a:t>
            </a:r>
            <a:r>
              <a:rPr lang="es-CL" i="1" dirty="0" err="1"/>
              <a:t>games</a:t>
            </a:r>
            <a:endParaRPr lang="es-CL" i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351118B-8416-99DC-95C1-7FCBA7C722B6}"/>
              </a:ext>
            </a:extLst>
          </p:cNvPr>
          <p:cNvSpPr txBox="1"/>
          <p:nvPr/>
        </p:nvSpPr>
        <p:spPr>
          <a:xfrm>
            <a:off x="5350230" y="5383896"/>
            <a:ext cx="7015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b="1" dirty="0" err="1"/>
              <a:t>Wholesome</a:t>
            </a:r>
            <a:r>
              <a:rPr lang="es-CL" sz="1400" b="1" dirty="0"/>
              <a:t> (actividades sanas):</a:t>
            </a:r>
            <a:r>
              <a:rPr lang="es-CL" sz="1400" dirty="0"/>
              <a:t> No uses IA. Disfrútalas.</a:t>
            </a:r>
            <a:br>
              <a:rPr lang="es-CL" sz="1400" dirty="0"/>
            </a:br>
            <a:r>
              <a:rPr lang="es-CL" sz="1400" b="1" dirty="0" err="1"/>
              <a:t>Toxic</a:t>
            </a:r>
            <a:r>
              <a:rPr lang="es-CL" sz="1400" b="1" dirty="0"/>
              <a:t> (actividades tóxicas):</a:t>
            </a:r>
            <a:r>
              <a:rPr lang="es-CL" sz="1400" dirty="0"/>
              <a:t> Usa IA para automatizarlas o eliminarlas. No queremos lidiar con ellas.</a:t>
            </a:r>
            <a:br>
              <a:rPr lang="es-CL" sz="1400" dirty="0"/>
            </a:br>
            <a:r>
              <a:rPr lang="es-CL" sz="1400" b="1" dirty="0"/>
              <a:t>Chores (tareas domésticas o rutinarias):</a:t>
            </a:r>
            <a:r>
              <a:rPr lang="es-CL" sz="1400" dirty="0"/>
              <a:t> Usa IA para hacerlas más placenteras. </a:t>
            </a:r>
            <a:r>
              <a:rPr lang="es-CL" sz="1400" i="1" dirty="0"/>
              <a:t>(Sigan pensando.)</a:t>
            </a:r>
            <a:br>
              <a:rPr lang="es-CL" sz="1400" dirty="0"/>
            </a:br>
            <a:r>
              <a:rPr lang="es-CL" sz="1400" b="1" dirty="0" err="1"/>
              <a:t>Vices</a:t>
            </a:r>
            <a:r>
              <a:rPr lang="es-CL" sz="1400" b="1" dirty="0"/>
              <a:t> (vicios):</a:t>
            </a:r>
            <a:r>
              <a:rPr lang="es-CL" sz="1400" dirty="0"/>
              <a:t> Usa IA para evitar hacerlas.</a:t>
            </a:r>
            <a:endParaRPr lang="es-CL" sz="1600" i="1" dirty="0"/>
          </a:p>
        </p:txBody>
      </p:sp>
    </p:spTree>
    <p:extLst>
      <p:ext uri="{BB962C8B-B14F-4D97-AF65-F5344CB8AC3E}">
        <p14:creationId xmlns:p14="http://schemas.microsoft.com/office/powerpoint/2010/main" val="3803486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3087</TotalTime>
  <Words>930</Words>
  <Application>Microsoft Office PowerPoint</Application>
  <PresentationFormat>Panorámica</PresentationFormat>
  <Paragraphs>136</Paragraphs>
  <Slides>17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system-ui</vt:lpstr>
      <vt:lpstr>Tema de Office</vt:lpstr>
      <vt:lpstr>Ingeniería de soluciones con AI</vt:lpstr>
      <vt:lpstr>Noticias: Yann LeCun, pionero en AI, reclama que los LLMs no son capaces de entender el mundo físico.</vt:lpstr>
      <vt:lpstr>Clase 1.2: Técnicas de Prompt Engineering</vt:lpstr>
      <vt:lpstr>Reminder: Que hemos visto hasta ahora…</vt:lpstr>
      <vt:lpstr>Reminder: Que hemos visto hasta ahora…</vt:lpstr>
      <vt:lpstr>Why: ¿Por qué los LLMs no me responden como quiero?</vt:lpstr>
      <vt:lpstr>Hallucinate: El talón de Aquiles de los LLMs.</vt:lpstr>
      <vt:lpstr>Prompt Engineering es una técnica para mejorar las respuestas de los modelos, buscando consistencia, reducción de alucinaciones y personalización de los LLMs.</vt:lpstr>
      <vt:lpstr>Presentación de PowerPoint</vt:lpstr>
      <vt:lpstr>Presentación de PowerPoint</vt:lpstr>
      <vt:lpstr>¿Cuáles son las técnicas de Prompt Engineering?</vt:lpstr>
      <vt:lpstr>Zero – Shot Prompting</vt:lpstr>
      <vt:lpstr>Few-Shot Prompting</vt:lpstr>
      <vt:lpstr>Chain-of-Thought (COF)</vt:lpstr>
      <vt:lpstr>Técnicas avanzadas de Prompting</vt:lpstr>
      <vt:lpstr>¿Cómo construir un buen prompt?</vt:lpstr>
      <vt:lpstr>Idea: ¿Qué construir?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22</cp:revision>
  <dcterms:created xsi:type="dcterms:W3CDTF">2026-03-06T13:35:57Z</dcterms:created>
  <dcterms:modified xsi:type="dcterms:W3CDTF">2026-03-16T11:45:05Z</dcterms:modified>
</cp:coreProperties>
</file>