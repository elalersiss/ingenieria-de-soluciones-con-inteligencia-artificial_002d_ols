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79" r:id="rId4"/>
    <p:sldId id="299" r:id="rId5"/>
    <p:sldId id="300" r:id="rId6"/>
    <p:sldId id="301" r:id="rId7"/>
    <p:sldId id="302" r:id="rId8"/>
    <p:sldId id="303" r:id="rId9"/>
    <p:sldId id="304" r:id="rId10"/>
    <p:sldId id="306" r:id="rId11"/>
    <p:sldId id="307" r:id="rId12"/>
    <p:sldId id="309" r:id="rId1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75" autoAdjust="0"/>
    <p:restoredTop sz="93173" autoAdjust="0"/>
  </p:normalViewPr>
  <p:slideViewPr>
    <p:cSldViewPr snapToGrid="0">
      <p:cViewPr varScale="1">
        <p:scale>
          <a:sx n="67" d="100"/>
          <a:sy n="67" d="100"/>
        </p:scale>
        <p:origin x="7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DCB0C-69E9-4911-980B-989A824EA717}" type="datetimeFigureOut">
              <a:rPr lang="es-CL" smtClean="0"/>
              <a:t>11-05-2026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7F482-7FF7-4DD4-AE91-ACA70D5B43D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979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DEAFD-4343-FCD6-B55B-1DC6ADFA8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663F13-E4FB-1728-4F5B-B4AD3446B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582B80E-EEE9-DD0C-FE86-EF7448CEF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470142-9316-8FDA-C204-1A9806959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9676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46B91-BA86-19C1-FE9E-626BFB256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8A42773-A1F0-0F3B-B800-0FB332756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F7C50AD-2CA9-B9DA-DE55-D46F62BB8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4AA31A-F0A9-A09A-6F69-47B00F372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5872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024D6-5333-65A7-1D99-259677688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C1E274A-7214-C2E7-E3E4-D77121B147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518027B-4D78-C79C-989D-C3E5CA448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4DFAC0-0539-5BF8-AC23-13719C562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0746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54F71-68E7-B6ED-F693-CF6AB677C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7DB4F8B-48DF-A2EF-FEF8-1F3D7DA2B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9E741F1-8FA6-877F-B38F-286C5A231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1FC84A-4CB4-572D-72C8-B01DB929F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001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AD0D3-184B-3665-5716-D92BF94E7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BFFBFE-40A9-0BF0-F5CB-A7C0316E6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2794DB5-90C0-9319-4511-7B0AF292D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35F2111-F938-BE5F-5923-130AD9EEF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168944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8B646-369D-1190-7C61-C7F32AEE0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A1ED70-913B-2DF7-76C3-8098A4C72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7C6496-AE18-23F2-F6EB-6186568B0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0771CC-A6C2-A934-3011-F88899999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1108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4A8A7-0D63-EBEF-6E0D-582C73565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1DE8010-345D-3E3A-AF65-7ABDEB4E2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26B3F03-367B-21FD-ABDC-4D062F372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B89D1D-7831-1CBA-CC38-9836193CC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6066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64168-220F-252E-760A-8C5DB4BCF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3D74C66-C156-CABE-264E-4E518834E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D0C1083-2B2F-E685-006D-3882B19F2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0E456E-3A19-3968-D4E2-0B5675CB7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136639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1C127-0C2F-076C-6D72-C1554C990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E672738-33E6-97FF-6E19-E3BD578AF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DA0F4ED-5E65-500A-5C0B-3AB97DEE5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F4A5B7-6546-217D-2B4B-1C783BE16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25515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39CEC-8633-AA3B-1017-6E7C03C1A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BE0411E-FA88-BECF-FB23-9C5B89554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A62F0DD-569C-DD80-3129-5FBBA99D6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5AB058-1AD4-1808-945A-5222ADF4D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07F482-7FF7-4DD4-AE91-ACA70D5B43D5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1435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1CEB3-5675-98F6-5555-EE13E992A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7ADF84-13F9-5B39-43F1-14E7D8EA0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A3DF8-0758-BF8A-9304-ECC31709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11-05-2026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A8AD70-F127-7BA6-5921-BCF78459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809D2E-C8C8-DAE5-342D-7ACCCAC6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280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C2BA7-F473-4377-62A9-34C365181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876B6C-F6ED-E8B4-6256-B671D3824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376944-86DF-A06F-F26C-EEAE33302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11-05-2026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42D504-2579-A803-D017-38F414D8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44F6F1-3475-DF5A-171D-90C0A636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958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EE0DC-FE41-207B-B5D4-12044E8D9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5E523B-DBFD-D95C-BDA2-AF438B18F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0A689A-2C60-C5ED-1F57-27748FB8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11-05-2026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E6A1D8-E528-4BB5-3D0E-DD599C20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2BCB4D-49C6-4998-F409-6029A291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0702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1A91A-3147-1537-3F76-79772FA4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C01651-05BC-1EC6-A58E-575D048EC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082018-B822-A183-DA4B-1C3D16A49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F26C75-9BEB-D6DB-5431-6309AC889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11-05-2026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71B78F-8C40-BEB7-3CA1-D48366C1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D4D4F6-B884-C893-0AE7-0BD236FC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6884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8DA5D-9DAA-85F9-8663-3F4CFE4F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CA55E1-B5F5-EAF9-B7FE-D45D79747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121A24-CF2D-161C-0F6E-E25010C98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0F6704-DF9F-D96E-863C-22E02CAD6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08E114D-20FF-505F-3AC7-DFA59AC8F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1214F7-5555-5155-7348-E210F99F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11-05-2026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C5D59F-5FAC-9631-CDC3-84D27C41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1995D8-D632-D10E-8AFF-26E5C809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272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870B8-34B8-37DC-89DB-47FC09CC5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0F1EB3-E9A9-3C8D-7E75-A95C59BF3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11-05-2026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37F6A3-CB35-F37A-A6DA-88C9FF448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4C9290-251F-B1E0-AEAA-710A3CB53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122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81B6F75-8539-FB15-F03B-E2523D1B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11-05-2026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8725444-0A64-F2BF-CE6D-C96D6C23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A95120-3AD7-2633-1852-99868A08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57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67FF6-55E8-496C-BCC4-4D7B40336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28B327-F8C2-0B0D-FCA9-41E590A06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74743E-45A5-85D0-4052-5B42C3C07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AA9CE0-4EF9-BCF9-74C2-CFE7CCCA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11-05-2026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A8C77C-C8E9-8F00-1622-EC17987D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BA34C7-982A-2E74-0F17-C8063BB6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46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31788-80C1-18AA-49B2-00AA49AE7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9EDF4D-E446-21A3-5193-EA3AA3FD2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2F1C9E-17FA-6C7E-F214-0530F189A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1A0B5E-955F-3A5F-84DE-EE873021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11-05-2026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FDB288-42E2-730F-3EC2-75CDD0F0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9CA278-6D6E-B2A8-B1E4-9F7DA302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1643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56C15-EF0C-C8A8-41F6-840E0E43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36D5AC-B824-2DA4-A083-1EEB7768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20E341-3C14-25A1-76F8-8BC7FE23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11-05-2026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C9B56E-2B7B-8C60-811D-12FE70B4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50FC0E-77B0-E187-7241-8BE9332FF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291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00424F-3FDF-9896-F8DF-EBF93BEF4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50F60B-440F-292F-888A-8EF62AA41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4116BF-3104-AF5D-C0A8-E063AF70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DA46D-A1A7-4D05-A86A-5A57D57622A5}" type="datetimeFigureOut">
              <a:rPr lang="es-CL" smtClean="0"/>
              <a:t>11-05-2026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8F5DAA-9632-8650-11D1-4852CB9F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DD27B8-05BD-48E2-3B7C-2DF3A1DBB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46732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FE1D736-C504-F2D3-4D26-5C0C6D789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32A4F1-8C91-29BD-B83A-D5ED13E39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C91089-CE03-9300-C918-89BA1B7A9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DA46D-A1A7-4D05-A86A-5A57D57622A5}" type="datetimeFigureOut">
              <a:rPr lang="es-CL" smtClean="0"/>
              <a:t>11-05-2026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E5FFC7-CC22-AA3D-8561-D011B9400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2EE7A9-3E52-92C2-1A3E-C180FB6A6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2DCD1-67CD-4B9C-AF7C-A4846B367CA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560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C5055-DE28-A84E-9FB5-12A3C43AF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9403"/>
            <a:ext cx="9144000" cy="2387600"/>
          </a:xfrm>
        </p:spPr>
        <p:txBody>
          <a:bodyPr/>
          <a:lstStyle/>
          <a:p>
            <a:r>
              <a:rPr lang="es-MX" i="1" dirty="0"/>
              <a:t>Ingeniería de soluciones con AI</a:t>
            </a:r>
            <a:endParaRPr lang="es-CL" i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898086-6830-28E7-5F70-A1C13B3A9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63760" y="5788758"/>
            <a:ext cx="2585194" cy="675639"/>
          </a:xfrm>
        </p:spPr>
        <p:txBody>
          <a:bodyPr>
            <a:normAutofit lnSpcReduction="10000"/>
          </a:bodyPr>
          <a:lstStyle/>
          <a:p>
            <a:pPr algn="l"/>
            <a:r>
              <a:rPr lang="es-MX" sz="1800" b="1" i="1" dirty="0"/>
              <a:t>Docente:</a:t>
            </a:r>
          </a:p>
          <a:p>
            <a:pPr algn="l"/>
            <a:r>
              <a:rPr lang="es-MX" sz="1800" i="1" dirty="0"/>
              <a:t>Francisco Macaya</a:t>
            </a:r>
            <a:endParaRPr lang="es-CL" sz="1800" i="1" dirty="0"/>
          </a:p>
        </p:txBody>
      </p:sp>
      <p:pic>
        <p:nvPicPr>
          <p:cNvPr id="1026" name="Picture 2" descr="Duoc UC - Learn Chile">
            <a:extLst>
              <a:ext uri="{FF2B5EF4-FFF2-40B4-BE49-F238E27FC236}">
                <a16:creationId xmlns:a16="http://schemas.microsoft.com/office/drawing/2014/main" id="{EFAFD388-37C4-B6E5-0BD9-719436329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289FDFC1-9135-D283-EA5A-9264421DCA54}"/>
              </a:ext>
            </a:extLst>
          </p:cNvPr>
          <p:cNvSpPr txBox="1">
            <a:spLocks/>
          </p:cNvSpPr>
          <p:nvPr/>
        </p:nvSpPr>
        <p:spPr>
          <a:xfrm>
            <a:off x="5345302" y="5971981"/>
            <a:ext cx="2585194" cy="675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i="1" dirty="0"/>
              <a:t>Semestre 2026-1</a:t>
            </a:r>
            <a:endParaRPr lang="es-CL" sz="1800" i="1" dirty="0"/>
          </a:p>
        </p:txBody>
      </p:sp>
    </p:spTree>
    <p:extLst>
      <p:ext uri="{BB962C8B-B14F-4D97-AF65-F5344CB8AC3E}">
        <p14:creationId xmlns:p14="http://schemas.microsoft.com/office/powerpoint/2010/main" val="2817793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41D0E-5E44-651B-82FF-0DBD9F25E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19" y="-299832"/>
            <a:ext cx="10797458" cy="2311428"/>
          </a:xfrm>
        </p:spPr>
        <p:txBody>
          <a:bodyPr>
            <a:normAutofit/>
          </a:bodyPr>
          <a:lstStyle/>
          <a:p>
            <a:r>
              <a:rPr lang="es-MX" sz="3600" b="1" i="1" dirty="0"/>
              <a:t>Noticias: </a:t>
            </a:r>
            <a:r>
              <a:rPr lang="es-MX" sz="3600" i="1" dirty="0"/>
              <a:t>Agentes </a:t>
            </a:r>
            <a:r>
              <a:rPr lang="es-MX" sz="3600" i="1" dirty="0" err="1"/>
              <a:t>need</a:t>
            </a:r>
            <a:r>
              <a:rPr lang="es-MX" sz="3600" i="1" dirty="0"/>
              <a:t> </a:t>
            </a:r>
            <a:r>
              <a:rPr lang="es-MX" sz="3600" i="1" dirty="0" err="1"/>
              <a:t>feedback</a:t>
            </a:r>
            <a:r>
              <a:rPr lang="es-MX" sz="3600" i="1" dirty="0"/>
              <a:t> </a:t>
            </a:r>
            <a:r>
              <a:rPr lang="es-MX" sz="3600" i="1" dirty="0" err="1"/>
              <a:t>to</a:t>
            </a:r>
            <a:r>
              <a:rPr lang="es-MX" sz="3600" i="1" dirty="0"/>
              <a:t> </a:t>
            </a:r>
            <a:r>
              <a:rPr lang="es-MX" sz="3600" i="1" dirty="0" err="1"/>
              <a:t>work</a:t>
            </a:r>
            <a:r>
              <a:rPr lang="es-MX" sz="3600" i="1" dirty="0"/>
              <a:t> </a:t>
            </a:r>
            <a:r>
              <a:rPr lang="es-MX" sz="3600" i="1" dirty="0" err="1"/>
              <a:t>well</a:t>
            </a:r>
            <a:r>
              <a:rPr lang="es-MX" sz="3600" b="1" i="1" dirty="0"/>
              <a:t>.</a:t>
            </a:r>
            <a:endParaRPr lang="es-CL" i="1" dirty="0"/>
          </a:p>
        </p:txBody>
      </p:sp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23B967C9-D6BF-8DB2-90D0-DCD6085A0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9A58C3FE-B6AF-3F8A-5EF1-66F42AFB529D}"/>
              </a:ext>
            </a:extLst>
          </p:cNvPr>
          <p:cNvSpPr txBox="1">
            <a:spLocks/>
          </p:cNvSpPr>
          <p:nvPr/>
        </p:nvSpPr>
        <p:spPr>
          <a:xfrm>
            <a:off x="143819" y="6229091"/>
            <a:ext cx="7549374" cy="454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b="1" i="1" dirty="0"/>
              <a:t>Nota: </a:t>
            </a:r>
            <a:r>
              <a:rPr lang="es-MX" sz="1600" i="1" dirty="0"/>
              <a:t>https://www.langchain.com/blog/agent-observability-needs-feedback-to-power-learning</a:t>
            </a:r>
            <a:endParaRPr lang="es-CL" sz="1600" i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71412C6-9D6A-1C74-CCF7-18921DA32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723" y="1514475"/>
            <a:ext cx="9690554" cy="45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909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91BF0-E2F9-34FA-7A0F-0C7B3857C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0777F897-719B-7D9F-4FFF-0B218F781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490BC28-B51F-37B1-27B9-4213CA8141E4}"/>
              </a:ext>
            </a:extLst>
          </p:cNvPr>
          <p:cNvSpPr txBox="1">
            <a:spLocks/>
          </p:cNvSpPr>
          <p:nvPr/>
        </p:nvSpPr>
        <p:spPr>
          <a:xfrm>
            <a:off x="989606" y="284087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D4A6A0F-EF7D-E949-EAFC-621DB189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46" y="193100"/>
            <a:ext cx="10515600" cy="1325563"/>
          </a:xfrm>
        </p:spPr>
        <p:txBody>
          <a:bodyPr/>
          <a:lstStyle/>
          <a:p>
            <a:r>
              <a:rPr lang="es-MX" b="1" i="1" dirty="0" err="1"/>
              <a:t>Observabilidad</a:t>
            </a:r>
            <a:r>
              <a:rPr lang="es-MX" b="1" i="1" dirty="0"/>
              <a:t> </a:t>
            </a:r>
            <a:r>
              <a:rPr lang="es-MX" i="1" dirty="0"/>
              <a:t>no es solo detectar fallos, sino que mejorarlos.</a:t>
            </a:r>
            <a:endParaRPr lang="es-CL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10AA656-CA04-B795-263C-FD959318D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15" y="1518663"/>
            <a:ext cx="5969836" cy="435767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0916B6C-3E85-8E48-A7D6-418AE08E5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883" y="1528188"/>
            <a:ext cx="5814233" cy="435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128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45CD3-7DC3-608E-14B9-03A52EA26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2A9B5AA4-BEBA-C88C-1F8F-EA0AEE7CE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58312C2-D1F3-A81C-9EC6-4E51F7865235}"/>
              </a:ext>
            </a:extLst>
          </p:cNvPr>
          <p:cNvSpPr txBox="1">
            <a:spLocks/>
          </p:cNvSpPr>
          <p:nvPr/>
        </p:nvSpPr>
        <p:spPr>
          <a:xfrm>
            <a:off x="989606" y="284087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25EC53B-46AA-ED32-9E17-8845FC6C699D}"/>
              </a:ext>
            </a:extLst>
          </p:cNvPr>
          <p:cNvSpPr txBox="1">
            <a:spLocks/>
          </p:cNvSpPr>
          <p:nvPr/>
        </p:nvSpPr>
        <p:spPr>
          <a:xfrm>
            <a:off x="431580" y="9576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i="1" dirty="0"/>
              <a:t>Tres “</a:t>
            </a:r>
            <a:r>
              <a:rPr lang="es-MX" i="1" dirty="0" err="1"/>
              <a:t>Stones</a:t>
            </a:r>
            <a:r>
              <a:rPr lang="es-MX" i="1" dirty="0"/>
              <a:t>”: </a:t>
            </a:r>
            <a:r>
              <a:rPr lang="es-MX" b="1" i="1" dirty="0"/>
              <a:t>Logs, Métricas e Traces(Trazas).</a:t>
            </a:r>
            <a:endParaRPr lang="es-CL" b="1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ED246D0A-7F89-F0D1-893B-8F988F640F87}"/>
              </a:ext>
            </a:extLst>
          </p:cNvPr>
          <p:cNvSpPr txBox="1">
            <a:spLocks/>
          </p:cNvSpPr>
          <p:nvPr/>
        </p:nvSpPr>
        <p:spPr>
          <a:xfrm>
            <a:off x="8170535" y="3249774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4B6A149-9E43-5751-8DB8-D0181E49A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718" y="1609650"/>
            <a:ext cx="9074616" cy="434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4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5DFA8-BC94-4C99-6E57-C5131438C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7ED41FB4-E3DF-9E9E-D47A-A2D39E039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554AD6A-4343-3FE5-FC7B-795A1B6FE6DC}"/>
              </a:ext>
            </a:extLst>
          </p:cNvPr>
          <p:cNvSpPr txBox="1">
            <a:spLocks/>
          </p:cNvSpPr>
          <p:nvPr/>
        </p:nvSpPr>
        <p:spPr>
          <a:xfrm>
            <a:off x="989606" y="284087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B259AE6-E362-B4D1-4A33-27383EE95F18}"/>
              </a:ext>
            </a:extLst>
          </p:cNvPr>
          <p:cNvSpPr txBox="1">
            <a:spLocks/>
          </p:cNvSpPr>
          <p:nvPr/>
        </p:nvSpPr>
        <p:spPr>
          <a:xfrm>
            <a:off x="431580" y="9576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i="1" dirty="0"/>
              <a:t>Logs: </a:t>
            </a:r>
            <a:r>
              <a:rPr lang="es-MX" i="1" dirty="0"/>
              <a:t>Eventos discretos, uso de </a:t>
            </a:r>
            <a:r>
              <a:rPr lang="es-MX" i="1" dirty="0" err="1"/>
              <a:t>tools</a:t>
            </a:r>
            <a:r>
              <a:rPr lang="es-MX" i="1" dirty="0"/>
              <a:t>, etc</a:t>
            </a:r>
            <a:r>
              <a:rPr lang="es-MX" b="1" i="1" dirty="0"/>
              <a:t>.</a:t>
            </a:r>
            <a:endParaRPr lang="es-CL" b="1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FD3CF39-C0E4-BC88-B4F6-6219F6C9DE62}"/>
              </a:ext>
            </a:extLst>
          </p:cNvPr>
          <p:cNvSpPr txBox="1">
            <a:spLocks/>
          </p:cNvSpPr>
          <p:nvPr/>
        </p:nvSpPr>
        <p:spPr>
          <a:xfrm>
            <a:off x="8170535" y="3249774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04C0B5F-06A8-7947-C480-3EE71F991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531" y="1379390"/>
            <a:ext cx="6736991" cy="4770258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99244204-323C-DC65-40D0-F2F139D2E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6674" y="2889610"/>
            <a:ext cx="3285252" cy="1325563"/>
          </a:xfrm>
        </p:spPr>
        <p:txBody>
          <a:bodyPr>
            <a:noAutofit/>
          </a:bodyPr>
          <a:lstStyle/>
          <a:p>
            <a:r>
              <a:rPr lang="es-MX" sz="2800" i="1" dirty="0"/>
              <a:t>Un llamado a una </a:t>
            </a:r>
            <a:r>
              <a:rPr lang="es-MX" sz="2800" i="1" dirty="0" err="1"/>
              <a:t>tool</a:t>
            </a:r>
            <a:r>
              <a:rPr lang="es-MX" sz="2800" i="1" dirty="0"/>
              <a:t> es un log, una acción que hay que monitorear y </a:t>
            </a:r>
            <a:r>
              <a:rPr lang="es-MX" sz="2800" i="1" dirty="0" err="1"/>
              <a:t>trackear</a:t>
            </a:r>
            <a:r>
              <a:rPr lang="es-MX" sz="2800" i="1" dirty="0"/>
              <a:t>.</a:t>
            </a:r>
            <a:endParaRPr lang="es-CL" sz="2800" i="1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606475D-C0FD-E533-D89B-0014EDFF2D06}"/>
              </a:ext>
            </a:extLst>
          </p:cNvPr>
          <p:cNvSpPr/>
          <p:nvPr/>
        </p:nvSpPr>
        <p:spPr>
          <a:xfrm>
            <a:off x="3209925" y="1348045"/>
            <a:ext cx="4846522" cy="490035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7408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7281C-A37E-7E05-5F92-FAE1D7474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EFDF8C27-1B00-E2E1-9235-0981A055D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BB73536-87B4-E2A2-3D1A-38BFF9ED49E0}"/>
              </a:ext>
            </a:extLst>
          </p:cNvPr>
          <p:cNvSpPr txBox="1">
            <a:spLocks/>
          </p:cNvSpPr>
          <p:nvPr/>
        </p:nvSpPr>
        <p:spPr>
          <a:xfrm>
            <a:off x="989606" y="284087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86B26CD-1994-C82D-CF31-7E2DB751EBEE}"/>
              </a:ext>
            </a:extLst>
          </p:cNvPr>
          <p:cNvSpPr txBox="1">
            <a:spLocks/>
          </p:cNvSpPr>
          <p:nvPr/>
        </p:nvSpPr>
        <p:spPr>
          <a:xfrm>
            <a:off x="431580" y="9576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i="1" dirty="0"/>
              <a:t>Traces: </a:t>
            </a:r>
            <a:r>
              <a:rPr lang="es-MX" i="1" dirty="0"/>
              <a:t>El camino completo</a:t>
            </a:r>
            <a:r>
              <a:rPr lang="es-MX" b="1" i="1" dirty="0"/>
              <a:t>.</a:t>
            </a:r>
            <a:endParaRPr lang="es-CL" b="1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2DC6D57-5F4C-9D5C-7B1E-16859A1D40F2}"/>
              </a:ext>
            </a:extLst>
          </p:cNvPr>
          <p:cNvSpPr txBox="1">
            <a:spLocks/>
          </p:cNvSpPr>
          <p:nvPr/>
        </p:nvSpPr>
        <p:spPr>
          <a:xfrm>
            <a:off x="8170535" y="3249774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6E703E6-856A-9CA3-96BE-75F8C1BC9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531" y="1379390"/>
            <a:ext cx="6736991" cy="4770258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61EF6596-454B-37B9-A20B-2DCE455F0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8001" y="2248391"/>
            <a:ext cx="3285252" cy="3510301"/>
          </a:xfrm>
        </p:spPr>
        <p:txBody>
          <a:bodyPr>
            <a:noAutofit/>
          </a:bodyPr>
          <a:lstStyle/>
          <a:p>
            <a:r>
              <a:rPr lang="es-MX" sz="2800" b="1" i="1" dirty="0"/>
              <a:t>Usuario</a:t>
            </a:r>
            <a:r>
              <a:rPr lang="es-MX" sz="2800" i="1" dirty="0"/>
              <a:t>: ¿Cuáles fueron las ventas del 2025?</a:t>
            </a:r>
            <a:br>
              <a:rPr lang="es-MX" sz="2800" i="1" dirty="0"/>
            </a:br>
            <a:br>
              <a:rPr lang="es-MX" sz="2800" i="1" dirty="0"/>
            </a:br>
            <a:br>
              <a:rPr lang="es-MX" sz="2800" i="1" dirty="0"/>
            </a:br>
            <a:br>
              <a:rPr lang="es-MX" sz="2800" i="1" dirty="0"/>
            </a:br>
            <a:br>
              <a:rPr lang="es-MX" sz="2800" i="1" dirty="0"/>
            </a:br>
            <a:r>
              <a:rPr lang="es-MX" sz="2800" b="1" i="1" dirty="0"/>
              <a:t>Asistente: </a:t>
            </a:r>
            <a:r>
              <a:rPr lang="es-MX" sz="2800" i="1" dirty="0"/>
              <a:t>Las ventas fueron $250.000.000 en el 2025. </a:t>
            </a:r>
            <a:br>
              <a:rPr lang="es-MX" sz="2800" i="1" dirty="0"/>
            </a:br>
            <a:br>
              <a:rPr lang="es-MX" sz="2800" i="1" dirty="0"/>
            </a:br>
            <a:endParaRPr lang="es-CL" sz="2800" i="1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65C8EA9-2AC5-6BD8-4ED8-7ADC6421682D}"/>
              </a:ext>
            </a:extLst>
          </p:cNvPr>
          <p:cNvSpPr/>
          <p:nvPr/>
        </p:nvSpPr>
        <p:spPr>
          <a:xfrm>
            <a:off x="800872" y="1279254"/>
            <a:ext cx="2447153" cy="490035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05F02186-BB03-9969-A55F-9E8BE3DB377C}"/>
              </a:ext>
            </a:extLst>
          </p:cNvPr>
          <p:cNvCxnSpPr/>
          <p:nvPr/>
        </p:nvCxnSpPr>
        <p:spPr>
          <a:xfrm>
            <a:off x="9934575" y="2757487"/>
            <a:ext cx="0" cy="1343025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EFAB2A8-ECB8-F336-76AE-A60C083BE8DB}"/>
              </a:ext>
            </a:extLst>
          </p:cNvPr>
          <p:cNvSpPr txBox="1"/>
          <p:nvPr/>
        </p:nvSpPr>
        <p:spPr>
          <a:xfrm>
            <a:off x="9987059" y="3137332"/>
            <a:ext cx="1870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i="1" dirty="0"/>
              <a:t>Todo el camino es el trace.</a:t>
            </a:r>
            <a:endParaRPr lang="es-CL" b="1" i="1" dirty="0"/>
          </a:p>
        </p:txBody>
      </p:sp>
    </p:spTree>
    <p:extLst>
      <p:ext uri="{BB962C8B-B14F-4D97-AF65-F5344CB8AC3E}">
        <p14:creationId xmlns:p14="http://schemas.microsoft.com/office/powerpoint/2010/main" val="1263981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DBEF4-684F-84DE-1655-0ABBAC3F8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7548E74D-28E3-AEDF-C23B-DCE69CCE8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0CFF171-4E84-DF34-EC64-BEA15E9CD233}"/>
              </a:ext>
            </a:extLst>
          </p:cNvPr>
          <p:cNvSpPr txBox="1">
            <a:spLocks/>
          </p:cNvSpPr>
          <p:nvPr/>
        </p:nvSpPr>
        <p:spPr>
          <a:xfrm>
            <a:off x="988593" y="205900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3A5135D-18A6-02CE-76F1-F0E0CEBCE985}"/>
              </a:ext>
            </a:extLst>
          </p:cNvPr>
          <p:cNvSpPr txBox="1">
            <a:spLocks/>
          </p:cNvSpPr>
          <p:nvPr/>
        </p:nvSpPr>
        <p:spPr>
          <a:xfrm>
            <a:off x="431580" y="9576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i="1" dirty="0"/>
              <a:t>Métricas: </a:t>
            </a:r>
            <a:r>
              <a:rPr lang="es-MX" i="1" dirty="0"/>
              <a:t>Datos cuantificables del modelo.</a:t>
            </a:r>
            <a:endParaRPr lang="es-CL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21449E4-A59B-1E39-9E01-FAF85EEACE26}"/>
              </a:ext>
            </a:extLst>
          </p:cNvPr>
          <p:cNvSpPr txBox="1">
            <a:spLocks/>
          </p:cNvSpPr>
          <p:nvPr/>
        </p:nvSpPr>
        <p:spPr>
          <a:xfrm>
            <a:off x="8170535" y="3249774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63FA417-4A81-5EF2-FFDE-347A1194F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567" y="1257182"/>
            <a:ext cx="9186892" cy="491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38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4C050-B72C-706E-592B-FE632B08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B2F9FC11-A757-A7BD-8651-DC15FD448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127E02B-F61E-4E88-4811-7A3598ED7FBB}"/>
              </a:ext>
            </a:extLst>
          </p:cNvPr>
          <p:cNvSpPr txBox="1">
            <a:spLocks/>
          </p:cNvSpPr>
          <p:nvPr/>
        </p:nvSpPr>
        <p:spPr>
          <a:xfrm>
            <a:off x="988593" y="205900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C2EAD19-8450-5C07-9F24-CABD3E74257D}"/>
              </a:ext>
            </a:extLst>
          </p:cNvPr>
          <p:cNvSpPr txBox="1">
            <a:spLocks/>
          </p:cNvSpPr>
          <p:nvPr/>
        </p:nvSpPr>
        <p:spPr>
          <a:xfrm>
            <a:off x="431073" y="40227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 i="1" dirty="0"/>
              <a:t>Tool </a:t>
            </a:r>
            <a:r>
              <a:rPr lang="es-MX" b="1" i="1" dirty="0" err="1"/>
              <a:t>Call</a:t>
            </a:r>
            <a:r>
              <a:rPr lang="es-MX" b="1" i="1" dirty="0"/>
              <a:t> </a:t>
            </a:r>
            <a:r>
              <a:rPr lang="es-MX" b="1" i="1" dirty="0" err="1"/>
              <a:t>Accuracy</a:t>
            </a:r>
            <a:r>
              <a:rPr lang="es-MX" b="1" i="1" dirty="0"/>
              <a:t>: </a:t>
            </a:r>
            <a:r>
              <a:rPr lang="es-MX" i="1" dirty="0"/>
              <a:t>¿Llamo a las </a:t>
            </a:r>
            <a:r>
              <a:rPr lang="es-MX" i="1" dirty="0" err="1"/>
              <a:t>tools</a:t>
            </a:r>
            <a:r>
              <a:rPr lang="es-MX" i="1" dirty="0"/>
              <a:t> correctamente?</a:t>
            </a:r>
            <a:endParaRPr lang="es-CL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20EC42A2-7C00-3428-CC8C-A35F7C8DE043}"/>
              </a:ext>
            </a:extLst>
          </p:cNvPr>
          <p:cNvSpPr txBox="1">
            <a:spLocks/>
          </p:cNvSpPr>
          <p:nvPr/>
        </p:nvSpPr>
        <p:spPr>
          <a:xfrm>
            <a:off x="8170535" y="3249774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A9A0A5-0119-CED8-F651-3D4BD4104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50" y="1751686"/>
            <a:ext cx="4184755" cy="439204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0EA85E6-A9EB-223D-7A45-B5F35AA15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454" y="1727837"/>
            <a:ext cx="4102311" cy="461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353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8B4A2-EFC0-7262-6B21-7221454DD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BBF3B95E-515B-0E9F-342D-1B79C04EA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E150559-3719-771C-706D-73B3AFDDAABE}"/>
              </a:ext>
            </a:extLst>
          </p:cNvPr>
          <p:cNvSpPr txBox="1">
            <a:spLocks/>
          </p:cNvSpPr>
          <p:nvPr/>
        </p:nvSpPr>
        <p:spPr>
          <a:xfrm>
            <a:off x="988593" y="205900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457CCA3-F078-E0D6-70F2-36D92DBFB87B}"/>
              </a:ext>
            </a:extLst>
          </p:cNvPr>
          <p:cNvSpPr txBox="1">
            <a:spLocks/>
          </p:cNvSpPr>
          <p:nvPr/>
        </p:nvSpPr>
        <p:spPr>
          <a:xfrm>
            <a:off x="431073" y="2059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b="1" i="1" dirty="0" err="1"/>
              <a:t>Agent</a:t>
            </a:r>
            <a:r>
              <a:rPr lang="es-CL" b="1" i="1" dirty="0"/>
              <a:t> </a:t>
            </a:r>
            <a:r>
              <a:rPr lang="es-CL" b="1" i="1" dirty="0" err="1"/>
              <a:t>Goal</a:t>
            </a:r>
            <a:r>
              <a:rPr lang="es-CL" b="1" i="1" dirty="0"/>
              <a:t> </a:t>
            </a:r>
            <a:r>
              <a:rPr lang="es-CL" b="1" i="1" dirty="0" err="1"/>
              <a:t>Accuracy</a:t>
            </a:r>
            <a:r>
              <a:rPr lang="es-MX" b="1" i="1" dirty="0"/>
              <a:t>: </a:t>
            </a:r>
            <a:r>
              <a:rPr lang="es-MX" i="1" dirty="0"/>
              <a:t>¿Logro el objetivo?</a:t>
            </a:r>
            <a:endParaRPr lang="es-CL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B402741-7401-E2C0-7D4D-1D14F1337014}"/>
              </a:ext>
            </a:extLst>
          </p:cNvPr>
          <p:cNvSpPr txBox="1">
            <a:spLocks/>
          </p:cNvSpPr>
          <p:nvPr/>
        </p:nvSpPr>
        <p:spPr>
          <a:xfrm>
            <a:off x="8170535" y="3249774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D4C7D87-D2B9-3D86-1D46-57C73399E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508" y="2479431"/>
            <a:ext cx="4773505" cy="189913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6F2249A-FFB9-7BB3-0BB9-70B9A85C9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9186" y="1381125"/>
            <a:ext cx="4268314" cy="507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142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0D703-EB2B-F06C-F10E-8CD70324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28F94AE5-B1F5-D8AC-5908-1F0053B6A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38A224-5D0C-3264-9D4B-9364810D4D0F}"/>
              </a:ext>
            </a:extLst>
          </p:cNvPr>
          <p:cNvSpPr txBox="1">
            <a:spLocks/>
          </p:cNvSpPr>
          <p:nvPr/>
        </p:nvSpPr>
        <p:spPr>
          <a:xfrm>
            <a:off x="988593" y="205900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8400F59-F4F5-AF9E-07B8-7ABCC9382E36}"/>
              </a:ext>
            </a:extLst>
          </p:cNvPr>
          <p:cNvSpPr txBox="1">
            <a:spLocks/>
          </p:cNvSpPr>
          <p:nvPr/>
        </p:nvSpPr>
        <p:spPr>
          <a:xfrm>
            <a:off x="431073" y="644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b="1" i="1" dirty="0"/>
              <a:t>¿Qué necesito?</a:t>
            </a:r>
            <a:r>
              <a:rPr lang="es-MX" b="1" i="1" dirty="0"/>
              <a:t>: </a:t>
            </a:r>
            <a:r>
              <a:rPr lang="es-MX" i="1" dirty="0"/>
              <a:t>El problema de los datos.</a:t>
            </a:r>
            <a:endParaRPr lang="es-CL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E2EF45A-CB70-83A1-1946-B4BF06B3BBFE}"/>
              </a:ext>
            </a:extLst>
          </p:cNvPr>
          <p:cNvSpPr txBox="1">
            <a:spLocks/>
          </p:cNvSpPr>
          <p:nvPr/>
        </p:nvSpPr>
        <p:spPr>
          <a:xfrm>
            <a:off x="8170535" y="3249774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C9E8C4E-F1B9-C34E-8E76-B869EBE62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917" y="1211755"/>
            <a:ext cx="8886587" cy="4388945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21BD99EA-5C12-B772-7332-D9B0C10A1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499" y="5572125"/>
            <a:ext cx="9182414" cy="1325563"/>
          </a:xfrm>
        </p:spPr>
        <p:txBody>
          <a:bodyPr>
            <a:noAutofit/>
          </a:bodyPr>
          <a:lstStyle/>
          <a:p>
            <a:r>
              <a:rPr lang="es-MX" sz="2800" i="1" dirty="0"/>
              <a:t>Tienes que construir un </a:t>
            </a:r>
            <a:r>
              <a:rPr lang="es-MX" sz="2800" i="1" dirty="0" err="1"/>
              <a:t>dataset</a:t>
            </a:r>
            <a:r>
              <a:rPr lang="es-MX" sz="2800" i="1" dirty="0"/>
              <a:t>, pero no será suficiente. Tendrás que llevarlo a producción en un </a:t>
            </a:r>
            <a:r>
              <a:rPr lang="es-MX" sz="2800" b="1" i="1" dirty="0"/>
              <a:t>marcha blanca.</a:t>
            </a:r>
            <a:endParaRPr lang="es-CL" sz="2800" b="1" i="1" dirty="0"/>
          </a:p>
        </p:txBody>
      </p:sp>
    </p:spTree>
    <p:extLst>
      <p:ext uri="{BB962C8B-B14F-4D97-AF65-F5344CB8AC3E}">
        <p14:creationId xmlns:p14="http://schemas.microsoft.com/office/powerpoint/2010/main" val="2984362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3991C-80EE-FF9C-3E23-514F00E5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2FBA9324-D39C-750A-CA36-F218980F7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B28727B-2045-7811-2845-AB9319D00D4D}"/>
              </a:ext>
            </a:extLst>
          </p:cNvPr>
          <p:cNvSpPr txBox="1">
            <a:spLocks/>
          </p:cNvSpPr>
          <p:nvPr/>
        </p:nvSpPr>
        <p:spPr>
          <a:xfrm>
            <a:off x="988593" y="205900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E0265FC-A421-44FA-420B-2ADE0A2D3E46}"/>
              </a:ext>
            </a:extLst>
          </p:cNvPr>
          <p:cNvSpPr txBox="1">
            <a:spLocks/>
          </p:cNvSpPr>
          <p:nvPr/>
        </p:nvSpPr>
        <p:spPr>
          <a:xfrm>
            <a:off x="431073" y="644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b="1" i="1" dirty="0" err="1"/>
              <a:t>Vambe</a:t>
            </a:r>
            <a:r>
              <a:rPr lang="es-MX" b="1" i="1" dirty="0"/>
              <a:t>: </a:t>
            </a:r>
            <a:r>
              <a:rPr lang="es-MX" i="1" dirty="0" err="1"/>
              <a:t>Start</a:t>
            </a:r>
            <a:r>
              <a:rPr lang="es-MX" i="1" dirty="0"/>
              <a:t>-up chilena de asistente de AI.</a:t>
            </a:r>
            <a:endParaRPr lang="es-CL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F555D4F-A67D-DBEC-4E6F-0ED42776DA2E}"/>
              </a:ext>
            </a:extLst>
          </p:cNvPr>
          <p:cNvSpPr txBox="1">
            <a:spLocks/>
          </p:cNvSpPr>
          <p:nvPr/>
        </p:nvSpPr>
        <p:spPr>
          <a:xfrm>
            <a:off x="8170535" y="3249774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86AE319-7BAC-DEE5-E31E-03D07F597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30" y="1401454"/>
            <a:ext cx="5523569" cy="4499192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1497049-9746-3DB5-A979-2FEF4B9C1D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3" y="1390047"/>
            <a:ext cx="5619747" cy="4510599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80093A39-8834-2D90-275A-CB054D832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868" y="5740180"/>
            <a:ext cx="10529448" cy="1325563"/>
          </a:xfrm>
        </p:spPr>
        <p:txBody>
          <a:bodyPr>
            <a:noAutofit/>
          </a:bodyPr>
          <a:lstStyle/>
          <a:p>
            <a:pPr algn="ctr"/>
            <a:r>
              <a:rPr lang="es-MX" sz="2800" i="1" dirty="0"/>
              <a:t>Se implementa un agente, se “entrena” con personas del equipo, luego se da a otras personas (no clientes aun), y luego se libera a clientes.</a:t>
            </a:r>
            <a:endParaRPr lang="es-CL" sz="2800" b="1" i="1" dirty="0"/>
          </a:p>
        </p:txBody>
      </p:sp>
    </p:spTree>
    <p:extLst>
      <p:ext uri="{BB962C8B-B14F-4D97-AF65-F5344CB8AC3E}">
        <p14:creationId xmlns:p14="http://schemas.microsoft.com/office/powerpoint/2010/main" val="3075996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14066-7F6A-CE11-23A7-AC7CC410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uoc UC - Learn Chile">
            <a:extLst>
              <a:ext uri="{FF2B5EF4-FFF2-40B4-BE49-F238E27FC236}">
                <a16:creationId xmlns:a16="http://schemas.microsoft.com/office/drawing/2014/main" id="{2DFC1848-0E91-7B53-2058-5E42202FB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5913" y="30480"/>
            <a:ext cx="974807" cy="82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979BD8-C129-A963-46BA-0A89113BC9C9}"/>
              </a:ext>
            </a:extLst>
          </p:cNvPr>
          <p:cNvSpPr txBox="1">
            <a:spLocks/>
          </p:cNvSpPr>
          <p:nvPr/>
        </p:nvSpPr>
        <p:spPr>
          <a:xfrm>
            <a:off x="988593" y="205900"/>
            <a:ext cx="97688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L" sz="3200" i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EA7CBD9-ADA3-6E6A-09F7-C4E983543E38}"/>
              </a:ext>
            </a:extLst>
          </p:cNvPr>
          <p:cNvSpPr txBox="1">
            <a:spLocks/>
          </p:cNvSpPr>
          <p:nvPr/>
        </p:nvSpPr>
        <p:spPr>
          <a:xfrm>
            <a:off x="431073" y="6448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b="1" i="1" dirty="0" err="1"/>
              <a:t>Vambe</a:t>
            </a:r>
            <a:r>
              <a:rPr lang="es-MX" b="1" i="1" dirty="0"/>
              <a:t>: </a:t>
            </a:r>
            <a:r>
              <a:rPr lang="es-MX" i="1" dirty="0"/>
              <a:t>Desde prospectos a conversión</a:t>
            </a:r>
            <a:r>
              <a:rPr lang="es-MX" b="1" i="1" dirty="0"/>
              <a:t>.</a:t>
            </a:r>
            <a:endParaRPr lang="es-CL" i="1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20F7785-B349-2A81-7206-B46748740DFF}"/>
              </a:ext>
            </a:extLst>
          </p:cNvPr>
          <p:cNvSpPr txBox="1">
            <a:spLocks/>
          </p:cNvSpPr>
          <p:nvPr/>
        </p:nvSpPr>
        <p:spPr>
          <a:xfrm>
            <a:off x="8170535" y="3249774"/>
            <a:ext cx="3940185" cy="28036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6564D32-C1FC-C5CC-557A-867D5AB81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2959" y="1390047"/>
            <a:ext cx="7931558" cy="445792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A57C7FA-C7AA-7516-63D9-FE4A96A5BA20}"/>
              </a:ext>
            </a:extLst>
          </p:cNvPr>
          <p:cNvSpPr txBox="1"/>
          <p:nvPr/>
        </p:nvSpPr>
        <p:spPr>
          <a:xfrm>
            <a:off x="3143250" y="605347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000" i="1" dirty="0"/>
              <a:t>https://www.youtube.com/watch?v=FfA2h-ZUG5Q</a:t>
            </a:r>
          </a:p>
        </p:txBody>
      </p:sp>
    </p:spTree>
    <p:extLst>
      <p:ext uri="{BB962C8B-B14F-4D97-AF65-F5344CB8AC3E}">
        <p14:creationId xmlns:p14="http://schemas.microsoft.com/office/powerpoint/2010/main" val="34638393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3141</TotalTime>
  <Words>256</Words>
  <Application>Microsoft Office PowerPoint</Application>
  <PresentationFormat>Panorámica</PresentationFormat>
  <Paragraphs>32</Paragraphs>
  <Slides>12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Ingeniería de soluciones con AI</vt:lpstr>
      <vt:lpstr>Noticias: Agentes need feedback to work well.</vt:lpstr>
      <vt:lpstr>Observabilidad no es solo detectar fallos, sino que mejorarlos.</vt:lpstr>
      <vt:lpstr>Presentación de PowerPoint</vt:lpstr>
      <vt:lpstr>Un llamado a una tool es un log, una acción que hay que monitorear y trackear.</vt:lpstr>
      <vt:lpstr>Usuario: ¿Cuáles fueron las ventas del 2025?     Asistente: Las ventas fueron $250.000.000 en el 2025.   </vt:lpstr>
      <vt:lpstr>Presentación de PowerPoint</vt:lpstr>
      <vt:lpstr>Presentación de PowerPoint</vt:lpstr>
      <vt:lpstr>Presentación de PowerPoint</vt:lpstr>
      <vt:lpstr>Tienes que construir un dataset, pero no será suficiente. Tendrás que llevarlo a producción en un marcha blanca.</vt:lpstr>
      <vt:lpstr>Se implementa un agente, se “entrena” con personas del equipo, luego se da a otras personas (no clientes aun), y luego se libera a clientes.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26</cp:revision>
  <dcterms:created xsi:type="dcterms:W3CDTF">2026-03-06T13:35:57Z</dcterms:created>
  <dcterms:modified xsi:type="dcterms:W3CDTF">2026-05-11T12:42:31Z</dcterms:modified>
</cp:coreProperties>
</file>