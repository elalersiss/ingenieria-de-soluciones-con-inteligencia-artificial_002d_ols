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79" r:id="rId4"/>
    <p:sldId id="311" r:id="rId5"/>
    <p:sldId id="299" r:id="rId6"/>
    <p:sldId id="300" r:id="rId7"/>
    <p:sldId id="310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5" autoAdjust="0"/>
    <p:restoredTop sz="93173" autoAdjust="0"/>
  </p:normalViewPr>
  <p:slideViewPr>
    <p:cSldViewPr snapToGrid="0">
      <p:cViewPr varScale="1">
        <p:scale>
          <a:sx n="67" d="100"/>
          <a:sy n="67" d="100"/>
        </p:scale>
        <p:origin x="7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DCB0C-69E9-4911-980B-989A824EA717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7F482-7FF7-4DD4-AE91-ACA70D5B43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97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DEAFD-4343-FCD6-B55B-1DC6ADFA8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663F13-E4FB-1728-4F5B-B4AD3446B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582B80E-EEE9-DD0C-FE86-EF7448CEF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470142-9316-8FDA-C204-1A9806959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9676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58CC1-EBB4-0728-68A8-119D2D066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6570B8-E822-4779-0690-04039B311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0BA529-E65C-47B0-5921-281FF61E7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FE4B4A-DE50-9AF4-18F9-41A805D97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199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46B91-BA86-19C1-FE9E-626BFB256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A42773-A1F0-0F3B-B800-0FB332756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F7C50AD-2CA9-B9DA-DE55-D46F62BB8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4AA31A-F0A9-A09A-6F69-47B00F372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5872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024D6-5333-65A7-1D99-25967768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1E274A-7214-C2E7-E3E4-D77121B14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18027B-4D78-C79C-989D-C3E5CA448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4DFAC0-0539-5BF8-AC23-13719C562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0746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E234F-289A-C6F0-973C-B491F2B8C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DB38AA-3CDE-16FC-4BDD-018259FF2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C7344B-A8A6-8A3B-9359-CF03A5177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715A55-ADE5-5A13-D230-487D2E889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8605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1CEB3-5675-98F6-5555-EE13E992A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7ADF84-13F9-5B39-43F1-14E7D8EA0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A3DF8-0758-BF8A-9304-ECC31709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8AD70-F127-7BA6-5921-BCF7845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809D2E-C8C8-DAE5-342D-7ACCCAC6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280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2BA7-F473-4377-62A9-34C36518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76B6C-F6ED-E8B4-6256-B671D382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376944-86DF-A06F-F26C-EEAE3330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2D504-2579-A803-D017-38F414D8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4F6F1-3475-DF5A-171D-90C0A636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958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EE0DC-FE41-207B-B5D4-12044E8D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5E523B-DBFD-D95C-BDA2-AF438B18F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0A689A-2C60-C5ED-1F57-27748FB8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6A1D8-E528-4BB5-3D0E-DD599C20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BCB4D-49C6-4998-F409-6029A291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070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1A91A-3147-1537-3F76-79772FA4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01651-05BC-1EC6-A58E-575D048EC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082018-B822-A183-DA4B-1C3D16A4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26C75-9BEB-D6DB-5431-6309AC88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71B78F-8C40-BEB7-3CA1-D48366C1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D4D4F6-B884-C893-0AE7-0BD236FC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688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8DA5D-9DAA-85F9-8663-3F4CFE4F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CA55E1-B5F5-EAF9-B7FE-D45D79747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121A24-CF2D-161C-0F6E-E25010C98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0F6704-DF9F-D96E-863C-22E02CAD6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8E114D-20FF-505F-3AC7-DFA59AC8F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1214F7-5555-5155-7348-E210F99F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C5D59F-5FAC-9631-CDC3-84D27C4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1995D8-D632-D10E-8AFF-26E5C809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27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870B8-34B8-37DC-89DB-47FC09CC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0F1EB3-E9A9-3C8D-7E75-A95C59BF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37F6A3-CB35-F37A-A6DA-88C9FF44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4C9290-251F-B1E0-AEAA-710A3CB5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122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1B6F75-8539-FB15-F03B-E2523D1B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725444-0A64-F2BF-CE6D-C96D6C23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A95120-3AD7-2633-1852-99868A0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7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67FF6-55E8-496C-BCC4-4D7B4033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28B327-F8C2-0B0D-FCA9-41E590A0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4743E-45A5-85D0-4052-5B42C3C07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AA9CE0-4EF9-BCF9-74C2-CFE7CCCA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A8C77C-C8E9-8F00-1622-EC17987D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BA34C7-982A-2E74-0F17-C8063BB6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4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31788-80C1-18AA-49B2-00AA49AE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EDF4D-E446-21A3-5193-EA3AA3FD2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2F1C9E-17FA-6C7E-F214-0530F189A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1A0B5E-955F-3A5F-84DE-EE873021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DB288-42E2-730F-3EC2-75CDD0F0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9CA278-6D6E-B2A8-B1E4-9F7DA302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164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56C15-EF0C-C8A8-41F6-840E0E43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36D5AC-B824-2DA4-A083-1EEB7768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0E341-3C14-25A1-76F8-8BC7FE23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9B56E-2B7B-8C60-811D-12FE70B4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0FC0E-77B0-E187-7241-8BE9332F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291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00424F-3FDF-9896-F8DF-EBF93BEF4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50F60B-440F-292F-888A-8EF62AA41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116BF-3104-AF5D-C0A8-E063AF70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F5DAA-9632-8650-11D1-4852CB9F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D27B8-05BD-48E2-3B7C-2DF3A1DB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673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E1D736-C504-F2D3-4D26-5C0C6D78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32A4F1-8C91-29BD-B83A-D5ED13E39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C91089-CE03-9300-C918-89BA1B7A9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DA46D-A1A7-4D05-A86A-5A57D57622A5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E5FFC7-CC22-AA3D-8561-D011B9400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EE7A9-3E52-92C2-1A3E-C180FB6A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56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C5055-DE28-A84E-9FB5-12A3C43AF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9403"/>
            <a:ext cx="9144000" cy="2387600"/>
          </a:xfrm>
        </p:spPr>
        <p:txBody>
          <a:bodyPr/>
          <a:lstStyle/>
          <a:p>
            <a:r>
              <a:rPr lang="es-MX" i="1" dirty="0"/>
              <a:t>Ingeniería de soluciones con AI</a:t>
            </a:r>
            <a:endParaRPr lang="es-CL" i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898086-6830-28E7-5F70-A1C13B3A9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3760" y="5788758"/>
            <a:ext cx="2585194" cy="675639"/>
          </a:xfrm>
        </p:spPr>
        <p:txBody>
          <a:bodyPr>
            <a:normAutofit lnSpcReduction="10000"/>
          </a:bodyPr>
          <a:lstStyle/>
          <a:p>
            <a:pPr algn="l"/>
            <a:r>
              <a:rPr lang="es-MX" sz="1800" b="1" i="1" dirty="0"/>
              <a:t>Docente:</a:t>
            </a:r>
          </a:p>
          <a:p>
            <a:pPr algn="l"/>
            <a:r>
              <a:rPr lang="es-MX" sz="1800" i="1" dirty="0"/>
              <a:t>Francisco Macaya</a:t>
            </a:r>
            <a:endParaRPr lang="es-CL" sz="1800" i="1" dirty="0"/>
          </a:p>
        </p:txBody>
      </p:sp>
      <p:pic>
        <p:nvPicPr>
          <p:cNvPr id="1026" name="Picture 2" descr="Duoc UC - Learn Chile">
            <a:extLst>
              <a:ext uri="{FF2B5EF4-FFF2-40B4-BE49-F238E27FC236}">
                <a16:creationId xmlns:a16="http://schemas.microsoft.com/office/drawing/2014/main" id="{EFAFD388-37C4-B6E5-0BD9-719436329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289FDFC1-9135-D283-EA5A-9264421DCA54}"/>
              </a:ext>
            </a:extLst>
          </p:cNvPr>
          <p:cNvSpPr txBox="1">
            <a:spLocks/>
          </p:cNvSpPr>
          <p:nvPr/>
        </p:nvSpPr>
        <p:spPr>
          <a:xfrm>
            <a:off x="5345302" y="5971981"/>
            <a:ext cx="2585194" cy="675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i="1" dirty="0"/>
              <a:t>Semestre 2026-1</a:t>
            </a:r>
            <a:endParaRPr lang="es-CL" sz="1800" i="1" dirty="0"/>
          </a:p>
        </p:txBody>
      </p:sp>
    </p:spTree>
    <p:extLst>
      <p:ext uri="{BB962C8B-B14F-4D97-AF65-F5344CB8AC3E}">
        <p14:creationId xmlns:p14="http://schemas.microsoft.com/office/powerpoint/2010/main" val="281779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41D0E-5E44-651B-82FF-0DBD9F25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19" y="-299832"/>
            <a:ext cx="10797458" cy="2311428"/>
          </a:xfrm>
        </p:spPr>
        <p:txBody>
          <a:bodyPr>
            <a:normAutofit/>
          </a:bodyPr>
          <a:lstStyle/>
          <a:p>
            <a:r>
              <a:rPr lang="es-MX" sz="3600" b="1" i="1" dirty="0"/>
              <a:t>Noticias: </a:t>
            </a:r>
            <a:r>
              <a:rPr lang="es-MX" sz="3600" i="1" dirty="0" err="1"/>
              <a:t>LangChain</a:t>
            </a:r>
            <a:r>
              <a:rPr lang="es-MX" sz="3600" i="1" dirty="0"/>
              <a:t> Lanza </a:t>
            </a:r>
            <a:r>
              <a:rPr lang="es-MX" sz="3600" i="1" dirty="0" err="1"/>
              <a:t>LangSmith</a:t>
            </a:r>
            <a:r>
              <a:rPr lang="es-MX" sz="3600" i="1" dirty="0"/>
              <a:t> </a:t>
            </a:r>
            <a:r>
              <a:rPr lang="es-MX" sz="3600" i="1" dirty="0" err="1"/>
              <a:t>Engine</a:t>
            </a:r>
            <a:r>
              <a:rPr lang="es-MX" sz="3600" b="1" i="1" dirty="0"/>
              <a:t>.</a:t>
            </a:r>
            <a:endParaRPr lang="es-CL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3B967C9-D6BF-8DB2-90D0-DCD6085A0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9A58C3FE-B6AF-3F8A-5EF1-66F42AFB529D}"/>
              </a:ext>
            </a:extLst>
          </p:cNvPr>
          <p:cNvSpPr txBox="1">
            <a:spLocks/>
          </p:cNvSpPr>
          <p:nvPr/>
        </p:nvSpPr>
        <p:spPr>
          <a:xfrm>
            <a:off x="-713431" y="6219566"/>
            <a:ext cx="7549374" cy="454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i="1" dirty="0"/>
              <a:t>Nota: </a:t>
            </a:r>
            <a:r>
              <a:rPr lang="es-MX" sz="1600" i="1" dirty="0"/>
              <a:t>https://www.langchain.com/blog/introducing-langsmith-engine</a:t>
            </a:r>
            <a:endParaRPr lang="es-CL" sz="1600" i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93D90F5-94C2-9E79-64D3-2EA6D400F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73" y="1234954"/>
            <a:ext cx="11182653" cy="47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0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91BF0-E2F9-34FA-7A0F-0C7B3857C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0777F897-719B-7D9F-4FFF-0B218F781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490BC28-B51F-37B1-27B9-4213CA8141E4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D4A6A0F-EF7D-E949-EAFC-621DB189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46" y="284087"/>
            <a:ext cx="10515600" cy="1325563"/>
          </a:xfrm>
        </p:spPr>
        <p:txBody>
          <a:bodyPr/>
          <a:lstStyle/>
          <a:p>
            <a:r>
              <a:rPr lang="es-MX" b="1" i="1" dirty="0"/>
              <a:t> </a:t>
            </a:r>
            <a:r>
              <a:rPr lang="es-MX" b="1" i="1" dirty="0" err="1"/>
              <a:t>LangSmith</a:t>
            </a:r>
            <a:r>
              <a:rPr lang="es-MX" b="1" i="1" dirty="0"/>
              <a:t> </a:t>
            </a:r>
            <a:r>
              <a:rPr lang="es-MX" b="1" i="1" dirty="0" err="1"/>
              <a:t>Engine</a:t>
            </a:r>
            <a:r>
              <a:rPr lang="es-MX" i="1" dirty="0"/>
              <a:t>: Los fallos terminan siendo oportunidades.</a:t>
            </a:r>
            <a:endParaRPr lang="es-CL" i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B5A731-12B6-C5C6-AD9A-6423226C3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15077"/>
            <a:ext cx="5950256" cy="442617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51D7795-04B1-62FA-A97F-ABCD121F5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062" y="1609650"/>
            <a:ext cx="5743738" cy="4431604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071C384-41FC-148F-E7BA-A1687A5AACC6}"/>
              </a:ext>
            </a:extLst>
          </p:cNvPr>
          <p:cNvSpPr txBox="1">
            <a:spLocks/>
          </p:cNvSpPr>
          <p:nvPr/>
        </p:nvSpPr>
        <p:spPr>
          <a:xfrm>
            <a:off x="-713431" y="6219566"/>
            <a:ext cx="7549374" cy="454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i="1" dirty="0"/>
              <a:t>Nota: </a:t>
            </a:r>
            <a:r>
              <a:rPr lang="es-MX" sz="1600" i="1" dirty="0"/>
              <a:t>https://www.langchain.com/blog/introducing-langsmith-engine</a:t>
            </a:r>
            <a:endParaRPr lang="es-CL" sz="1600" i="1" dirty="0"/>
          </a:p>
        </p:txBody>
      </p:sp>
    </p:spTree>
    <p:extLst>
      <p:ext uri="{BB962C8B-B14F-4D97-AF65-F5344CB8AC3E}">
        <p14:creationId xmlns:p14="http://schemas.microsoft.com/office/powerpoint/2010/main" val="2509128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5EF16-9EA1-703B-E2CA-7485470F5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6805D969-109A-3945-A424-E41B81D6B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5F4B184-7B30-6194-1D32-67C64A457E89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FE196DE-80BE-823A-903B-ED3B6C71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46" y="284087"/>
            <a:ext cx="10515600" cy="1325563"/>
          </a:xfrm>
        </p:spPr>
        <p:txBody>
          <a:bodyPr/>
          <a:lstStyle/>
          <a:p>
            <a:r>
              <a:rPr lang="es-MX" b="1" i="1" dirty="0"/>
              <a:t> ¿Que es la Observabilidad?</a:t>
            </a:r>
            <a:endParaRPr lang="es-CL" i="1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8BEE0708-7562-A620-AFA5-95CFD78E9EC3}"/>
              </a:ext>
            </a:extLst>
          </p:cNvPr>
          <p:cNvSpPr txBox="1">
            <a:spLocks/>
          </p:cNvSpPr>
          <p:nvPr/>
        </p:nvSpPr>
        <p:spPr>
          <a:xfrm>
            <a:off x="-713431" y="6219566"/>
            <a:ext cx="7549374" cy="454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i="1" dirty="0"/>
              <a:t>Nota: </a:t>
            </a:r>
            <a:r>
              <a:rPr lang="es-MX" sz="1600" i="1" dirty="0"/>
              <a:t>https://www.langchain.com/blog/introducing-langsmith-engine</a:t>
            </a:r>
            <a:endParaRPr lang="es-CL" sz="1600" i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0383CF3-7E48-4450-6436-7DAAC150F3E9}"/>
              </a:ext>
            </a:extLst>
          </p:cNvPr>
          <p:cNvSpPr txBox="1"/>
          <p:nvPr/>
        </p:nvSpPr>
        <p:spPr>
          <a:xfrm>
            <a:off x="578645" y="2054732"/>
            <a:ext cx="57650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1" dirty="0">
                <a:solidFill>
                  <a:srgbClr val="212529"/>
                </a:solidFill>
                <a:latin typeface="system-ui"/>
              </a:rPr>
              <a:t>Observability</a:t>
            </a:r>
            <a:r>
              <a:rPr lang="en-US" dirty="0">
                <a:solidFill>
                  <a:srgbClr val="212529"/>
                </a:solidFill>
                <a:latin typeface="system-ui"/>
              </a:rPr>
              <a:t> is the ability to understand the internal state of a system by examining its outputs.</a:t>
            </a:r>
          </a:p>
          <a:p>
            <a:pPr algn="l">
              <a:buNone/>
            </a:pPr>
            <a:endParaRPr lang="en-US" dirty="0">
              <a:solidFill>
                <a:srgbClr val="212529"/>
              </a:solidFill>
              <a:latin typeface="system-ui"/>
            </a:endParaRPr>
          </a:p>
          <a:p>
            <a:pPr algn="l">
              <a:buNone/>
            </a:pPr>
            <a:r>
              <a:rPr lang="en-US" dirty="0">
                <a:solidFill>
                  <a:srgbClr val="212529"/>
                </a:solidFill>
                <a:latin typeface="system-ui"/>
              </a:rPr>
              <a:t>In software, this is typically achieved by analyzing telemetry data such as traces, metrics, and logs.</a:t>
            </a:r>
          </a:p>
          <a:p>
            <a:pPr algn="l">
              <a:buNone/>
            </a:pPr>
            <a:endParaRPr lang="en-US" dirty="0">
              <a:solidFill>
                <a:srgbClr val="212529"/>
              </a:solidFill>
              <a:latin typeface="system-ui"/>
            </a:endParaRPr>
          </a:p>
          <a:p>
            <a:pPr algn="l">
              <a:buNone/>
            </a:pPr>
            <a:r>
              <a:rPr lang="en-US" dirty="0">
                <a:solidFill>
                  <a:srgbClr val="212529"/>
                </a:solidFill>
                <a:latin typeface="system-ui"/>
              </a:rPr>
              <a:t>To make a system observable, it must be instrumented. That is, the code must emit traces, metrics, or logs. The instrumented data must then be sent to an observability backend.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7BCCE64-C9FF-187E-4299-06272D514F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943" y="2158394"/>
            <a:ext cx="4506913" cy="245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804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5CD3-7DC3-608E-14B9-03A52EA26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A9B5AA4-BEBA-C88C-1F8F-EA0AEE7CE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58312C2-D1F3-A81C-9EC6-4E51F7865235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25EC53B-46AA-ED32-9E17-8845FC6C699D}"/>
              </a:ext>
            </a:extLst>
          </p:cNvPr>
          <p:cNvSpPr txBox="1">
            <a:spLocks/>
          </p:cNvSpPr>
          <p:nvPr/>
        </p:nvSpPr>
        <p:spPr>
          <a:xfrm>
            <a:off x="431580" y="957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i="1" dirty="0"/>
              <a:t>Tres “</a:t>
            </a:r>
            <a:r>
              <a:rPr lang="es-MX" i="1" dirty="0" err="1"/>
              <a:t>Stones</a:t>
            </a:r>
            <a:r>
              <a:rPr lang="es-MX" i="1" dirty="0"/>
              <a:t>”: </a:t>
            </a:r>
            <a:r>
              <a:rPr lang="es-MX" b="1" i="1" dirty="0"/>
              <a:t>Logs, Métricas e Traces(Trazas).</a:t>
            </a:r>
            <a:endParaRPr lang="es-CL" b="1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D246D0A-7F89-F0D1-893B-8F988F640F87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4B6A149-9E43-5751-8DB8-D0181E49A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718" y="1609650"/>
            <a:ext cx="9074616" cy="43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5DFA8-BC94-4C99-6E57-C5131438C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7ED41FB4-E3DF-9E9E-D47A-A2D39E039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554AD6A-4343-3FE5-FC7B-795A1B6FE6DC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B259AE6-E362-B4D1-4A33-27383EE95F18}"/>
              </a:ext>
            </a:extLst>
          </p:cNvPr>
          <p:cNvSpPr txBox="1">
            <a:spLocks/>
          </p:cNvSpPr>
          <p:nvPr/>
        </p:nvSpPr>
        <p:spPr>
          <a:xfrm>
            <a:off x="431580" y="897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i="1" dirty="0"/>
              <a:t>Métricas: </a:t>
            </a:r>
            <a:r>
              <a:rPr lang="es-MX" i="1" dirty="0"/>
              <a:t>“</a:t>
            </a:r>
            <a:r>
              <a:rPr lang="es-MX" i="1" dirty="0" err="1"/>
              <a:t>Click</a:t>
            </a:r>
            <a:r>
              <a:rPr lang="es-MX" i="1" dirty="0"/>
              <a:t>” a métricas de performances.</a:t>
            </a:r>
            <a:endParaRPr lang="es-CL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FD3CF39-C0E4-BC88-B4F6-6219F6C9DE62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82D7D00-4B2C-10C1-3557-CC2A92D0C476}"/>
              </a:ext>
            </a:extLst>
          </p:cNvPr>
          <p:cNvSpPr txBox="1">
            <a:spLocks/>
          </p:cNvSpPr>
          <p:nvPr/>
        </p:nvSpPr>
        <p:spPr>
          <a:xfrm>
            <a:off x="929159" y="1825768"/>
            <a:ext cx="10333681" cy="4541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/>
              <a:t>-</a:t>
            </a:r>
            <a:r>
              <a:rPr lang="es-MX" sz="2800" b="1" dirty="0" err="1"/>
              <a:t>Latency</a:t>
            </a:r>
            <a:r>
              <a:rPr lang="es-MX" sz="2800" b="1" dirty="0"/>
              <a:t> (</a:t>
            </a:r>
            <a:r>
              <a:rPr lang="es-CL" sz="2800" b="1" dirty="0" err="1"/>
              <a:t>End-to-End</a:t>
            </a:r>
            <a:r>
              <a:rPr lang="es-CL" sz="2800" b="1" dirty="0"/>
              <a:t> </a:t>
            </a:r>
            <a:r>
              <a:rPr lang="es-CL" sz="2800" b="1" dirty="0" err="1"/>
              <a:t>Latency</a:t>
            </a:r>
            <a:r>
              <a:rPr lang="es-CL" sz="2800" b="1" dirty="0"/>
              <a:t>)</a:t>
            </a:r>
            <a:r>
              <a:rPr lang="es-MX" sz="2800" b="1" i="1" dirty="0"/>
              <a:t>: </a:t>
            </a:r>
            <a:r>
              <a:rPr lang="es-MX" sz="2800" dirty="0"/>
              <a:t>Tiempo total desde la solicitud hasta la respuesta completa. Es más importante para respuestas cortas y no transmitidas en tiempo real (non-</a:t>
            </a:r>
            <a:r>
              <a:rPr lang="es-MX" sz="2800" dirty="0" err="1"/>
              <a:t>streamed</a:t>
            </a:r>
            <a:r>
              <a:rPr lang="es-MX" sz="2800" dirty="0"/>
              <a:t>)</a:t>
            </a:r>
            <a:r>
              <a:rPr lang="en-US" sz="2800" dirty="0"/>
              <a:t>.</a:t>
            </a:r>
            <a:endParaRPr lang="es-CL" sz="2800" i="1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10059A28-2DAD-E602-8A83-5361A7F893EC}"/>
              </a:ext>
            </a:extLst>
          </p:cNvPr>
          <p:cNvSpPr txBox="1">
            <a:spLocks/>
          </p:cNvSpPr>
          <p:nvPr/>
        </p:nvSpPr>
        <p:spPr>
          <a:xfrm>
            <a:off x="929159" y="3158149"/>
            <a:ext cx="10333681" cy="4541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-Requests per Second (RPS): </a:t>
            </a:r>
            <a:r>
              <a:rPr lang="es-MX" sz="2800" dirty="0"/>
              <a:t>cuántos usuarios concurrentes puede manejar el sistema.</a:t>
            </a:r>
            <a:endParaRPr lang="es-CL" sz="28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E8009B4-2CC7-ECCA-A3E8-5025D7CB1DE8}"/>
              </a:ext>
            </a:extLst>
          </p:cNvPr>
          <p:cNvSpPr txBox="1"/>
          <p:nvPr/>
        </p:nvSpPr>
        <p:spPr>
          <a:xfrm>
            <a:off x="929159" y="4114478"/>
            <a:ext cx="97059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b="1" dirty="0">
                <a:latin typeface="+mj-lt"/>
              </a:rPr>
              <a:t>-Costo por interacción </a:t>
            </a:r>
            <a:r>
              <a:rPr lang="es-MX" sz="2400" dirty="0">
                <a:latin typeface="+mj-lt"/>
              </a:rPr>
              <a:t>= (</a:t>
            </a:r>
            <a:r>
              <a:rPr lang="es-MX" sz="2400" dirty="0" err="1">
                <a:latin typeface="+mj-lt"/>
              </a:rPr>
              <a:t>Prompt</a:t>
            </a:r>
            <a:r>
              <a:rPr lang="es-MX" sz="2400" dirty="0">
                <a:latin typeface="+mj-lt"/>
              </a:rPr>
              <a:t> tokens × precio) + (</a:t>
            </a:r>
            <a:r>
              <a:rPr lang="es-MX" sz="2400" dirty="0" err="1">
                <a:latin typeface="+mj-lt"/>
              </a:rPr>
              <a:t>Completion</a:t>
            </a:r>
            <a:r>
              <a:rPr lang="es-MX" sz="2400" dirty="0">
                <a:latin typeface="+mj-lt"/>
              </a:rPr>
              <a:t> tokens × precio)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 err="1">
                <a:latin typeface="+mj-lt"/>
              </a:rPr>
              <a:t>Prompt</a:t>
            </a:r>
            <a:r>
              <a:rPr lang="es-MX" sz="2400" b="1" dirty="0">
                <a:latin typeface="+mj-lt"/>
              </a:rPr>
              <a:t> tokens</a:t>
            </a:r>
            <a:r>
              <a:rPr lang="es-MX" sz="2400" dirty="0">
                <a:latin typeface="+mj-lt"/>
              </a:rPr>
              <a:t> — todo lo que entra al modelo: </a:t>
            </a:r>
            <a:r>
              <a:rPr lang="es-MX" sz="2400" dirty="0" err="1">
                <a:latin typeface="+mj-lt"/>
              </a:rPr>
              <a:t>system</a:t>
            </a:r>
            <a:r>
              <a:rPr lang="es-MX" sz="2400" dirty="0">
                <a:latin typeface="+mj-lt"/>
              </a:rPr>
              <a:t> </a:t>
            </a:r>
            <a:r>
              <a:rPr lang="es-MX" sz="2400" dirty="0" err="1">
                <a:latin typeface="+mj-lt"/>
              </a:rPr>
              <a:t>prompt</a:t>
            </a:r>
            <a:r>
              <a:rPr lang="es-MX" sz="2400" dirty="0">
                <a:latin typeface="+mj-lt"/>
              </a:rPr>
              <a:t>, historial de conversación y mensaje del usuario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 err="1">
                <a:latin typeface="+mj-lt"/>
              </a:rPr>
              <a:t>Completion</a:t>
            </a:r>
            <a:r>
              <a:rPr lang="es-MX" sz="2400" b="1" dirty="0">
                <a:latin typeface="+mj-lt"/>
              </a:rPr>
              <a:t> tokens</a:t>
            </a:r>
            <a:r>
              <a:rPr lang="es-MX" sz="2400" dirty="0">
                <a:latin typeface="+mj-lt"/>
              </a:rPr>
              <a:t> — los tokens generados por el modelo como respuesta</a:t>
            </a:r>
          </a:p>
        </p:txBody>
      </p:sp>
    </p:spTree>
    <p:extLst>
      <p:ext uri="{BB962C8B-B14F-4D97-AF65-F5344CB8AC3E}">
        <p14:creationId xmlns:p14="http://schemas.microsoft.com/office/powerpoint/2010/main" val="3227408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FC7C1-EE14-A547-F0EB-7EEE3EFC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66E8ED05-8D7B-B6E8-C40F-F90F78383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6FD7D66-DD1E-F84E-6174-501998AFB05F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6FD9D20-D428-998A-8F11-4CA8251042F1}"/>
              </a:ext>
            </a:extLst>
          </p:cNvPr>
          <p:cNvSpPr txBox="1">
            <a:spLocks/>
          </p:cNvSpPr>
          <p:nvPr/>
        </p:nvSpPr>
        <p:spPr>
          <a:xfrm>
            <a:off x="431580" y="897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i="1" dirty="0"/>
              <a:t>Ejercicios: </a:t>
            </a:r>
            <a:r>
              <a:rPr lang="es-MX" i="1" dirty="0"/>
              <a:t>Mide, evalúa y plantea mejoras. </a:t>
            </a:r>
            <a:endParaRPr lang="es-CL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5B28825-F752-2B2C-22A1-46F82FFA68A5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2AC0C07-7925-CD04-1F4B-6CC81D7CA485}"/>
              </a:ext>
            </a:extLst>
          </p:cNvPr>
          <p:cNvSpPr txBox="1"/>
          <p:nvPr/>
        </p:nvSpPr>
        <p:spPr>
          <a:xfrm>
            <a:off x="836392" y="1609650"/>
            <a:ext cx="97059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i="1" dirty="0">
                <a:latin typeface="+mj-lt"/>
              </a:rPr>
              <a:t>1- Utilizar la API descrita en el README para evaluar costos, modelos y latencia de una solución.</a:t>
            </a:r>
          </a:p>
          <a:p>
            <a:pPr>
              <a:buNone/>
            </a:pPr>
            <a:endParaRPr lang="es-MX" sz="2400" i="1" dirty="0">
              <a:latin typeface="+mj-lt"/>
            </a:endParaRPr>
          </a:p>
          <a:p>
            <a:pPr>
              <a:buNone/>
            </a:pPr>
            <a:r>
              <a:rPr lang="es-MX" sz="2400" i="1" dirty="0">
                <a:latin typeface="+mj-lt"/>
              </a:rPr>
              <a:t>2- En base a lo encontrado, ¿Qué mejoras se puede hacer en el código para poder disminuir la latencia de la solución?</a:t>
            </a:r>
          </a:p>
        </p:txBody>
      </p:sp>
    </p:spTree>
    <p:extLst>
      <p:ext uri="{BB962C8B-B14F-4D97-AF65-F5344CB8AC3E}">
        <p14:creationId xmlns:p14="http://schemas.microsoft.com/office/powerpoint/2010/main" val="27711957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3200</TotalTime>
  <Words>325</Words>
  <Application>Microsoft Office PowerPoint</Application>
  <PresentationFormat>Panorámica</PresentationFormat>
  <Paragraphs>31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system-ui</vt:lpstr>
      <vt:lpstr>Tema de Office</vt:lpstr>
      <vt:lpstr>Ingeniería de soluciones con AI</vt:lpstr>
      <vt:lpstr>Noticias: LangChain Lanza LangSmith Engine.</vt:lpstr>
      <vt:lpstr> LangSmith Engine: Los fallos terminan siendo oportunidades.</vt:lpstr>
      <vt:lpstr> ¿Que es la Observabilidad?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27</cp:revision>
  <dcterms:created xsi:type="dcterms:W3CDTF">2026-03-06T13:35:57Z</dcterms:created>
  <dcterms:modified xsi:type="dcterms:W3CDTF">2026-05-18T10:32:09Z</dcterms:modified>
</cp:coreProperties>
</file>