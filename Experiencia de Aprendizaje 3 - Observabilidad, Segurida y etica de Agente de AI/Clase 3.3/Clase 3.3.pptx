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310" r:id="rId4"/>
    <p:sldId id="311" r:id="rId5"/>
    <p:sldId id="313" r:id="rId6"/>
    <p:sldId id="314" r:id="rId7"/>
    <p:sldId id="315" r:id="rId8"/>
    <p:sldId id="316" r:id="rId9"/>
    <p:sldId id="318" r:id="rId10"/>
    <p:sldId id="317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3173" autoAdjust="0"/>
  </p:normalViewPr>
  <p:slideViewPr>
    <p:cSldViewPr snapToGrid="0">
      <p:cViewPr varScale="1">
        <p:scale>
          <a:sx n="63" d="100"/>
          <a:sy n="63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234F-289A-C6F0-973C-B491F2B8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DB38AA-3CDE-16FC-4BDD-018259FF2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C7344B-A8A6-8A3B-9359-CF03A5177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715A55-ADE5-5A13-D230-487D2E889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8605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0426-27EB-BD10-3D0A-A226CE3B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993FB06-6336-A2FC-0324-FB3D3910C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92443D-C140-E9D4-964E-CC1094D92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EE436D-7EA5-E907-5D69-A329F22A5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8717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657E2-D035-585A-A6E0-BCF54392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CF06862-9CA4-E0DE-FB0D-6D47C2DED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F43D17-EEE7-1012-9D94-0EEF7D731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548164-5173-ACB8-3E49-9B26531D7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6178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C960A-035D-7C2A-BE86-0352CC88A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F2C369-83FE-90E1-860A-EDF3F983F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C5160E0-5B98-C6EF-163B-5B9A248B5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706164-750D-7B14-11AC-555D4E2A3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8877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A02F9-AA65-3382-353F-C463ACDD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CFA63B-D6B0-1780-F489-35DE18BD6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08D0B9-A26D-D969-7358-8027EEDA8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5160BD-B2A0-5537-FE02-DA08351E1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8825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8827-B86E-2733-00D4-7FEB363D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FB611D-B651-08D9-3DA8-FC4B29563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903791-A4AB-584F-F107-8936AA5EC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7123B3-87C9-A92D-DFD7-F4CED7CB9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0357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D9266-EBC8-E75D-B248-AC8B95B8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C2E470-EF3B-EDC3-838B-B85652BE1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B5B9AF4-7072-3E08-0CC0-CCCABCAB0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9E170A-CA80-83DE-3970-B545B1BDC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7385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C1080-F021-40D5-6863-8401C2FA6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86EE77-2815-11CD-E45D-47A4EC978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E4D06A-357D-6A6B-F8ED-93B10BB3C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F15480-78D3-36F0-F9D9-9CB90D235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3173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25-05-2026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41D0E-5E44-651B-82FF-0DBD9F25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19" y="-299832"/>
            <a:ext cx="10797458" cy="2311428"/>
          </a:xfrm>
        </p:spPr>
        <p:txBody>
          <a:bodyPr>
            <a:normAutofit/>
          </a:bodyPr>
          <a:lstStyle/>
          <a:p>
            <a:r>
              <a:rPr lang="es-MX" sz="3600" b="1" i="1" dirty="0"/>
              <a:t>Noticias: </a:t>
            </a:r>
            <a:r>
              <a:rPr lang="es-MX" sz="3600" i="1" dirty="0" err="1"/>
              <a:t>Prompt</a:t>
            </a:r>
            <a:r>
              <a:rPr lang="es-MX" sz="3600" i="1" dirty="0"/>
              <a:t> </a:t>
            </a:r>
            <a:r>
              <a:rPr lang="es-MX" sz="3600" i="1" dirty="0" err="1"/>
              <a:t>injection</a:t>
            </a:r>
            <a:r>
              <a:rPr lang="es-MX" sz="3600" i="1" dirty="0"/>
              <a:t> es todavía una amenaza.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3B967C9-D6BF-8DB2-90D0-DCD6085A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9A58C3FE-B6AF-3F8A-5EF1-66F42AFB529D}"/>
              </a:ext>
            </a:extLst>
          </p:cNvPr>
          <p:cNvSpPr txBox="1">
            <a:spLocks/>
          </p:cNvSpPr>
          <p:nvPr/>
        </p:nvSpPr>
        <p:spPr>
          <a:xfrm>
            <a:off x="-218131" y="6294229"/>
            <a:ext cx="7549374" cy="454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i="1" dirty="0"/>
              <a:t>Nota: </a:t>
            </a:r>
            <a:r>
              <a:rPr lang="es-MX" sz="1600" i="1" dirty="0"/>
              <a:t>https://www.fastcompany.com/91532091/mcdonalds-ai-bot-didnt-go-rogue</a:t>
            </a:r>
            <a:endParaRPr lang="es-CL" sz="1600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BDBAF9-823B-D62D-80FF-A769445A2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226118"/>
            <a:ext cx="11068050" cy="492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0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C7C1-EE14-A547-F0EB-7EEE3EFC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6E8ED05-8D7B-B6E8-C40F-F90F78383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6FD7D66-DD1E-F84E-6174-501998AFB05F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6FD9D20-D428-998A-8F11-4CA8251042F1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¿Por qué es relevante la seguridad?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5B28825-F752-2B2C-22A1-46F82FFA68A5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2AC0C07-7925-CD04-1F4B-6CC81D7CA485}"/>
              </a:ext>
            </a:extLst>
          </p:cNvPr>
          <p:cNvSpPr txBox="1"/>
          <p:nvPr/>
        </p:nvSpPr>
        <p:spPr>
          <a:xfrm>
            <a:off x="836392" y="1609650"/>
            <a:ext cx="97059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i="1" dirty="0">
                <a:latin typeface="+mj-lt"/>
              </a:rPr>
              <a:t>1- Utilizar la API descrita en el README para evaluar costos, modelos y latencia de una solución.</a:t>
            </a:r>
          </a:p>
          <a:p>
            <a:pPr>
              <a:buNone/>
            </a:pPr>
            <a:endParaRPr lang="es-MX" sz="2400" i="1" dirty="0">
              <a:latin typeface="+mj-lt"/>
            </a:endParaRPr>
          </a:p>
          <a:p>
            <a:pPr>
              <a:buNone/>
            </a:pPr>
            <a:r>
              <a:rPr lang="es-MX" sz="2400" i="1" dirty="0">
                <a:latin typeface="+mj-lt"/>
              </a:rPr>
              <a:t>2- En base a lo encontrado, ¿Qué mejoras se puede hacer en el código para poder disminuir la latencia de la solución?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3EB0CF-BC64-CC6D-D9BB-711656DFF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04" y="1375949"/>
            <a:ext cx="9982642" cy="434538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2127822-171E-B6AD-1956-9DD6C04EC56E}"/>
              </a:ext>
            </a:extLst>
          </p:cNvPr>
          <p:cNvSpPr txBox="1"/>
          <p:nvPr/>
        </p:nvSpPr>
        <p:spPr>
          <a:xfrm>
            <a:off x="2414103" y="5942534"/>
            <a:ext cx="10892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i="1" dirty="0">
                <a:latin typeface="+mj-lt"/>
              </a:rPr>
              <a:t>La </a:t>
            </a:r>
            <a:r>
              <a:rPr lang="es-MX" sz="2400" b="1" i="1" dirty="0">
                <a:latin typeface="+mj-lt"/>
              </a:rPr>
              <a:t>seguridad</a:t>
            </a:r>
            <a:r>
              <a:rPr lang="es-MX" sz="1800" i="1" dirty="0">
                <a:latin typeface="+mj-lt"/>
              </a:rPr>
              <a:t> es el piso mínimo de un diseño, no es un característica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71195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B0FBA-4522-5B02-3EB8-8C7ECAF7A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140F11A-8084-AFA1-F056-F2FD0686D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2806A53-CA25-56F7-4F38-0622FF714FF9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AFE7D6C-117C-B431-DB83-9C6DC15B6F26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Ataques comunes de AI.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7A6B7F8-616D-9974-2E4A-B26BABC9E652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2A26FA-88AF-E1EA-C2F6-C82CEF3A9CA7}"/>
              </a:ext>
            </a:extLst>
          </p:cNvPr>
          <p:cNvSpPr txBox="1"/>
          <p:nvPr/>
        </p:nvSpPr>
        <p:spPr>
          <a:xfrm>
            <a:off x="836392" y="1609650"/>
            <a:ext cx="97059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i="1" dirty="0">
                <a:latin typeface="+mj-lt"/>
              </a:rPr>
              <a:t>1- Utilizar la API descrita en el README para evaluar costos, modelos y latencia de una solución.</a:t>
            </a:r>
          </a:p>
          <a:p>
            <a:pPr>
              <a:buNone/>
            </a:pPr>
            <a:endParaRPr lang="es-MX" sz="2400" i="1" dirty="0">
              <a:latin typeface="+mj-lt"/>
            </a:endParaRPr>
          </a:p>
          <a:p>
            <a:pPr>
              <a:buNone/>
            </a:pPr>
            <a:r>
              <a:rPr lang="es-MX" sz="2400" i="1" dirty="0">
                <a:latin typeface="+mj-lt"/>
              </a:rPr>
              <a:t>2- En base a lo encontrado, ¿Qué mejoras se puede hacer en el código para poder disminuir la latencia de la solución?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B8A4D9-0E79-E4AF-D5FB-ABD17EB05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48" y="1244060"/>
            <a:ext cx="11128155" cy="525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80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88D08-5B0F-1232-4A24-EE8D24B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5340442-0B6C-B5FC-E9D9-E65BA53D4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B7731A-EA88-5A66-2562-A739F3F57995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0B5D643-184F-615D-DA9E-9AE803C07A0C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/>
              <a:t>Deep </a:t>
            </a:r>
            <a:r>
              <a:rPr lang="es-MX" sz="3600" b="1" i="1" dirty="0" err="1"/>
              <a:t>Seek</a:t>
            </a:r>
            <a:r>
              <a:rPr lang="es-MX" sz="3600" b="1" i="1" dirty="0"/>
              <a:t>: </a:t>
            </a:r>
            <a:r>
              <a:rPr lang="es-MX" sz="3600" i="1" dirty="0"/>
              <a:t>¿Cómo inicialmente fueron tan baratos?</a:t>
            </a:r>
            <a:endParaRPr lang="es-CL" sz="3600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38D67B0-0862-7A1D-D18A-F31686285F5B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10EBCB6-B39D-730A-E36C-324868BC7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047" y="1174247"/>
            <a:ext cx="6567958" cy="551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60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F8A5-9B73-40D9-5C31-0EA8FDCF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D945F42-9897-E8DC-46AD-6BF6B90F9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AC897D-33E5-6A24-4F47-9205A7C72546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777951A-6F5E-FD02-AB75-D0A00DCD45A9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b="1" i="1" dirty="0"/>
              <a:t>Destilación (</a:t>
            </a:r>
            <a:r>
              <a:rPr lang="es-CL" sz="3600" b="1" i="1" dirty="0" err="1"/>
              <a:t>Distillation</a:t>
            </a:r>
            <a:r>
              <a:rPr lang="es-CL" sz="3600" b="1" i="1" dirty="0"/>
              <a:t>)</a:t>
            </a:r>
            <a:r>
              <a:rPr lang="es-MX" sz="3600" b="1" i="1" dirty="0"/>
              <a:t>: </a:t>
            </a:r>
            <a:r>
              <a:rPr lang="es-MX" sz="3600" i="1" dirty="0"/>
              <a:t>Aprende de los mayores.</a:t>
            </a:r>
            <a:endParaRPr lang="es-CL" sz="3600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2C7DEB7-8943-CBCF-287D-7D8415B8B85E}"/>
              </a:ext>
            </a:extLst>
          </p:cNvPr>
          <p:cNvSpPr txBox="1">
            <a:spLocks/>
          </p:cNvSpPr>
          <p:nvPr/>
        </p:nvSpPr>
        <p:spPr>
          <a:xfrm>
            <a:off x="8970635" y="2763999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8FC6DB-838A-18F1-D709-5EDB1C56A56A}"/>
              </a:ext>
            </a:extLst>
          </p:cNvPr>
          <p:cNvSpPr/>
          <p:nvPr/>
        </p:nvSpPr>
        <p:spPr>
          <a:xfrm>
            <a:off x="2957511" y="2259174"/>
            <a:ext cx="1400175" cy="100965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Deep </a:t>
            </a:r>
            <a:r>
              <a:rPr lang="es-MX" i="1" dirty="0" err="1">
                <a:solidFill>
                  <a:schemeClr val="tx1"/>
                </a:solidFill>
              </a:rPr>
              <a:t>Seek</a:t>
            </a:r>
            <a:r>
              <a:rPr lang="es-MX" i="1" dirty="0">
                <a:solidFill>
                  <a:schemeClr val="tx1"/>
                </a:solidFill>
              </a:rPr>
              <a:t> 1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726717-A11A-016E-7050-FAD60D602F53}"/>
              </a:ext>
            </a:extLst>
          </p:cNvPr>
          <p:cNvSpPr/>
          <p:nvPr/>
        </p:nvSpPr>
        <p:spPr>
          <a:xfrm>
            <a:off x="7858125" y="1699087"/>
            <a:ext cx="2486025" cy="212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GPT 5.5</a:t>
            </a:r>
            <a:endParaRPr lang="es-CL" i="1" dirty="0">
              <a:solidFill>
                <a:schemeClr val="tx1"/>
              </a:solidFill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1AA6B64-61D7-AC89-EBE1-D788483867EC}"/>
              </a:ext>
            </a:extLst>
          </p:cNvPr>
          <p:cNvCxnSpPr/>
          <p:nvPr/>
        </p:nvCxnSpPr>
        <p:spPr>
          <a:xfrm>
            <a:off x="4543425" y="2519825"/>
            <a:ext cx="29432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BEA88B7-4084-A691-782E-51D343A9D5EF}"/>
              </a:ext>
            </a:extLst>
          </p:cNvPr>
          <p:cNvCxnSpPr>
            <a:cxnSpLocks/>
          </p:cNvCxnSpPr>
          <p:nvPr/>
        </p:nvCxnSpPr>
        <p:spPr>
          <a:xfrm flipH="1">
            <a:off x="4543424" y="2929400"/>
            <a:ext cx="29432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A8BAF7E-E960-5C71-2168-729D15E0597A}"/>
              </a:ext>
            </a:extLst>
          </p:cNvPr>
          <p:cNvSpPr txBox="1"/>
          <p:nvPr/>
        </p:nvSpPr>
        <p:spPr>
          <a:xfrm>
            <a:off x="4474368" y="1237422"/>
            <a:ext cx="3267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>
                <a:latin typeface="+mj-lt"/>
              </a:rPr>
              <a:t>Prompt</a:t>
            </a:r>
            <a:r>
              <a:rPr lang="es-MX" b="1" dirty="0">
                <a:latin typeface="+mj-lt"/>
              </a:rPr>
              <a:t> </a:t>
            </a:r>
            <a:r>
              <a:rPr lang="es-MX" b="1" dirty="0" err="1">
                <a:latin typeface="+mj-lt"/>
              </a:rPr>
              <a:t>System</a:t>
            </a:r>
            <a:r>
              <a:rPr lang="es-MX" dirty="0">
                <a:latin typeface="+mj-lt"/>
              </a:rPr>
              <a:t>: Eres un experto en </a:t>
            </a:r>
            <a:r>
              <a:rPr lang="es-CL" dirty="0" err="1">
                <a:latin typeface="+mj-lt"/>
              </a:rPr>
              <a:t>reinforcement</a:t>
            </a:r>
            <a:r>
              <a:rPr lang="es-CL" dirty="0">
                <a:latin typeface="+mj-lt"/>
              </a:rPr>
              <a:t> </a:t>
            </a:r>
            <a:r>
              <a:rPr lang="es-CL" dirty="0" err="1">
                <a:latin typeface="+mj-lt"/>
              </a:rPr>
              <a:t>learning</a:t>
            </a:r>
            <a:r>
              <a:rPr lang="es-CL" dirty="0">
                <a:latin typeface="+mj-lt"/>
              </a:rPr>
              <a:t>.</a:t>
            </a:r>
            <a:endParaRPr lang="es-MX" dirty="0">
              <a:latin typeface="+mj-lt"/>
            </a:endParaRPr>
          </a:p>
          <a:p>
            <a:r>
              <a:rPr lang="es-MX" b="1" dirty="0">
                <a:latin typeface="+mj-lt"/>
              </a:rPr>
              <a:t>Pregunta</a:t>
            </a:r>
            <a:r>
              <a:rPr lang="es-MX" dirty="0">
                <a:latin typeface="+mj-lt"/>
              </a:rPr>
              <a:t>: …</a:t>
            </a:r>
            <a:endParaRPr lang="es-CL" dirty="0">
              <a:latin typeface="+mj-l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0F00545-F7AB-D5E8-D2F4-50D42F049C57}"/>
              </a:ext>
            </a:extLst>
          </p:cNvPr>
          <p:cNvSpPr txBox="1"/>
          <p:nvPr/>
        </p:nvSpPr>
        <p:spPr>
          <a:xfrm>
            <a:off x="5397354" y="5347585"/>
            <a:ext cx="326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Input</a:t>
            </a:r>
            <a:r>
              <a:rPr lang="es-MX" dirty="0">
                <a:latin typeface="+mj-lt"/>
              </a:rPr>
              <a:t>: …</a:t>
            </a:r>
          </a:p>
          <a:p>
            <a:r>
              <a:rPr lang="es-MX" b="1" dirty="0">
                <a:latin typeface="+mj-lt"/>
              </a:rPr>
              <a:t>Output</a:t>
            </a:r>
            <a:r>
              <a:rPr lang="es-MX" dirty="0">
                <a:latin typeface="+mj-lt"/>
              </a:rPr>
              <a:t>: …</a:t>
            </a:r>
            <a:endParaRPr lang="es-CL" dirty="0">
              <a:latin typeface="+mj-lt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AC1682E-28C0-E5F2-7471-1C7DE69FAB5C}"/>
              </a:ext>
            </a:extLst>
          </p:cNvPr>
          <p:cNvSpPr txBox="1"/>
          <p:nvPr/>
        </p:nvSpPr>
        <p:spPr>
          <a:xfrm>
            <a:off x="4591050" y="3217760"/>
            <a:ext cx="326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+mj-lt"/>
              </a:rPr>
              <a:t>Respuesta</a:t>
            </a:r>
            <a:r>
              <a:rPr lang="es-MX" dirty="0">
                <a:latin typeface="+mj-lt"/>
              </a:rPr>
              <a:t>:…</a:t>
            </a:r>
            <a:endParaRPr lang="es-CL" dirty="0">
              <a:latin typeface="+mj-lt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C4B6DBC-415D-44CC-DF1C-B313C38B4B33}"/>
              </a:ext>
            </a:extLst>
          </p:cNvPr>
          <p:cNvSpPr/>
          <p:nvPr/>
        </p:nvSpPr>
        <p:spPr>
          <a:xfrm>
            <a:off x="2957510" y="4436390"/>
            <a:ext cx="1400175" cy="100965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Deep </a:t>
            </a:r>
            <a:r>
              <a:rPr lang="es-MX" i="1" dirty="0" err="1">
                <a:solidFill>
                  <a:schemeClr val="tx1"/>
                </a:solidFill>
              </a:rPr>
              <a:t>Seek</a:t>
            </a:r>
            <a:r>
              <a:rPr lang="es-MX" i="1" dirty="0">
                <a:solidFill>
                  <a:schemeClr val="tx1"/>
                </a:solidFill>
              </a:rPr>
              <a:t> 1</a:t>
            </a:r>
            <a:endParaRPr lang="es-CL" i="1" dirty="0">
              <a:solidFill>
                <a:schemeClr val="tx1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138AC317-498E-1862-5FD5-5C1316FCC0FB}"/>
              </a:ext>
            </a:extLst>
          </p:cNvPr>
          <p:cNvCxnSpPr>
            <a:cxnSpLocks/>
          </p:cNvCxnSpPr>
          <p:nvPr/>
        </p:nvCxnSpPr>
        <p:spPr>
          <a:xfrm>
            <a:off x="2038350" y="2676525"/>
            <a:ext cx="6619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E56FC88E-06D8-8001-1781-61462517F12B}"/>
              </a:ext>
            </a:extLst>
          </p:cNvPr>
          <p:cNvSpPr/>
          <p:nvPr/>
        </p:nvSpPr>
        <p:spPr>
          <a:xfrm>
            <a:off x="1069181" y="2250447"/>
            <a:ext cx="876300" cy="86502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chemeClr val="tx1"/>
                </a:solidFill>
              </a:rPr>
              <a:t>1</a:t>
            </a:r>
            <a:endParaRPr lang="es-CL" sz="2800" b="1" dirty="0">
              <a:solidFill>
                <a:schemeClr val="tx1"/>
              </a:solidFill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6B85D5A-9651-4684-146D-F57625CD822C}"/>
              </a:ext>
            </a:extLst>
          </p:cNvPr>
          <p:cNvCxnSpPr>
            <a:cxnSpLocks/>
          </p:cNvCxnSpPr>
          <p:nvPr/>
        </p:nvCxnSpPr>
        <p:spPr>
          <a:xfrm>
            <a:off x="2038350" y="4862468"/>
            <a:ext cx="6619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486D90E0-7108-D23E-B448-435CFE7B3082}"/>
              </a:ext>
            </a:extLst>
          </p:cNvPr>
          <p:cNvSpPr/>
          <p:nvPr/>
        </p:nvSpPr>
        <p:spPr>
          <a:xfrm>
            <a:off x="1069181" y="4436390"/>
            <a:ext cx="876300" cy="86502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chemeClr val="tx1"/>
                </a:solidFill>
              </a:rPr>
              <a:t>2</a:t>
            </a:r>
            <a:endParaRPr lang="es-CL" sz="2800" b="1" dirty="0">
              <a:solidFill>
                <a:schemeClr val="tx1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8BEDD7F-ACF2-9AFB-5913-B8FBA00FD3F6}"/>
              </a:ext>
            </a:extLst>
          </p:cNvPr>
          <p:cNvSpPr/>
          <p:nvPr/>
        </p:nvSpPr>
        <p:spPr>
          <a:xfrm>
            <a:off x="7858124" y="4353344"/>
            <a:ext cx="2486025" cy="1590233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Deep </a:t>
            </a:r>
            <a:r>
              <a:rPr lang="es-MX" i="1" dirty="0" err="1">
                <a:solidFill>
                  <a:schemeClr val="tx1"/>
                </a:solidFill>
              </a:rPr>
              <a:t>Seek</a:t>
            </a:r>
            <a:r>
              <a:rPr lang="es-MX" i="1" dirty="0">
                <a:solidFill>
                  <a:schemeClr val="tx1"/>
                </a:solidFill>
              </a:rPr>
              <a:t> 3</a:t>
            </a:r>
            <a:endParaRPr lang="es-CL" i="1" dirty="0">
              <a:solidFill>
                <a:schemeClr val="tx1"/>
              </a:solidFill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F4E689E-297B-2230-AAC0-432986BED4AA}"/>
              </a:ext>
            </a:extLst>
          </p:cNvPr>
          <p:cNvCxnSpPr/>
          <p:nvPr/>
        </p:nvCxnSpPr>
        <p:spPr>
          <a:xfrm>
            <a:off x="4543423" y="4941215"/>
            <a:ext cx="29432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2465359-EB67-40EB-FE2D-3D7EBAD51E96}"/>
              </a:ext>
            </a:extLst>
          </p:cNvPr>
          <p:cNvSpPr txBox="1"/>
          <p:nvPr/>
        </p:nvSpPr>
        <p:spPr>
          <a:xfrm>
            <a:off x="1186931" y="6055378"/>
            <a:ext cx="9374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i="1" dirty="0">
                <a:latin typeface="+mj-lt"/>
              </a:rPr>
              <a:t>Mucho más barato que entrenar un modelo con millones de parámetros. Deep </a:t>
            </a:r>
            <a:r>
              <a:rPr lang="es-MX" i="1" dirty="0" err="1">
                <a:latin typeface="+mj-lt"/>
              </a:rPr>
              <a:t>Seek</a:t>
            </a:r>
            <a:r>
              <a:rPr lang="es-MX" i="1" dirty="0">
                <a:latin typeface="+mj-lt"/>
              </a:rPr>
              <a:t> crearon miles de cuentas de </a:t>
            </a:r>
            <a:r>
              <a:rPr lang="es-MX" i="1" dirty="0" err="1">
                <a:latin typeface="+mj-lt"/>
              </a:rPr>
              <a:t>OpenAI</a:t>
            </a:r>
            <a:r>
              <a:rPr lang="es-MX" i="1" dirty="0">
                <a:latin typeface="+mj-lt"/>
              </a:rPr>
              <a:t> para entrenar su propio modelo</a:t>
            </a:r>
            <a:r>
              <a:rPr lang="es-MX" dirty="0">
                <a:latin typeface="+mj-lt"/>
              </a:rPr>
              <a:t>. </a:t>
            </a:r>
            <a:endParaRPr lang="es-C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052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6F22C-A110-1668-A4D3-ADBD2DA89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D3F038B-FCBC-66D9-0EFF-46BEA1CD1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4AA903F-7DA3-3D52-B9D8-6D271BF91152}"/>
              </a:ext>
            </a:extLst>
          </p:cNvPr>
          <p:cNvSpPr txBox="1">
            <a:spLocks/>
          </p:cNvSpPr>
          <p:nvPr/>
        </p:nvSpPr>
        <p:spPr>
          <a:xfrm>
            <a:off x="542566" y="141748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1F94F7D-7821-3DD2-D679-800852E66B97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b="1" i="1" dirty="0" err="1"/>
              <a:t>Guardrails</a:t>
            </a:r>
            <a:r>
              <a:rPr lang="es-MX" sz="3600" b="1" i="1" dirty="0"/>
              <a:t>: </a:t>
            </a:r>
            <a:r>
              <a:rPr lang="es-MX" sz="3600" i="1" dirty="0"/>
              <a:t>Protege tu sistema ante filtraciones</a:t>
            </a:r>
            <a:r>
              <a:rPr lang="es-MX" sz="3600" b="1" i="1" dirty="0"/>
              <a:t>.</a:t>
            </a:r>
            <a:endParaRPr lang="es-CL" sz="3600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4738ED8-EBA2-495F-C239-E444480C17DD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E043FF-16EA-FE96-6D24-86D180B39A68}"/>
              </a:ext>
            </a:extLst>
          </p:cNvPr>
          <p:cNvSpPr txBox="1"/>
          <p:nvPr/>
        </p:nvSpPr>
        <p:spPr>
          <a:xfrm>
            <a:off x="1619407" y="1656321"/>
            <a:ext cx="3267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>
                <a:latin typeface="+mj-lt"/>
              </a:defRPr>
            </a:lvl1pPr>
          </a:lstStyle>
          <a:p>
            <a:r>
              <a:rPr lang="es-MX" sz="2800" b="1" i="1" dirty="0"/>
              <a:t>Inputs </a:t>
            </a:r>
            <a:r>
              <a:rPr lang="es-CL" sz="2800" b="1" i="1" dirty="0" err="1"/>
              <a:t>Guardrails</a:t>
            </a:r>
            <a:endParaRPr lang="es-CL" sz="2800" b="1" i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EAFA5AC-F22F-3A46-0506-9A9002AA04D1}"/>
              </a:ext>
            </a:extLst>
          </p:cNvPr>
          <p:cNvSpPr txBox="1"/>
          <p:nvPr/>
        </p:nvSpPr>
        <p:spPr>
          <a:xfrm>
            <a:off x="791129" y="2472574"/>
            <a:ext cx="49236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+mj-lt"/>
              </a:rPr>
              <a:t>Las dos principales fugas que evitan son: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dirty="0">
                <a:latin typeface="+mj-lt"/>
              </a:rPr>
              <a:t>filtrar información privada a API externas.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dirty="0">
                <a:latin typeface="+mj-lt"/>
              </a:rPr>
              <a:t>ejecutar mensajes maliciosos que comprometen su sistema</a:t>
            </a:r>
            <a:endParaRPr lang="es-CL" sz="2000" dirty="0">
              <a:latin typeface="+mj-l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6BDE559-867F-DCB3-DCFF-B6E143F0C762}"/>
              </a:ext>
            </a:extLst>
          </p:cNvPr>
          <p:cNvSpPr txBox="1"/>
          <p:nvPr/>
        </p:nvSpPr>
        <p:spPr>
          <a:xfrm>
            <a:off x="757232" y="3903776"/>
            <a:ext cx="58772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+mj-lt"/>
              </a:rPr>
              <a:t>¿Cómo puede pasar?: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+mj-lt"/>
              </a:rPr>
              <a:t>Un empleado copia información confidencial de la empresa o información privada de un usuario en un mensaje y la envía a una API de terceros.&lt;</a:t>
            </a:r>
            <a:r>
              <a:rPr lang="es-MX" dirty="0" err="1">
                <a:latin typeface="+mj-lt"/>
              </a:rPr>
              <a:t>sup</a:t>
            </a:r>
            <a:r>
              <a:rPr lang="es-MX" dirty="0">
                <a:latin typeface="+mj-lt"/>
              </a:rPr>
              <a:t>&gt;1&lt;/</a:t>
            </a:r>
            <a:r>
              <a:rPr lang="es-MX" dirty="0" err="1">
                <a:latin typeface="+mj-lt"/>
              </a:rPr>
              <a:t>sup</a:t>
            </a:r>
            <a:r>
              <a:rPr lang="es-MX" dirty="0">
                <a:latin typeface="+mj-lt"/>
              </a:rPr>
              <a:t>&gt;</a:t>
            </a:r>
            <a:r>
              <a:rPr lang="es-MX" sz="1800" dirty="0"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+mj-lt"/>
              </a:rPr>
              <a:t>Un desarrollador de aplicaciones introduce políticas y datos internos de la empresa en el mensaje del sistema de la aplicación.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+mj-lt"/>
              </a:rPr>
              <a:t>Una herramienta recupera información privada de una base de datos interna y la agrega al contexto.</a:t>
            </a:r>
            <a:endParaRPr lang="es-MX" sz="1800" dirty="0">
              <a:latin typeface="+mj-lt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C4DAAD0-A92D-CE39-0F44-920481047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37" y="1263748"/>
            <a:ext cx="5687400" cy="528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4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BEB3B-63AC-2959-FE5C-96B7E7E6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3B79A5E9-30CF-1769-43C4-0AC458455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9616904-A92B-8CE3-3F18-31942638FDDD}"/>
              </a:ext>
            </a:extLst>
          </p:cNvPr>
          <p:cNvSpPr txBox="1">
            <a:spLocks/>
          </p:cNvSpPr>
          <p:nvPr/>
        </p:nvSpPr>
        <p:spPr>
          <a:xfrm>
            <a:off x="542566" y="141748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0298787-E252-7596-571E-30A12B5C411B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b="1" i="1" dirty="0" err="1"/>
              <a:t>Guardrails</a:t>
            </a:r>
            <a:r>
              <a:rPr lang="es-MX" sz="3600" b="1" i="1" dirty="0"/>
              <a:t>: </a:t>
            </a:r>
            <a:r>
              <a:rPr lang="es-MX" sz="3600" i="1" dirty="0"/>
              <a:t>Protege tu sistema ante filtraciones</a:t>
            </a:r>
            <a:r>
              <a:rPr lang="es-MX" sz="3600" b="1" i="1" dirty="0"/>
              <a:t>.</a:t>
            </a:r>
            <a:endParaRPr lang="es-CL" sz="3600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F61B07A-B531-E90A-2C5B-BC5E1156CA31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B0D10F-298E-C84B-9D6A-C424418273B5}"/>
              </a:ext>
            </a:extLst>
          </p:cNvPr>
          <p:cNvSpPr txBox="1"/>
          <p:nvPr/>
        </p:nvSpPr>
        <p:spPr>
          <a:xfrm>
            <a:off x="644047" y="2560561"/>
            <a:ext cx="3267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>
                <a:latin typeface="+mj-lt"/>
              </a:defRPr>
            </a:lvl1pPr>
          </a:lstStyle>
          <a:p>
            <a:r>
              <a:rPr lang="es-MX" sz="2800" b="1" i="1" dirty="0"/>
              <a:t>Output </a:t>
            </a:r>
            <a:r>
              <a:rPr lang="es-CL" sz="2800" b="1" i="1" dirty="0" err="1"/>
              <a:t>Guardrails</a:t>
            </a:r>
            <a:endParaRPr lang="es-CL" sz="2800" b="1" i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9DF92E9-BDAF-EBE5-95A7-1BA17A9E34A6}"/>
              </a:ext>
            </a:extLst>
          </p:cNvPr>
          <p:cNvSpPr txBox="1"/>
          <p:nvPr/>
        </p:nvSpPr>
        <p:spPr>
          <a:xfrm>
            <a:off x="765748" y="3429000"/>
            <a:ext cx="49236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+mj-lt"/>
              </a:rPr>
              <a:t>Sus funciones son: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dirty="0">
                <a:latin typeface="+mj-lt"/>
              </a:rPr>
              <a:t>Detectar fallos de salida.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dirty="0">
                <a:latin typeface="+mj-lt"/>
              </a:rPr>
              <a:t>Especificar la política para gestionar los diferentes modos de fallo.</a:t>
            </a:r>
            <a:endParaRPr lang="es-CL" sz="2000"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F945954-FE3A-FE31-99F0-F5C750D93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726" y="1943023"/>
            <a:ext cx="6398074" cy="411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28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98435-F811-A421-B9B5-E5BFBA14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308BF515-B4EA-1EAA-AE02-EDDD4099F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E8FC0CC-25B8-D4A4-454B-7B512A045E85}"/>
              </a:ext>
            </a:extLst>
          </p:cNvPr>
          <p:cNvSpPr txBox="1">
            <a:spLocks/>
          </p:cNvSpPr>
          <p:nvPr/>
        </p:nvSpPr>
        <p:spPr>
          <a:xfrm>
            <a:off x="542566" y="141748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F203FAB-4147-3077-360E-648BC88CC70D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/>
              <a:t>¿Cómo implementarlo?</a:t>
            </a:r>
            <a:endParaRPr lang="es-CL" sz="3600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CA9FB0B8-79A9-0E55-1C2F-22283668B130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455B73-A44B-E83D-F2EB-D0170984994B}"/>
              </a:ext>
            </a:extLst>
          </p:cNvPr>
          <p:cNvSpPr txBox="1"/>
          <p:nvPr/>
        </p:nvSpPr>
        <p:spPr>
          <a:xfrm>
            <a:off x="1132600" y="5860430"/>
            <a:ext cx="98145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i="1" dirty="0">
                <a:latin typeface="+mj-lt"/>
              </a:rPr>
              <a:t>Sistema protegido, con </a:t>
            </a:r>
            <a:r>
              <a:rPr lang="es-MX" sz="2400" b="1" i="1" dirty="0">
                <a:latin typeface="+mj-lt"/>
              </a:rPr>
              <a:t>input y output </a:t>
            </a:r>
            <a:r>
              <a:rPr lang="es-MX" sz="2400" b="1" i="1" dirty="0" err="1">
                <a:latin typeface="+mj-lt"/>
              </a:rPr>
              <a:t>guardrails</a:t>
            </a:r>
            <a:r>
              <a:rPr lang="es-MX" sz="2400" b="1" i="1" dirty="0">
                <a:latin typeface="+mj-lt"/>
              </a:rPr>
              <a:t> </a:t>
            </a:r>
            <a:r>
              <a:rPr lang="es-MX" sz="2000" i="1" dirty="0">
                <a:latin typeface="+mj-lt"/>
              </a:rPr>
              <a:t>para resolver cualquier problema de filtraciones y seguridad.  </a:t>
            </a:r>
            <a:endParaRPr lang="es-CL" sz="2000" i="1" dirty="0">
              <a:latin typeface="+mj-l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9AE469E-73AE-ACEF-8FAB-4D059E016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345" y="1136197"/>
            <a:ext cx="9293428" cy="458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5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34663-9EB5-CB6D-C2E1-4E5D9CAC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F4E3CB8-22A7-DE84-DF44-36C0E3AC6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EEFE89-5540-37CD-04CD-D335B5ED2FFE}"/>
              </a:ext>
            </a:extLst>
          </p:cNvPr>
          <p:cNvSpPr txBox="1">
            <a:spLocks/>
          </p:cNvSpPr>
          <p:nvPr/>
        </p:nvSpPr>
        <p:spPr>
          <a:xfrm>
            <a:off x="542566" y="141748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249106F-5179-BF25-13F6-00C39AA43235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b="1" i="1" dirty="0"/>
              <a:t>Éticas y Seguridad</a:t>
            </a:r>
            <a:r>
              <a:rPr lang="es-MX" sz="3600" b="1" i="1" dirty="0"/>
              <a:t>: </a:t>
            </a:r>
            <a:r>
              <a:rPr lang="es-MX" sz="3600" i="1" dirty="0"/>
              <a:t>La AI es una herramienta, no el fin</a:t>
            </a:r>
            <a:r>
              <a:rPr lang="es-MX" sz="3600" b="1" i="1" dirty="0"/>
              <a:t>.</a:t>
            </a:r>
            <a:endParaRPr lang="es-CL" sz="3600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48FBB1F-97D7-FD21-79DF-73AFA2247EDC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ACE07C-526C-96BA-16DC-08ED21EF446F}"/>
              </a:ext>
            </a:extLst>
          </p:cNvPr>
          <p:cNvSpPr txBox="1"/>
          <p:nvPr/>
        </p:nvSpPr>
        <p:spPr>
          <a:xfrm>
            <a:off x="644047" y="2560561"/>
            <a:ext cx="3267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>
                <a:latin typeface="+mj-lt"/>
              </a:defRPr>
            </a:lvl1pPr>
          </a:lstStyle>
          <a:p>
            <a:r>
              <a:rPr lang="es-MX" sz="2800" b="1" i="1" dirty="0"/>
              <a:t>Output </a:t>
            </a:r>
            <a:r>
              <a:rPr lang="es-CL" sz="2800" b="1" i="1" dirty="0" err="1"/>
              <a:t>Guardrails</a:t>
            </a:r>
            <a:endParaRPr lang="es-CL" sz="2800" b="1" i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406B05-3527-8F78-B9B3-D0C4BF85E663}"/>
              </a:ext>
            </a:extLst>
          </p:cNvPr>
          <p:cNvSpPr txBox="1"/>
          <p:nvPr/>
        </p:nvSpPr>
        <p:spPr>
          <a:xfrm>
            <a:off x="765748" y="3429000"/>
            <a:ext cx="49236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+mj-lt"/>
              </a:rPr>
              <a:t>Sus funciones son: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dirty="0">
                <a:latin typeface="+mj-lt"/>
              </a:rPr>
              <a:t>Detectar fallos de salida.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dirty="0">
                <a:latin typeface="+mj-lt"/>
              </a:rPr>
              <a:t>Especificar la política para gestionar los diferentes modos de fallo.</a:t>
            </a:r>
            <a:endParaRPr lang="es-CL" sz="2000"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003853-F16E-FFA8-C9ED-745691335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726" y="1943023"/>
            <a:ext cx="6398074" cy="411044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35AD0EB-01DC-F2E2-F0BE-D6A9AA746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90" y="1270528"/>
            <a:ext cx="11522219" cy="512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34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3261</TotalTime>
  <Words>430</Words>
  <Application>Microsoft Office PowerPoint</Application>
  <PresentationFormat>Panorámica</PresentationFormat>
  <Paragraphs>58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Ingeniería de soluciones con AI</vt:lpstr>
      <vt:lpstr>Noticias: Prompt injection es todavía una amenaza.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28</cp:revision>
  <dcterms:created xsi:type="dcterms:W3CDTF">2026-03-06T13:35:57Z</dcterms:created>
  <dcterms:modified xsi:type="dcterms:W3CDTF">2026-05-25T11:37:38Z</dcterms:modified>
</cp:coreProperties>
</file>