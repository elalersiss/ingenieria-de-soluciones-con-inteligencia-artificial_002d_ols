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8" r:id="rId3"/>
    <p:sldId id="318" r:id="rId4"/>
    <p:sldId id="328" r:id="rId5"/>
    <p:sldId id="319" r:id="rId6"/>
    <p:sldId id="320" r:id="rId7"/>
    <p:sldId id="321" r:id="rId8"/>
    <p:sldId id="322" r:id="rId9"/>
    <p:sldId id="323" r:id="rId10"/>
    <p:sldId id="324" r:id="rId11"/>
    <p:sldId id="325" r:id="rId12"/>
    <p:sldId id="327" r:id="rId13"/>
    <p:sldId id="326" r:id="rId14"/>
    <p:sldId id="329" r:id="rId15"/>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extLst>
      <p:ext uri="{19B8F6BF-5375-455C-9EA6-DF929625EA0E}">
        <p15:presenceInfo xmlns:p15="http://schemas.microsoft.com/office/powerpoint/2012/main" userId="Lenov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93307" autoAdjust="0"/>
  </p:normalViewPr>
  <p:slideViewPr>
    <p:cSldViewPr snapToGrid="0">
      <p:cViewPr varScale="1">
        <p:scale>
          <a:sx n="63" d="100"/>
          <a:sy n="63" d="100"/>
        </p:scale>
        <p:origin x="8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BDCB0C-69E9-4911-980B-989A824EA717}" type="datetimeFigureOut">
              <a:rPr lang="es-CL" smtClean="0"/>
              <a:t>31-05-2026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7F482-7FF7-4DD4-AE91-ACA70D5B43D5}" type="slidenum">
              <a:rPr lang="es-CL" smtClean="0"/>
              <a:t>‹Nº›</a:t>
            </a:fld>
            <a:endParaRPr lang="es-CL"/>
          </a:p>
        </p:txBody>
      </p:sp>
    </p:spTree>
    <p:extLst>
      <p:ext uri="{BB962C8B-B14F-4D97-AF65-F5344CB8AC3E}">
        <p14:creationId xmlns:p14="http://schemas.microsoft.com/office/powerpoint/2010/main" val="2209796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12.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EE34B-418D-F1C8-39BD-21F18E22AA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27EE9F-FA95-9EAD-52B2-3ACF88FFB8E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CD05585-C2E5-E766-9731-A37B8DB3EDDC}"/>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EF5FD247-E3B6-FFA7-73AC-AA6A82E5193E}"/>
              </a:ext>
            </a:extLst>
          </p:cNvPr>
          <p:cNvSpPr>
            <a:spLocks noGrp="1"/>
          </p:cNvSpPr>
          <p:nvPr>
            <p:ph type="sldNum" sz="quarter" idx="5"/>
          </p:nvPr>
        </p:nvSpPr>
        <p:spPr/>
        <p:txBody>
          <a:bodyPr/>
          <a:lstStyle/>
          <a:p>
            <a:fld id="{2107F482-7FF7-4DD4-AE91-ACA70D5B43D5}" type="slidenum">
              <a:rPr lang="es-CL" smtClean="0"/>
              <a:t>12</a:t>
            </a:fld>
            <a:endParaRPr lang="es-CL"/>
          </a:p>
        </p:txBody>
      </p:sp>
    </p:spTree>
    <p:extLst>
      <p:ext uri="{BB962C8B-B14F-4D97-AF65-F5344CB8AC3E}">
        <p14:creationId xmlns:p14="http://schemas.microsoft.com/office/powerpoint/2010/main" val="4253717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p:cNvSpPr>
            <a:spLocks noGrp="1"/>
          </p:cNvSpPr>
          <p:nvPr>
            <p:ph type="sldNum" sz="quarter" idx="5"/>
          </p:nvPr>
        </p:nvSpPr>
        <p:spPr/>
        <p:txBody>
          <a:bodyPr/>
          <a:lstStyle/>
          <a:p>
            <a:fld id="{2107F482-7FF7-4DD4-AE91-ACA70D5B43D5}" type="slidenum">
              <a:rPr lang="es-CL" smtClean="0"/>
              <a:t>13</a:t>
            </a:fld>
            <a:endParaRPr lang="es-CL"/>
          </a:p>
        </p:txBody>
      </p:sp>
    </p:spTree>
    <p:extLst>
      <p:ext uri="{BB962C8B-B14F-4D97-AF65-F5344CB8AC3E}">
        <p14:creationId xmlns:p14="http://schemas.microsoft.com/office/powerpoint/2010/main" val="1126274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CE99D-1871-0F35-B1DA-8F946AFC66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967999-0166-C84E-263B-AC9DD4F215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0FD80E-89F6-7102-E28A-48E000849C3B}"/>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F1354CB5-EA5E-3686-3A33-1F54A77BFDBC}"/>
              </a:ext>
            </a:extLst>
          </p:cNvPr>
          <p:cNvSpPr>
            <a:spLocks noGrp="1"/>
          </p:cNvSpPr>
          <p:nvPr>
            <p:ph type="sldNum" sz="quarter" idx="5"/>
          </p:nvPr>
        </p:nvSpPr>
        <p:spPr/>
        <p:txBody>
          <a:bodyPr/>
          <a:lstStyle/>
          <a:p>
            <a:fld id="{2107F482-7FF7-4DD4-AE91-ACA70D5B43D5}" type="slidenum">
              <a:rPr lang="es-CL" smtClean="0"/>
              <a:t>14</a:t>
            </a:fld>
            <a:endParaRPr lang="es-CL"/>
          </a:p>
        </p:txBody>
      </p:sp>
    </p:spTree>
    <p:extLst>
      <p:ext uri="{BB962C8B-B14F-4D97-AF65-F5344CB8AC3E}">
        <p14:creationId xmlns:p14="http://schemas.microsoft.com/office/powerpoint/2010/main" val="105317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D1CEB3-5675-98F6-5555-EE13E992A56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F07ADF84-13F9-5B39-43F1-14E7D8EA08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49FA3DF8-0758-BF8A-9304-ECC31709A5D7}"/>
              </a:ext>
            </a:extLst>
          </p:cNvPr>
          <p:cNvSpPr>
            <a:spLocks noGrp="1"/>
          </p:cNvSpPr>
          <p:nvPr>
            <p:ph type="dt" sz="half" idx="10"/>
          </p:nvPr>
        </p:nvSpPr>
        <p:spPr/>
        <p:txBody>
          <a:bodyPr/>
          <a:lstStyle/>
          <a:p>
            <a:fld id="{E8BDA46D-A1A7-4D05-A86A-5A57D57622A5}" type="datetimeFigureOut">
              <a:rPr lang="es-CL" smtClean="0"/>
              <a:t>31-05-2026</a:t>
            </a:fld>
            <a:endParaRPr lang="es-CL"/>
          </a:p>
        </p:txBody>
      </p:sp>
      <p:sp>
        <p:nvSpPr>
          <p:cNvPr id="5" name="Marcador de pie de página 4">
            <a:extLst>
              <a:ext uri="{FF2B5EF4-FFF2-40B4-BE49-F238E27FC236}">
                <a16:creationId xmlns:a16="http://schemas.microsoft.com/office/drawing/2014/main" id="{E7A8AD70-F127-7BA6-5921-BCF78459803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5809D2E-C8C8-DAE5-342D-7ACCCAC6D7F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4042806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2BA7-F473-4377-62A9-34C365181649}"/>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2876B6C-F6ED-E8B4-6256-B671D382415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E376944-86DF-A06F-F26C-EEAE33302DCB}"/>
              </a:ext>
            </a:extLst>
          </p:cNvPr>
          <p:cNvSpPr>
            <a:spLocks noGrp="1"/>
          </p:cNvSpPr>
          <p:nvPr>
            <p:ph type="dt" sz="half" idx="10"/>
          </p:nvPr>
        </p:nvSpPr>
        <p:spPr/>
        <p:txBody>
          <a:bodyPr/>
          <a:lstStyle/>
          <a:p>
            <a:fld id="{E8BDA46D-A1A7-4D05-A86A-5A57D57622A5}" type="datetimeFigureOut">
              <a:rPr lang="es-CL" smtClean="0"/>
              <a:t>31-05-2026</a:t>
            </a:fld>
            <a:endParaRPr lang="es-CL"/>
          </a:p>
        </p:txBody>
      </p:sp>
      <p:sp>
        <p:nvSpPr>
          <p:cNvPr id="5" name="Marcador de pie de página 4">
            <a:extLst>
              <a:ext uri="{FF2B5EF4-FFF2-40B4-BE49-F238E27FC236}">
                <a16:creationId xmlns:a16="http://schemas.microsoft.com/office/drawing/2014/main" id="{8842D504-2579-A803-D017-38F414D8F92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B44F6F1-3475-DF5A-171D-90C0A6361F33}"/>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71958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9EE0DC-FE41-207B-B5D4-12044E8D9BC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265E523B-DBFD-D95C-BDA2-AF438B18FA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00A689A-2C60-C5ED-1F57-27748FB82FCF}"/>
              </a:ext>
            </a:extLst>
          </p:cNvPr>
          <p:cNvSpPr>
            <a:spLocks noGrp="1"/>
          </p:cNvSpPr>
          <p:nvPr>
            <p:ph type="dt" sz="half" idx="10"/>
          </p:nvPr>
        </p:nvSpPr>
        <p:spPr/>
        <p:txBody>
          <a:bodyPr/>
          <a:lstStyle/>
          <a:p>
            <a:fld id="{E8BDA46D-A1A7-4D05-A86A-5A57D57622A5}" type="datetimeFigureOut">
              <a:rPr lang="es-CL" smtClean="0"/>
              <a:t>31-05-2026</a:t>
            </a:fld>
            <a:endParaRPr lang="es-CL"/>
          </a:p>
        </p:txBody>
      </p:sp>
      <p:sp>
        <p:nvSpPr>
          <p:cNvPr id="5" name="Marcador de pie de página 4">
            <a:extLst>
              <a:ext uri="{FF2B5EF4-FFF2-40B4-BE49-F238E27FC236}">
                <a16:creationId xmlns:a16="http://schemas.microsoft.com/office/drawing/2014/main" id="{18E6A1D8-E528-4BB5-3D0E-DD599C20DD1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22BCB4D-49C6-4998-F409-6029A291DE8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040702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1A91A-3147-1537-3F76-79772FA4154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3C01651-05BC-1EC6-A58E-575D048EC2F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55082018-B822-A183-DA4B-1C3D16A49C4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6F26C75-9BEB-D6DB-5431-6309AC889347}"/>
              </a:ext>
            </a:extLst>
          </p:cNvPr>
          <p:cNvSpPr>
            <a:spLocks noGrp="1"/>
          </p:cNvSpPr>
          <p:nvPr>
            <p:ph type="dt" sz="half" idx="10"/>
          </p:nvPr>
        </p:nvSpPr>
        <p:spPr/>
        <p:txBody>
          <a:bodyPr/>
          <a:lstStyle/>
          <a:p>
            <a:fld id="{E8BDA46D-A1A7-4D05-A86A-5A57D57622A5}" type="datetimeFigureOut">
              <a:rPr lang="es-CL" smtClean="0"/>
              <a:t>31-05-2026</a:t>
            </a:fld>
            <a:endParaRPr lang="es-CL"/>
          </a:p>
        </p:txBody>
      </p:sp>
      <p:sp>
        <p:nvSpPr>
          <p:cNvPr id="6" name="Marcador de pie de página 5">
            <a:extLst>
              <a:ext uri="{FF2B5EF4-FFF2-40B4-BE49-F238E27FC236}">
                <a16:creationId xmlns:a16="http://schemas.microsoft.com/office/drawing/2014/main" id="{D071B78F-8C40-BEB7-3CA1-D48366C1C4D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7D4D4F6-B884-C893-0AE7-0BD236FC0A3F}"/>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196884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28DA5D-9DAA-85F9-8663-3F4CFE4F13B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6CA55E1-B5F5-EAF9-B7FE-D45D79747C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C121A24-CF2D-161C-0F6E-E25010C9830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20F6704-DF9F-D96E-863C-22E02CAD62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08E114D-20FF-505F-3AC7-DFA59AC8F45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321214F7-5555-5155-7348-E210F99F0EF8}"/>
              </a:ext>
            </a:extLst>
          </p:cNvPr>
          <p:cNvSpPr>
            <a:spLocks noGrp="1"/>
          </p:cNvSpPr>
          <p:nvPr>
            <p:ph type="dt" sz="half" idx="10"/>
          </p:nvPr>
        </p:nvSpPr>
        <p:spPr/>
        <p:txBody>
          <a:bodyPr/>
          <a:lstStyle/>
          <a:p>
            <a:fld id="{E8BDA46D-A1A7-4D05-A86A-5A57D57622A5}" type="datetimeFigureOut">
              <a:rPr lang="es-CL" smtClean="0"/>
              <a:t>31-05-2026</a:t>
            </a:fld>
            <a:endParaRPr lang="es-CL"/>
          </a:p>
        </p:txBody>
      </p:sp>
      <p:sp>
        <p:nvSpPr>
          <p:cNvPr id="8" name="Marcador de pie de página 7">
            <a:extLst>
              <a:ext uri="{FF2B5EF4-FFF2-40B4-BE49-F238E27FC236}">
                <a16:creationId xmlns:a16="http://schemas.microsoft.com/office/drawing/2014/main" id="{C2C5D59F-5FAC-9631-CDC3-84D27C41472A}"/>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321995D8-D632-D10E-8AFF-26E5C8098BB9}"/>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71272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870B8-34B8-37DC-89DB-47FC09CC5D8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BB0F1EB3-E9A9-3C8D-7E75-A95C59BF31B0}"/>
              </a:ext>
            </a:extLst>
          </p:cNvPr>
          <p:cNvSpPr>
            <a:spLocks noGrp="1"/>
          </p:cNvSpPr>
          <p:nvPr>
            <p:ph type="dt" sz="half" idx="10"/>
          </p:nvPr>
        </p:nvSpPr>
        <p:spPr/>
        <p:txBody>
          <a:bodyPr/>
          <a:lstStyle/>
          <a:p>
            <a:fld id="{E8BDA46D-A1A7-4D05-A86A-5A57D57622A5}" type="datetimeFigureOut">
              <a:rPr lang="es-CL" smtClean="0"/>
              <a:t>31-05-2026</a:t>
            </a:fld>
            <a:endParaRPr lang="es-CL"/>
          </a:p>
        </p:txBody>
      </p:sp>
      <p:sp>
        <p:nvSpPr>
          <p:cNvPr id="4" name="Marcador de pie de página 3">
            <a:extLst>
              <a:ext uri="{FF2B5EF4-FFF2-40B4-BE49-F238E27FC236}">
                <a16:creationId xmlns:a16="http://schemas.microsoft.com/office/drawing/2014/main" id="{6337F6A3-CB35-F37A-A6DA-88C9FF448CC1}"/>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3C4C9290-251F-B1E0-AEAA-710A3CB53E84}"/>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971229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81B6F75-8539-FB15-F03B-E2523D1BB972}"/>
              </a:ext>
            </a:extLst>
          </p:cNvPr>
          <p:cNvSpPr>
            <a:spLocks noGrp="1"/>
          </p:cNvSpPr>
          <p:nvPr>
            <p:ph type="dt" sz="half" idx="10"/>
          </p:nvPr>
        </p:nvSpPr>
        <p:spPr/>
        <p:txBody>
          <a:bodyPr/>
          <a:lstStyle/>
          <a:p>
            <a:fld id="{E8BDA46D-A1A7-4D05-A86A-5A57D57622A5}" type="datetimeFigureOut">
              <a:rPr lang="es-CL" smtClean="0"/>
              <a:t>31-05-2026</a:t>
            </a:fld>
            <a:endParaRPr lang="es-CL"/>
          </a:p>
        </p:txBody>
      </p:sp>
      <p:sp>
        <p:nvSpPr>
          <p:cNvPr id="3" name="Marcador de pie de página 2">
            <a:extLst>
              <a:ext uri="{FF2B5EF4-FFF2-40B4-BE49-F238E27FC236}">
                <a16:creationId xmlns:a16="http://schemas.microsoft.com/office/drawing/2014/main" id="{F8725444-0A64-F2BF-CE6D-C96D6C2374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B1A95120-3AD7-2633-1852-99868A08E105}"/>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9157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67FF6-55E8-496C-BCC4-4D7B40336D7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28B327-F8C2-0B0D-FCA9-41E590A06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C374743E-45A5-85D0-4052-5B42C3C077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7AA9CE0-4EF9-BCF9-74C2-CFE7CCCA4E61}"/>
              </a:ext>
            </a:extLst>
          </p:cNvPr>
          <p:cNvSpPr>
            <a:spLocks noGrp="1"/>
          </p:cNvSpPr>
          <p:nvPr>
            <p:ph type="dt" sz="half" idx="10"/>
          </p:nvPr>
        </p:nvSpPr>
        <p:spPr/>
        <p:txBody>
          <a:bodyPr/>
          <a:lstStyle/>
          <a:p>
            <a:fld id="{E8BDA46D-A1A7-4D05-A86A-5A57D57622A5}" type="datetimeFigureOut">
              <a:rPr lang="es-CL" smtClean="0"/>
              <a:t>31-05-2026</a:t>
            </a:fld>
            <a:endParaRPr lang="es-CL"/>
          </a:p>
        </p:txBody>
      </p:sp>
      <p:sp>
        <p:nvSpPr>
          <p:cNvPr id="6" name="Marcador de pie de página 5">
            <a:extLst>
              <a:ext uri="{FF2B5EF4-FFF2-40B4-BE49-F238E27FC236}">
                <a16:creationId xmlns:a16="http://schemas.microsoft.com/office/drawing/2014/main" id="{31A8C77C-C8E9-8F00-1622-EC17987D85C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BA34C7-982A-2E74-0F17-C8063BB65B0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9446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31788-80C1-18AA-49B2-00AA49AE72C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B19EDF4D-E446-21A3-5193-EA3AA3FD2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C22F1C9E-17FA-6C7E-F214-0530F189A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81A0B5E-955F-3A5F-84DE-EE873021AD65}"/>
              </a:ext>
            </a:extLst>
          </p:cNvPr>
          <p:cNvSpPr>
            <a:spLocks noGrp="1"/>
          </p:cNvSpPr>
          <p:nvPr>
            <p:ph type="dt" sz="half" idx="10"/>
          </p:nvPr>
        </p:nvSpPr>
        <p:spPr/>
        <p:txBody>
          <a:bodyPr/>
          <a:lstStyle/>
          <a:p>
            <a:fld id="{E8BDA46D-A1A7-4D05-A86A-5A57D57622A5}" type="datetimeFigureOut">
              <a:rPr lang="es-CL" smtClean="0"/>
              <a:t>31-05-2026</a:t>
            </a:fld>
            <a:endParaRPr lang="es-CL"/>
          </a:p>
        </p:txBody>
      </p:sp>
      <p:sp>
        <p:nvSpPr>
          <p:cNvPr id="6" name="Marcador de pie de página 5">
            <a:extLst>
              <a:ext uri="{FF2B5EF4-FFF2-40B4-BE49-F238E27FC236}">
                <a16:creationId xmlns:a16="http://schemas.microsoft.com/office/drawing/2014/main" id="{82FDB288-42E2-730F-3EC2-75CDD0F0709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59CA278-6D6E-B2A8-B1E4-9F7DA302E9D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83164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856C15-EF0C-C8A8-41F6-840E0E4336C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A36D5AC-B824-2DA4-A083-1EEB7768DEA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920E341-3C14-25A1-76F8-8BC7FE23FF28}"/>
              </a:ext>
            </a:extLst>
          </p:cNvPr>
          <p:cNvSpPr>
            <a:spLocks noGrp="1"/>
          </p:cNvSpPr>
          <p:nvPr>
            <p:ph type="dt" sz="half" idx="10"/>
          </p:nvPr>
        </p:nvSpPr>
        <p:spPr/>
        <p:txBody>
          <a:bodyPr/>
          <a:lstStyle/>
          <a:p>
            <a:fld id="{E8BDA46D-A1A7-4D05-A86A-5A57D57622A5}" type="datetimeFigureOut">
              <a:rPr lang="es-CL" smtClean="0"/>
              <a:t>31-05-2026</a:t>
            </a:fld>
            <a:endParaRPr lang="es-CL"/>
          </a:p>
        </p:txBody>
      </p:sp>
      <p:sp>
        <p:nvSpPr>
          <p:cNvPr id="5" name="Marcador de pie de página 4">
            <a:extLst>
              <a:ext uri="{FF2B5EF4-FFF2-40B4-BE49-F238E27FC236}">
                <a16:creationId xmlns:a16="http://schemas.microsoft.com/office/drawing/2014/main" id="{CEC9B56E-2B7B-8C60-811D-12FE70B468E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650FC0E-77B0-E187-7241-8BE9332FF16D}"/>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202914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00424F-3FDF-9896-F8DF-EBF93BEF4D4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8350F60B-440F-292F-888A-8EF62AA412C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116BF-3104-AF5D-C0A8-E063AF706A11}"/>
              </a:ext>
            </a:extLst>
          </p:cNvPr>
          <p:cNvSpPr>
            <a:spLocks noGrp="1"/>
          </p:cNvSpPr>
          <p:nvPr>
            <p:ph type="dt" sz="half" idx="10"/>
          </p:nvPr>
        </p:nvSpPr>
        <p:spPr/>
        <p:txBody>
          <a:bodyPr/>
          <a:lstStyle/>
          <a:p>
            <a:fld id="{E8BDA46D-A1A7-4D05-A86A-5A57D57622A5}" type="datetimeFigureOut">
              <a:rPr lang="es-CL" smtClean="0"/>
              <a:t>31-05-2026</a:t>
            </a:fld>
            <a:endParaRPr lang="es-CL"/>
          </a:p>
        </p:txBody>
      </p:sp>
      <p:sp>
        <p:nvSpPr>
          <p:cNvPr id="5" name="Marcador de pie de página 4">
            <a:extLst>
              <a:ext uri="{FF2B5EF4-FFF2-40B4-BE49-F238E27FC236}">
                <a16:creationId xmlns:a16="http://schemas.microsoft.com/office/drawing/2014/main" id="{2E8F5DAA-9632-8650-11D1-4852CB9F0A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1DD27B8-05BD-48E2-3B7C-2DF3A1DBBD5A}"/>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546732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FE1D736-C504-F2D3-4D26-5C0C6D7897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D32A4F1-8C91-29BD-B83A-D5ED13E399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7C91089-CE03-9300-C918-89BA1B7A9A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BDA46D-A1A7-4D05-A86A-5A57D57622A5}" type="datetimeFigureOut">
              <a:rPr lang="es-CL" smtClean="0"/>
              <a:t>31-05-2026</a:t>
            </a:fld>
            <a:endParaRPr lang="es-CL"/>
          </a:p>
        </p:txBody>
      </p:sp>
      <p:sp>
        <p:nvSpPr>
          <p:cNvPr id="5" name="Marcador de pie de página 4">
            <a:extLst>
              <a:ext uri="{FF2B5EF4-FFF2-40B4-BE49-F238E27FC236}">
                <a16:creationId xmlns:a16="http://schemas.microsoft.com/office/drawing/2014/main" id="{FEE5FFC7-CC22-AA3D-8561-D011B9400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462EE7A9-3E52-92C2-1A3E-C180FB6A61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02DCD1-67CD-4B9C-AF7C-A4846B367CA8}" type="slidenum">
              <a:rPr lang="es-CL" smtClean="0"/>
              <a:t>‹Nº›</a:t>
            </a:fld>
            <a:endParaRPr lang="es-CL"/>
          </a:p>
        </p:txBody>
      </p:sp>
    </p:spTree>
    <p:extLst>
      <p:ext uri="{BB962C8B-B14F-4D97-AF65-F5344CB8AC3E}">
        <p14:creationId xmlns:p14="http://schemas.microsoft.com/office/powerpoint/2010/main" val="2365602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4C5055-DE28-A84E-9FB5-12A3C43AF46E}"/>
              </a:ext>
            </a:extLst>
          </p:cNvPr>
          <p:cNvSpPr>
            <a:spLocks noGrp="1"/>
          </p:cNvSpPr>
          <p:nvPr>
            <p:ph type="ctrTitle"/>
          </p:nvPr>
        </p:nvSpPr>
        <p:spPr>
          <a:xfrm>
            <a:off x="1524000" y="1569403"/>
            <a:ext cx="9144000" cy="2387600"/>
          </a:xfrm>
        </p:spPr>
        <p:txBody>
          <a:bodyPr/>
          <a:lstStyle/>
          <a:p>
            <a:r>
              <a:rPr lang="es-MX" i="1" dirty="0"/>
              <a:t>Ingeniería de soluciones con AI</a:t>
            </a:r>
            <a:endParaRPr lang="es-CL" i="1" dirty="0"/>
          </a:p>
        </p:txBody>
      </p:sp>
      <p:sp>
        <p:nvSpPr>
          <p:cNvPr id="3" name="Subtítulo 2">
            <a:extLst>
              <a:ext uri="{FF2B5EF4-FFF2-40B4-BE49-F238E27FC236}">
                <a16:creationId xmlns:a16="http://schemas.microsoft.com/office/drawing/2014/main" id="{9C898086-6830-28E7-5F70-A1C13B3A9DBB}"/>
              </a:ext>
            </a:extLst>
          </p:cNvPr>
          <p:cNvSpPr>
            <a:spLocks noGrp="1"/>
          </p:cNvSpPr>
          <p:nvPr>
            <p:ph type="subTitle" idx="1"/>
          </p:nvPr>
        </p:nvSpPr>
        <p:spPr>
          <a:xfrm>
            <a:off x="9763760" y="5788758"/>
            <a:ext cx="2585194" cy="675639"/>
          </a:xfrm>
        </p:spPr>
        <p:txBody>
          <a:bodyPr>
            <a:normAutofit lnSpcReduction="10000"/>
          </a:bodyPr>
          <a:lstStyle/>
          <a:p>
            <a:pPr algn="l"/>
            <a:r>
              <a:rPr lang="es-MX" sz="1800" b="1" i="1" dirty="0"/>
              <a:t>Docente:</a:t>
            </a:r>
          </a:p>
          <a:p>
            <a:pPr algn="l"/>
            <a:r>
              <a:rPr lang="es-MX" sz="1800" i="1" dirty="0"/>
              <a:t>Francisco Macaya</a:t>
            </a:r>
            <a:endParaRPr lang="es-CL" sz="1800" i="1" dirty="0"/>
          </a:p>
        </p:txBody>
      </p:sp>
      <p:pic>
        <p:nvPicPr>
          <p:cNvPr id="1026" name="Picture 2" descr="Duoc UC - Learn Chile">
            <a:extLst>
              <a:ext uri="{FF2B5EF4-FFF2-40B4-BE49-F238E27FC236}">
                <a16:creationId xmlns:a16="http://schemas.microsoft.com/office/drawing/2014/main" id="{EFAFD388-37C4-B6E5-0BD9-719436329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4" name="Subtítulo 2">
            <a:extLst>
              <a:ext uri="{FF2B5EF4-FFF2-40B4-BE49-F238E27FC236}">
                <a16:creationId xmlns:a16="http://schemas.microsoft.com/office/drawing/2014/main" id="{289FDFC1-9135-D283-EA5A-9264421DCA54}"/>
              </a:ext>
            </a:extLst>
          </p:cNvPr>
          <p:cNvSpPr txBox="1">
            <a:spLocks/>
          </p:cNvSpPr>
          <p:nvPr/>
        </p:nvSpPr>
        <p:spPr>
          <a:xfrm>
            <a:off x="5345302" y="5971981"/>
            <a:ext cx="2585194" cy="6756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MX" sz="1800" i="1" dirty="0"/>
              <a:t>Semestre 2026-1</a:t>
            </a:r>
            <a:endParaRPr lang="es-CL" sz="1800" i="1" dirty="0"/>
          </a:p>
        </p:txBody>
      </p:sp>
    </p:spTree>
    <p:extLst>
      <p:ext uri="{BB962C8B-B14F-4D97-AF65-F5344CB8AC3E}">
        <p14:creationId xmlns:p14="http://schemas.microsoft.com/office/powerpoint/2010/main" val="2817793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B41D0E-5E44-651B-82FF-0DBD9F25EEEE}"/>
              </a:ext>
            </a:extLst>
          </p:cNvPr>
          <p:cNvSpPr>
            <a:spLocks noGrp="1"/>
          </p:cNvSpPr>
          <p:nvPr>
            <p:ph type="title"/>
          </p:nvPr>
        </p:nvSpPr>
        <p:spPr>
          <a:xfrm>
            <a:off x="143819" y="-299832"/>
            <a:ext cx="10797458" cy="2311428"/>
          </a:xfrm>
        </p:spPr>
        <p:txBody>
          <a:bodyPr>
            <a:normAutofit/>
          </a:bodyPr>
          <a:lstStyle/>
          <a:p>
            <a:r>
              <a:rPr lang="es-MX" sz="3600" b="1" i="1" dirty="0"/>
              <a:t>Noticias: </a:t>
            </a:r>
            <a:r>
              <a:rPr lang="es-CL" sz="3600" i="1" dirty="0"/>
              <a:t>Magnifica </a:t>
            </a:r>
            <a:r>
              <a:rPr lang="es-CL" sz="3600" i="1" dirty="0" err="1"/>
              <a:t>Humanitas</a:t>
            </a:r>
            <a:r>
              <a:rPr lang="es-CL" sz="3600" i="1" dirty="0"/>
              <a:t>, reacción del Papa sobre la AI.</a:t>
            </a:r>
            <a:endParaRPr lang="es-CL" i="1" dirty="0"/>
          </a:p>
        </p:txBody>
      </p:sp>
      <p:pic>
        <p:nvPicPr>
          <p:cNvPr id="4" name="Picture 2" descr="Duoc UC - Learn Chile">
            <a:extLst>
              <a:ext uri="{FF2B5EF4-FFF2-40B4-BE49-F238E27FC236}">
                <a16:creationId xmlns:a16="http://schemas.microsoft.com/office/drawing/2014/main" id="{23B967C9-D6BF-8DB2-90D0-DCD6085A05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9A58C3FE-B6AF-3F8A-5EF1-66F42AFB529D}"/>
              </a:ext>
            </a:extLst>
          </p:cNvPr>
          <p:cNvSpPr txBox="1">
            <a:spLocks/>
          </p:cNvSpPr>
          <p:nvPr/>
        </p:nvSpPr>
        <p:spPr>
          <a:xfrm>
            <a:off x="-573731" y="6324709"/>
            <a:ext cx="754937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MX" sz="1600" i="1" dirty="0"/>
              <a:t>https://www.thearticle.com/magnifica-humanitas-ai-and-the-pope</a:t>
            </a:r>
            <a:endParaRPr lang="es-CL" sz="1600" i="1" dirty="0"/>
          </a:p>
        </p:txBody>
      </p:sp>
      <p:pic>
        <p:nvPicPr>
          <p:cNvPr id="7" name="Imagen 6">
            <a:extLst>
              <a:ext uri="{FF2B5EF4-FFF2-40B4-BE49-F238E27FC236}">
                <a16:creationId xmlns:a16="http://schemas.microsoft.com/office/drawing/2014/main" id="{1140E4D6-2025-9E87-E940-4CC578917EF8}"/>
              </a:ext>
            </a:extLst>
          </p:cNvPr>
          <p:cNvPicPr>
            <a:picLocks noChangeAspect="1"/>
          </p:cNvPicPr>
          <p:nvPr/>
        </p:nvPicPr>
        <p:blipFill>
          <a:blip r:embed="rId3"/>
          <a:stretch>
            <a:fillRect/>
          </a:stretch>
        </p:blipFill>
        <p:spPr>
          <a:xfrm>
            <a:off x="2296160" y="1169808"/>
            <a:ext cx="6995477" cy="4829671"/>
          </a:xfrm>
          <a:prstGeom prst="rect">
            <a:avLst/>
          </a:prstGeom>
        </p:spPr>
      </p:pic>
    </p:spTree>
    <p:extLst>
      <p:ext uri="{BB962C8B-B14F-4D97-AF65-F5344CB8AC3E}">
        <p14:creationId xmlns:p14="http://schemas.microsoft.com/office/powerpoint/2010/main" val="1734909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E94B9-62E0-2C3B-FE66-B5FE970A2E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BDDF1FF-FABE-993D-C8CF-8463734A0F87}"/>
              </a:ext>
            </a:extLst>
          </p:cNvPr>
          <p:cNvSpPr>
            <a:spLocks noGrp="1"/>
          </p:cNvSpPr>
          <p:nvPr>
            <p:ph type="title"/>
          </p:nvPr>
        </p:nvSpPr>
        <p:spPr>
          <a:xfrm>
            <a:off x="697271" y="2273286"/>
            <a:ext cx="10797458" cy="2311428"/>
          </a:xfrm>
        </p:spPr>
        <p:txBody>
          <a:bodyPr>
            <a:normAutofit fontScale="90000"/>
          </a:bodyPr>
          <a:lstStyle/>
          <a:p>
            <a:pPr algn="ctr"/>
            <a:r>
              <a:rPr lang="es-MX" b="1" i="1" dirty="0"/>
              <a:t>¿Cuál es la diferencia entre la inteligencia artificial que uso en visual </a:t>
            </a:r>
            <a:r>
              <a:rPr lang="es-MX" b="1" i="1" dirty="0" err="1"/>
              <a:t>studio</a:t>
            </a:r>
            <a:r>
              <a:rPr lang="es-MX" b="1" i="1" dirty="0"/>
              <a:t> </a:t>
            </a:r>
            <a:r>
              <a:rPr lang="es-MX" b="1" i="1" dirty="0" err="1"/>
              <a:t>code</a:t>
            </a:r>
            <a:r>
              <a:rPr lang="es-MX" b="1" i="1" dirty="0"/>
              <a:t> o el </a:t>
            </a:r>
            <a:r>
              <a:rPr lang="es-MX" b="1" i="1" dirty="0" err="1"/>
              <a:t>chatGPT</a:t>
            </a:r>
            <a:r>
              <a:rPr lang="es-MX" b="1" i="1" dirty="0"/>
              <a:t>  y el código de mi agente de la evaluación 2?</a:t>
            </a:r>
            <a:endParaRPr lang="es-CL" b="1" i="1" dirty="0"/>
          </a:p>
        </p:txBody>
      </p:sp>
      <p:pic>
        <p:nvPicPr>
          <p:cNvPr id="4" name="Picture 2" descr="Duoc UC - Learn Chile">
            <a:extLst>
              <a:ext uri="{FF2B5EF4-FFF2-40B4-BE49-F238E27FC236}">
                <a16:creationId xmlns:a16="http://schemas.microsoft.com/office/drawing/2014/main" id="{C5E7DB2B-3DF2-4DED-E6C4-CC47E76ABE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8" name="Título 1">
            <a:extLst>
              <a:ext uri="{FF2B5EF4-FFF2-40B4-BE49-F238E27FC236}">
                <a16:creationId xmlns:a16="http://schemas.microsoft.com/office/drawing/2014/main" id="{0ACEC969-D995-9735-107C-461B46FA8782}"/>
              </a:ext>
            </a:extLst>
          </p:cNvPr>
          <p:cNvSpPr txBox="1">
            <a:spLocks/>
          </p:cNvSpPr>
          <p:nvPr/>
        </p:nvSpPr>
        <p:spPr>
          <a:xfrm>
            <a:off x="4862871" y="726328"/>
            <a:ext cx="10797458" cy="23114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u="sng" dirty="0">
                <a:solidFill>
                  <a:srgbClr val="C00000"/>
                </a:solidFill>
              </a:rPr>
              <a:t>REPASO</a:t>
            </a:r>
            <a:endParaRPr lang="es-CL" b="1" i="1" u="sng" dirty="0">
              <a:solidFill>
                <a:srgbClr val="C00000"/>
              </a:solidFill>
            </a:endParaRPr>
          </a:p>
        </p:txBody>
      </p:sp>
    </p:spTree>
    <p:extLst>
      <p:ext uri="{BB962C8B-B14F-4D97-AF65-F5344CB8AC3E}">
        <p14:creationId xmlns:p14="http://schemas.microsoft.com/office/powerpoint/2010/main" val="2738691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D0908-9BB0-DFEE-E530-CF61C2FB7A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8493A22-788A-7DA0-3A7D-57D881BC1ACA}"/>
              </a:ext>
            </a:extLst>
          </p:cNvPr>
          <p:cNvSpPr>
            <a:spLocks noGrp="1"/>
          </p:cNvSpPr>
          <p:nvPr>
            <p:ph type="title"/>
          </p:nvPr>
        </p:nvSpPr>
        <p:spPr>
          <a:xfrm>
            <a:off x="2099351" y="1854088"/>
            <a:ext cx="10797458" cy="2311428"/>
          </a:xfrm>
        </p:spPr>
        <p:txBody>
          <a:bodyPr>
            <a:normAutofit/>
          </a:bodyPr>
          <a:lstStyle/>
          <a:p>
            <a:r>
              <a:rPr lang="es-MX" b="1" i="1" dirty="0"/>
              <a:t>¿Qué es un sistema </a:t>
            </a:r>
            <a:r>
              <a:rPr lang="es-MX" b="1" i="1" dirty="0" err="1"/>
              <a:t>multi-agente</a:t>
            </a:r>
            <a:r>
              <a:rPr lang="es-MX" b="1" i="1" dirty="0"/>
              <a:t>?</a:t>
            </a:r>
            <a:endParaRPr lang="es-CL" b="1" i="1" dirty="0"/>
          </a:p>
        </p:txBody>
      </p:sp>
      <p:pic>
        <p:nvPicPr>
          <p:cNvPr id="4" name="Picture 2" descr="Duoc UC - Learn Chile">
            <a:extLst>
              <a:ext uri="{FF2B5EF4-FFF2-40B4-BE49-F238E27FC236}">
                <a16:creationId xmlns:a16="http://schemas.microsoft.com/office/drawing/2014/main" id="{E225DD4F-A551-6ED4-157B-4C2BC98EB2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DF41EFD-5283-D9E1-1FA5-8772FC718D37}"/>
              </a:ext>
            </a:extLst>
          </p:cNvPr>
          <p:cNvSpPr txBox="1"/>
          <p:nvPr/>
        </p:nvSpPr>
        <p:spPr>
          <a:xfrm>
            <a:off x="2268496" y="3520440"/>
            <a:ext cx="9354820" cy="923330"/>
          </a:xfrm>
          <a:prstGeom prst="rect">
            <a:avLst/>
          </a:prstGeom>
          <a:noFill/>
        </p:spPr>
        <p:txBody>
          <a:bodyPr wrap="square">
            <a:spAutoFit/>
          </a:bodyPr>
          <a:lstStyle/>
          <a:p>
            <a:r>
              <a:rPr lang="es-CL" i="1" dirty="0"/>
              <a:t>https://github.com/Foco22/INGENIERIA-DE-SOLUCIONES-CON-INTELIGENCIA-ARTIFICIAL_002D_OLS/tree/main/Experiencia%20de%20Aprendizaje%202%20-%20Desarrollo%20de%20Agente%20Inteligentes%20con%20AI/Clase%202.3</a:t>
            </a:r>
          </a:p>
        </p:txBody>
      </p:sp>
      <p:sp>
        <p:nvSpPr>
          <p:cNvPr id="3" name="Título 1">
            <a:extLst>
              <a:ext uri="{FF2B5EF4-FFF2-40B4-BE49-F238E27FC236}">
                <a16:creationId xmlns:a16="http://schemas.microsoft.com/office/drawing/2014/main" id="{5784726C-3465-66FE-8D84-A0681E575B8B}"/>
              </a:ext>
            </a:extLst>
          </p:cNvPr>
          <p:cNvSpPr txBox="1">
            <a:spLocks/>
          </p:cNvSpPr>
          <p:nvPr/>
        </p:nvSpPr>
        <p:spPr>
          <a:xfrm>
            <a:off x="4822231" y="807021"/>
            <a:ext cx="10797458" cy="23114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u="sng" dirty="0">
                <a:solidFill>
                  <a:srgbClr val="C00000"/>
                </a:solidFill>
              </a:rPr>
              <a:t>REPASO</a:t>
            </a:r>
            <a:endParaRPr lang="es-CL" b="1" i="1" u="sng" dirty="0">
              <a:solidFill>
                <a:srgbClr val="C00000"/>
              </a:solidFill>
            </a:endParaRPr>
          </a:p>
        </p:txBody>
      </p:sp>
    </p:spTree>
    <p:extLst>
      <p:ext uri="{BB962C8B-B14F-4D97-AF65-F5344CB8AC3E}">
        <p14:creationId xmlns:p14="http://schemas.microsoft.com/office/powerpoint/2010/main" val="1844789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24D91-99F5-3359-4630-9DF3B244A6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0AA6D33-D256-9ECB-EB14-ADBADE31C7C2}"/>
              </a:ext>
            </a:extLst>
          </p:cNvPr>
          <p:cNvSpPr>
            <a:spLocks noGrp="1"/>
          </p:cNvSpPr>
          <p:nvPr>
            <p:ph type="title"/>
          </p:nvPr>
        </p:nvSpPr>
        <p:spPr>
          <a:xfrm>
            <a:off x="1713271" y="84006"/>
            <a:ext cx="10797458" cy="2311428"/>
          </a:xfrm>
        </p:spPr>
        <p:txBody>
          <a:bodyPr>
            <a:normAutofit/>
          </a:bodyPr>
          <a:lstStyle/>
          <a:p>
            <a:r>
              <a:rPr lang="es-MX" b="1" i="1" dirty="0"/>
              <a:t>¿Cuál es la diferencia entre AI y ML?</a:t>
            </a:r>
            <a:endParaRPr lang="es-CL" b="1" i="1" dirty="0"/>
          </a:p>
        </p:txBody>
      </p:sp>
      <p:pic>
        <p:nvPicPr>
          <p:cNvPr id="4" name="Picture 2" descr="Duoc UC - Learn Chile">
            <a:extLst>
              <a:ext uri="{FF2B5EF4-FFF2-40B4-BE49-F238E27FC236}">
                <a16:creationId xmlns:a16="http://schemas.microsoft.com/office/drawing/2014/main" id="{5B369855-5D88-A096-E944-14562E0816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relationship between artificial intelligence and machine learning |  Electronics360">
            <a:extLst>
              <a:ext uri="{FF2B5EF4-FFF2-40B4-BE49-F238E27FC236}">
                <a16:creationId xmlns:a16="http://schemas.microsoft.com/office/drawing/2014/main" id="{5E0C51B1-FB72-3704-7AD2-A7CC5E333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1120" y="1699577"/>
            <a:ext cx="3945255" cy="3078797"/>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DB9B826B-DAC0-527E-A869-9B6B4285BD38}"/>
              </a:ext>
            </a:extLst>
          </p:cNvPr>
          <p:cNvSpPr txBox="1"/>
          <p:nvPr/>
        </p:nvSpPr>
        <p:spPr>
          <a:xfrm>
            <a:off x="1480820" y="5039975"/>
            <a:ext cx="8597900" cy="923330"/>
          </a:xfrm>
          <a:prstGeom prst="rect">
            <a:avLst/>
          </a:prstGeom>
          <a:noFill/>
        </p:spPr>
        <p:txBody>
          <a:bodyPr wrap="square">
            <a:spAutoFit/>
          </a:bodyPr>
          <a:lstStyle/>
          <a:p>
            <a:pPr algn="ctr"/>
            <a:r>
              <a:rPr lang="en-US" b="0" i="0" dirty="0">
                <a:solidFill>
                  <a:srgbClr val="161616"/>
                </a:solidFill>
                <a:effectLst/>
                <a:latin typeface="IBM Plex Sans" panose="020F0502020204030204" pitchFamily="34" charset="0"/>
              </a:rPr>
              <a:t>Artificial intelligence (AI) is technology that enables computers and machines to simulate human learning, comprehension, problem solving, decision making, creativity and autonomy</a:t>
            </a:r>
            <a:endParaRPr lang="es-CL" dirty="0"/>
          </a:p>
        </p:txBody>
      </p:sp>
      <p:sp>
        <p:nvSpPr>
          <p:cNvPr id="8" name="CuadroTexto 7">
            <a:extLst>
              <a:ext uri="{FF2B5EF4-FFF2-40B4-BE49-F238E27FC236}">
                <a16:creationId xmlns:a16="http://schemas.microsoft.com/office/drawing/2014/main" id="{93511571-CCF3-213E-3075-401CBC5B5ACE}"/>
              </a:ext>
            </a:extLst>
          </p:cNvPr>
          <p:cNvSpPr txBox="1"/>
          <p:nvPr/>
        </p:nvSpPr>
        <p:spPr>
          <a:xfrm>
            <a:off x="3660140" y="6030377"/>
            <a:ext cx="6253480" cy="307777"/>
          </a:xfrm>
          <a:prstGeom prst="rect">
            <a:avLst/>
          </a:prstGeom>
          <a:noFill/>
        </p:spPr>
        <p:txBody>
          <a:bodyPr wrap="square">
            <a:spAutoFit/>
          </a:bodyPr>
          <a:lstStyle/>
          <a:p>
            <a:r>
              <a:rPr lang="es-CL" sz="1400" i="1" dirty="0"/>
              <a:t>https://www.ibm.com/think/topics/artificial-intelligence</a:t>
            </a:r>
          </a:p>
        </p:txBody>
      </p:sp>
      <p:sp>
        <p:nvSpPr>
          <p:cNvPr id="9" name="Título 1">
            <a:extLst>
              <a:ext uri="{FF2B5EF4-FFF2-40B4-BE49-F238E27FC236}">
                <a16:creationId xmlns:a16="http://schemas.microsoft.com/office/drawing/2014/main" id="{3F9F27F4-4E7B-98C9-2324-595040EE2D81}"/>
              </a:ext>
            </a:extLst>
          </p:cNvPr>
          <p:cNvSpPr txBox="1">
            <a:spLocks/>
          </p:cNvSpPr>
          <p:nvPr/>
        </p:nvSpPr>
        <p:spPr>
          <a:xfrm>
            <a:off x="697271" y="1945528"/>
            <a:ext cx="10797458" cy="23114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u="sng" dirty="0">
                <a:solidFill>
                  <a:srgbClr val="C00000"/>
                </a:solidFill>
              </a:rPr>
              <a:t>REPASO</a:t>
            </a:r>
            <a:endParaRPr lang="es-CL" b="1" i="1" u="sng" dirty="0">
              <a:solidFill>
                <a:srgbClr val="C00000"/>
              </a:solidFill>
            </a:endParaRPr>
          </a:p>
        </p:txBody>
      </p:sp>
    </p:spTree>
    <p:extLst>
      <p:ext uri="{BB962C8B-B14F-4D97-AF65-F5344CB8AC3E}">
        <p14:creationId xmlns:p14="http://schemas.microsoft.com/office/powerpoint/2010/main" val="562406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70D7D-4D83-59AA-E282-5181C14B5C9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A14483-1923-9F56-E32E-89BC21862939}"/>
              </a:ext>
            </a:extLst>
          </p:cNvPr>
          <p:cNvSpPr>
            <a:spLocks noGrp="1"/>
          </p:cNvSpPr>
          <p:nvPr>
            <p:ph type="title"/>
          </p:nvPr>
        </p:nvSpPr>
        <p:spPr>
          <a:xfrm>
            <a:off x="1638382" y="178913"/>
            <a:ext cx="10797458" cy="1577458"/>
          </a:xfrm>
        </p:spPr>
        <p:txBody>
          <a:bodyPr>
            <a:normAutofit/>
          </a:bodyPr>
          <a:lstStyle/>
          <a:p>
            <a:r>
              <a:rPr lang="es-MX" b="1" i="1" dirty="0"/>
              <a:t>¿Cuál arquitectura es más escalable?</a:t>
            </a:r>
            <a:endParaRPr lang="es-CL" b="1" i="1" dirty="0"/>
          </a:p>
        </p:txBody>
      </p:sp>
      <p:pic>
        <p:nvPicPr>
          <p:cNvPr id="4" name="Picture 2" descr="Duoc UC - Learn Chile">
            <a:extLst>
              <a:ext uri="{FF2B5EF4-FFF2-40B4-BE49-F238E27FC236}">
                <a16:creationId xmlns:a16="http://schemas.microsoft.com/office/drawing/2014/main" id="{DAD59B28-48FC-CD5F-ADD0-0D6E9F48E5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LangGraph: Multi-Agent Workflows">
            <a:extLst>
              <a:ext uri="{FF2B5EF4-FFF2-40B4-BE49-F238E27FC236}">
                <a16:creationId xmlns:a16="http://schemas.microsoft.com/office/drawing/2014/main" id="{E47422B3-862A-198D-40F8-8313EB4F38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261" y="2131158"/>
            <a:ext cx="4840243" cy="290576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LangGraph: Multi-Agent Workflows">
            <a:extLst>
              <a:ext uri="{FF2B5EF4-FFF2-40B4-BE49-F238E27FC236}">
                <a16:creationId xmlns:a16="http://schemas.microsoft.com/office/drawing/2014/main" id="{CEB0E4BB-653F-A382-330B-C01DE8DB07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0496" y="2131158"/>
            <a:ext cx="4840243" cy="290576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25CBB765-FFE0-A00F-46AD-D622BB41CAD2}"/>
              </a:ext>
            </a:extLst>
          </p:cNvPr>
          <p:cNvSpPr txBox="1"/>
          <p:nvPr/>
        </p:nvSpPr>
        <p:spPr>
          <a:xfrm>
            <a:off x="455792" y="5260438"/>
            <a:ext cx="5082540" cy="1323439"/>
          </a:xfrm>
          <a:prstGeom prst="rect">
            <a:avLst/>
          </a:prstGeom>
          <a:noFill/>
        </p:spPr>
        <p:txBody>
          <a:bodyPr wrap="square">
            <a:spAutoFit/>
          </a:bodyPr>
          <a:lstStyle/>
          <a:p>
            <a:pPr algn="ctr"/>
            <a:r>
              <a:rPr lang="es-MX" sz="1600" dirty="0"/>
              <a:t>El agente supervisor decide a qué nodo dirigirse en función de las palabras proporcionadas por el usuario. Por ejemplo, si el usuario utiliza términos como "comprar", "compras", "comprarías" o similares, el supervisor selecciona el Agente A.</a:t>
            </a:r>
            <a:endParaRPr lang="es-CL" sz="1600" dirty="0"/>
          </a:p>
        </p:txBody>
      </p:sp>
      <p:sp>
        <p:nvSpPr>
          <p:cNvPr id="6" name="CuadroTexto 5">
            <a:extLst>
              <a:ext uri="{FF2B5EF4-FFF2-40B4-BE49-F238E27FC236}">
                <a16:creationId xmlns:a16="http://schemas.microsoft.com/office/drawing/2014/main" id="{833EDAB3-1048-AC13-34C0-CDFCE6F51E21}"/>
              </a:ext>
            </a:extLst>
          </p:cNvPr>
          <p:cNvSpPr txBox="1"/>
          <p:nvPr/>
        </p:nvSpPr>
        <p:spPr>
          <a:xfrm>
            <a:off x="6500496" y="5260438"/>
            <a:ext cx="5082540" cy="830997"/>
          </a:xfrm>
          <a:prstGeom prst="rect">
            <a:avLst/>
          </a:prstGeom>
          <a:noFill/>
        </p:spPr>
        <p:txBody>
          <a:bodyPr wrap="square">
            <a:spAutoFit/>
          </a:bodyPr>
          <a:lstStyle/>
          <a:p>
            <a:pPr algn="ctr"/>
            <a:r>
              <a:rPr lang="es-MX" sz="1600" dirty="0"/>
              <a:t>El agente supervisor invoca a un LLM, que en base a un </a:t>
            </a:r>
            <a:r>
              <a:rPr lang="es-MX" sz="1600" dirty="0" err="1"/>
              <a:t>prompt</a:t>
            </a:r>
            <a:r>
              <a:rPr lang="es-MX" sz="1600" dirty="0"/>
              <a:t> de sistema, y una instrucción clara, decide a que agente debe llamar en cada momento.</a:t>
            </a:r>
            <a:endParaRPr lang="es-CL" sz="1600" dirty="0"/>
          </a:p>
        </p:txBody>
      </p:sp>
      <p:sp>
        <p:nvSpPr>
          <p:cNvPr id="7" name="CuadroTexto 6">
            <a:extLst>
              <a:ext uri="{FF2B5EF4-FFF2-40B4-BE49-F238E27FC236}">
                <a16:creationId xmlns:a16="http://schemas.microsoft.com/office/drawing/2014/main" id="{1C54D722-BDF8-EA53-4C97-21F1F5B14EEF}"/>
              </a:ext>
            </a:extLst>
          </p:cNvPr>
          <p:cNvSpPr txBox="1"/>
          <p:nvPr/>
        </p:nvSpPr>
        <p:spPr>
          <a:xfrm>
            <a:off x="-1130480" y="1607938"/>
            <a:ext cx="8597900" cy="523220"/>
          </a:xfrm>
          <a:prstGeom prst="rect">
            <a:avLst/>
          </a:prstGeom>
          <a:noFill/>
        </p:spPr>
        <p:txBody>
          <a:bodyPr wrap="square">
            <a:spAutoFit/>
          </a:bodyPr>
          <a:lstStyle/>
          <a:p>
            <a:pPr algn="ctr"/>
            <a:r>
              <a:rPr lang="en-US" sz="2800" b="1" i="1" dirty="0">
                <a:solidFill>
                  <a:srgbClr val="161616"/>
                </a:solidFill>
                <a:effectLst/>
                <a:latin typeface="IBM Plex Sans" panose="020F0502020204030204" pitchFamily="34" charset="0"/>
              </a:rPr>
              <a:t>Plan A</a:t>
            </a:r>
            <a:endParaRPr lang="es-CL" sz="2800" b="1" i="1" dirty="0"/>
          </a:p>
        </p:txBody>
      </p:sp>
      <p:sp>
        <p:nvSpPr>
          <p:cNvPr id="8" name="CuadroTexto 7">
            <a:extLst>
              <a:ext uri="{FF2B5EF4-FFF2-40B4-BE49-F238E27FC236}">
                <a16:creationId xmlns:a16="http://schemas.microsoft.com/office/drawing/2014/main" id="{29B2FD3D-E882-5BB8-36AC-C5E650659F98}"/>
              </a:ext>
            </a:extLst>
          </p:cNvPr>
          <p:cNvSpPr txBox="1"/>
          <p:nvPr/>
        </p:nvSpPr>
        <p:spPr>
          <a:xfrm>
            <a:off x="4427040" y="1530317"/>
            <a:ext cx="8597900" cy="523220"/>
          </a:xfrm>
          <a:prstGeom prst="rect">
            <a:avLst/>
          </a:prstGeom>
          <a:noFill/>
        </p:spPr>
        <p:txBody>
          <a:bodyPr wrap="square">
            <a:spAutoFit/>
          </a:bodyPr>
          <a:lstStyle/>
          <a:p>
            <a:pPr algn="ctr"/>
            <a:r>
              <a:rPr lang="en-US" sz="2800" b="1" i="1" dirty="0">
                <a:solidFill>
                  <a:srgbClr val="161616"/>
                </a:solidFill>
                <a:effectLst/>
                <a:latin typeface="IBM Plex Sans" panose="020F0502020204030204" pitchFamily="34" charset="0"/>
              </a:rPr>
              <a:t>Plan B</a:t>
            </a:r>
            <a:endParaRPr lang="es-CL" sz="2800" b="1" i="1" dirty="0"/>
          </a:p>
        </p:txBody>
      </p:sp>
      <p:sp>
        <p:nvSpPr>
          <p:cNvPr id="9" name="Título 1">
            <a:extLst>
              <a:ext uri="{FF2B5EF4-FFF2-40B4-BE49-F238E27FC236}">
                <a16:creationId xmlns:a16="http://schemas.microsoft.com/office/drawing/2014/main" id="{54806FD4-E830-CF9F-9C8E-9ACD00767D4B}"/>
              </a:ext>
            </a:extLst>
          </p:cNvPr>
          <p:cNvSpPr txBox="1">
            <a:spLocks/>
          </p:cNvSpPr>
          <p:nvPr/>
        </p:nvSpPr>
        <p:spPr>
          <a:xfrm>
            <a:off x="4857349" y="1530317"/>
            <a:ext cx="10797458" cy="23114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u="sng" dirty="0">
                <a:solidFill>
                  <a:srgbClr val="C00000"/>
                </a:solidFill>
              </a:rPr>
              <a:t>REPASO</a:t>
            </a:r>
            <a:endParaRPr lang="es-CL" b="1" i="1" u="sng" dirty="0">
              <a:solidFill>
                <a:srgbClr val="C00000"/>
              </a:solidFill>
            </a:endParaRPr>
          </a:p>
        </p:txBody>
      </p:sp>
    </p:spTree>
    <p:extLst>
      <p:ext uri="{BB962C8B-B14F-4D97-AF65-F5344CB8AC3E}">
        <p14:creationId xmlns:p14="http://schemas.microsoft.com/office/powerpoint/2010/main" val="2191141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E0BEC-9FFD-4FB0-3F4D-C2A5E32DC6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3E4F395-E937-F30E-C713-9A4DF63BE0EC}"/>
              </a:ext>
            </a:extLst>
          </p:cNvPr>
          <p:cNvSpPr>
            <a:spLocks noGrp="1"/>
          </p:cNvSpPr>
          <p:nvPr>
            <p:ph type="title"/>
          </p:nvPr>
        </p:nvSpPr>
        <p:spPr>
          <a:xfrm>
            <a:off x="987763" y="269132"/>
            <a:ext cx="11882713" cy="1577458"/>
          </a:xfrm>
        </p:spPr>
        <p:txBody>
          <a:bodyPr>
            <a:normAutofit/>
          </a:bodyPr>
          <a:lstStyle/>
          <a:p>
            <a:r>
              <a:rPr lang="es-MX" sz="3600" b="1" i="1" dirty="0"/>
              <a:t>¿Cómo se escribe un </a:t>
            </a:r>
            <a:r>
              <a:rPr lang="es-MX" sz="3600" b="1" i="1" dirty="0" err="1"/>
              <a:t>endpoint</a:t>
            </a:r>
            <a:r>
              <a:rPr lang="es-MX" sz="3600" b="1" i="1" dirty="0"/>
              <a:t> (API) correctamente?</a:t>
            </a:r>
            <a:endParaRPr lang="es-CL" sz="3600" b="1" i="1" dirty="0"/>
          </a:p>
        </p:txBody>
      </p:sp>
      <p:pic>
        <p:nvPicPr>
          <p:cNvPr id="4" name="Picture 2" descr="Duoc UC - Learn Chile">
            <a:extLst>
              <a:ext uri="{FF2B5EF4-FFF2-40B4-BE49-F238E27FC236}">
                <a16:creationId xmlns:a16="http://schemas.microsoft.com/office/drawing/2014/main" id="{0BCED637-4A7E-A42D-F487-41ED2F0473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029378CF-9F10-55CA-EE8B-A96782A31BCC}"/>
              </a:ext>
            </a:extLst>
          </p:cNvPr>
          <p:cNvPicPr>
            <a:picLocks noChangeAspect="1"/>
          </p:cNvPicPr>
          <p:nvPr/>
        </p:nvPicPr>
        <p:blipFill>
          <a:blip r:embed="rId3"/>
          <a:stretch>
            <a:fillRect/>
          </a:stretch>
        </p:blipFill>
        <p:spPr>
          <a:xfrm>
            <a:off x="319860" y="1650871"/>
            <a:ext cx="5969141" cy="4640074"/>
          </a:xfrm>
          <a:prstGeom prst="rect">
            <a:avLst/>
          </a:prstGeom>
        </p:spPr>
      </p:pic>
      <p:pic>
        <p:nvPicPr>
          <p:cNvPr id="12" name="Imagen 11">
            <a:extLst>
              <a:ext uri="{FF2B5EF4-FFF2-40B4-BE49-F238E27FC236}">
                <a16:creationId xmlns:a16="http://schemas.microsoft.com/office/drawing/2014/main" id="{1B135764-EE8F-8EEF-219C-80A21FE02B81}"/>
              </a:ext>
            </a:extLst>
          </p:cNvPr>
          <p:cNvPicPr>
            <a:picLocks noChangeAspect="1"/>
          </p:cNvPicPr>
          <p:nvPr/>
        </p:nvPicPr>
        <p:blipFill>
          <a:blip r:embed="rId4"/>
          <a:stretch>
            <a:fillRect/>
          </a:stretch>
        </p:blipFill>
        <p:spPr>
          <a:xfrm>
            <a:off x="5992138" y="1259840"/>
            <a:ext cx="5880002" cy="5212080"/>
          </a:xfrm>
          <a:prstGeom prst="rect">
            <a:avLst/>
          </a:prstGeom>
        </p:spPr>
      </p:pic>
      <p:sp>
        <p:nvSpPr>
          <p:cNvPr id="13" name="Título 1">
            <a:extLst>
              <a:ext uri="{FF2B5EF4-FFF2-40B4-BE49-F238E27FC236}">
                <a16:creationId xmlns:a16="http://schemas.microsoft.com/office/drawing/2014/main" id="{ADD82E6B-3060-8406-71BC-91192ABBE9CF}"/>
              </a:ext>
            </a:extLst>
          </p:cNvPr>
          <p:cNvSpPr txBox="1">
            <a:spLocks/>
          </p:cNvSpPr>
          <p:nvPr/>
        </p:nvSpPr>
        <p:spPr>
          <a:xfrm>
            <a:off x="4649511" y="-665592"/>
            <a:ext cx="10797458" cy="23114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u="sng" dirty="0">
                <a:solidFill>
                  <a:srgbClr val="C00000"/>
                </a:solidFill>
              </a:rPr>
              <a:t>REPASO</a:t>
            </a:r>
            <a:endParaRPr lang="es-CL" b="1" i="1" u="sng" dirty="0">
              <a:solidFill>
                <a:srgbClr val="C00000"/>
              </a:solidFill>
            </a:endParaRPr>
          </a:p>
        </p:txBody>
      </p:sp>
    </p:spTree>
    <p:extLst>
      <p:ext uri="{BB962C8B-B14F-4D97-AF65-F5344CB8AC3E}">
        <p14:creationId xmlns:p14="http://schemas.microsoft.com/office/powerpoint/2010/main" val="1261530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55ACB-8F4C-5F73-DA71-2C3006AAFE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B57A8E-0D2B-FD8A-F705-C6AEAF65FBBE}"/>
              </a:ext>
            </a:extLst>
          </p:cNvPr>
          <p:cNvSpPr>
            <a:spLocks noGrp="1"/>
          </p:cNvSpPr>
          <p:nvPr>
            <p:ph type="title"/>
          </p:nvPr>
        </p:nvSpPr>
        <p:spPr>
          <a:xfrm>
            <a:off x="695367" y="0"/>
            <a:ext cx="11882713" cy="1577458"/>
          </a:xfrm>
        </p:spPr>
        <p:txBody>
          <a:bodyPr>
            <a:normAutofit/>
          </a:bodyPr>
          <a:lstStyle/>
          <a:p>
            <a:r>
              <a:rPr lang="es-MX" sz="3200" b="1" i="1" dirty="0"/>
              <a:t>Escalabilidad de un sistema: </a:t>
            </a:r>
            <a:r>
              <a:rPr lang="es-MX" sz="3200" i="1" dirty="0"/>
              <a:t>Mas maquinas o mas potencia</a:t>
            </a:r>
            <a:r>
              <a:rPr lang="es-MX" sz="3600" i="1" dirty="0"/>
              <a:t>.</a:t>
            </a:r>
            <a:endParaRPr lang="es-CL" sz="3600" i="1" dirty="0"/>
          </a:p>
        </p:txBody>
      </p:sp>
      <p:pic>
        <p:nvPicPr>
          <p:cNvPr id="4" name="Picture 2" descr="Duoc UC - Learn Chile">
            <a:extLst>
              <a:ext uri="{FF2B5EF4-FFF2-40B4-BE49-F238E27FC236}">
                <a16:creationId xmlns:a16="http://schemas.microsoft.com/office/drawing/2014/main" id="{CB2BF429-E19C-2CA3-71B3-3DCA252BAC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9F1948B0-846E-BFD8-796A-C8F8B629A879}"/>
              </a:ext>
            </a:extLst>
          </p:cNvPr>
          <p:cNvPicPr>
            <a:picLocks noChangeAspect="1"/>
          </p:cNvPicPr>
          <p:nvPr/>
        </p:nvPicPr>
        <p:blipFill>
          <a:blip r:embed="rId3"/>
          <a:stretch>
            <a:fillRect/>
          </a:stretch>
        </p:blipFill>
        <p:spPr>
          <a:xfrm>
            <a:off x="1114329" y="1252847"/>
            <a:ext cx="9800781" cy="5210330"/>
          </a:xfrm>
          <a:prstGeom prst="rect">
            <a:avLst/>
          </a:prstGeom>
        </p:spPr>
      </p:pic>
    </p:spTree>
    <p:extLst>
      <p:ext uri="{BB962C8B-B14F-4D97-AF65-F5344CB8AC3E}">
        <p14:creationId xmlns:p14="http://schemas.microsoft.com/office/powerpoint/2010/main" val="367298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55B7D-85AB-D9AE-16B0-ECA54207CD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3219B4-8013-9725-8006-7C5EC0F2ED1D}"/>
              </a:ext>
            </a:extLst>
          </p:cNvPr>
          <p:cNvSpPr>
            <a:spLocks noGrp="1"/>
          </p:cNvSpPr>
          <p:nvPr>
            <p:ph type="title"/>
          </p:nvPr>
        </p:nvSpPr>
        <p:spPr>
          <a:xfrm>
            <a:off x="695367" y="0"/>
            <a:ext cx="11882713" cy="1577458"/>
          </a:xfrm>
        </p:spPr>
        <p:txBody>
          <a:bodyPr>
            <a:normAutofit/>
          </a:bodyPr>
          <a:lstStyle/>
          <a:p>
            <a:r>
              <a:rPr lang="es-MX" sz="3200" b="1" i="1" dirty="0"/>
              <a:t>Ejemplos: </a:t>
            </a:r>
            <a:r>
              <a:rPr lang="es-MX" sz="3200" i="1" dirty="0"/>
              <a:t>Un </a:t>
            </a:r>
            <a:r>
              <a:rPr lang="es-MX" sz="3200" i="1" dirty="0" err="1"/>
              <a:t>start</a:t>
            </a:r>
            <a:r>
              <a:rPr lang="es-MX" sz="3200" i="1" dirty="0"/>
              <a:t>-up, con pocos usuarios, suele ser monolito.</a:t>
            </a:r>
            <a:endParaRPr lang="es-CL" sz="3600" i="1" dirty="0"/>
          </a:p>
        </p:txBody>
      </p:sp>
      <p:pic>
        <p:nvPicPr>
          <p:cNvPr id="4" name="Picture 2" descr="Duoc UC - Learn Chile">
            <a:extLst>
              <a:ext uri="{FF2B5EF4-FFF2-40B4-BE49-F238E27FC236}">
                <a16:creationId xmlns:a16="http://schemas.microsoft.com/office/drawing/2014/main" id="{7CAA7FDD-B0A0-ED5C-A7B6-05A2987BE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90D24455-CE9D-7209-0D88-1E0F725401CC}"/>
              </a:ext>
            </a:extLst>
          </p:cNvPr>
          <p:cNvPicPr>
            <a:picLocks noChangeAspect="1"/>
          </p:cNvPicPr>
          <p:nvPr/>
        </p:nvPicPr>
        <p:blipFill>
          <a:blip r:embed="rId3"/>
          <a:stretch>
            <a:fillRect/>
          </a:stretch>
        </p:blipFill>
        <p:spPr>
          <a:xfrm>
            <a:off x="1111291" y="1266726"/>
            <a:ext cx="9969417" cy="5103594"/>
          </a:xfrm>
          <a:prstGeom prst="rect">
            <a:avLst/>
          </a:prstGeom>
        </p:spPr>
      </p:pic>
    </p:spTree>
    <p:extLst>
      <p:ext uri="{BB962C8B-B14F-4D97-AF65-F5344CB8AC3E}">
        <p14:creationId xmlns:p14="http://schemas.microsoft.com/office/powerpoint/2010/main" val="2442738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DBDCC-84CE-FB42-129F-5A5CAC8CC2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7BF9F08-C02C-DAFC-5035-6B460420C205}"/>
              </a:ext>
            </a:extLst>
          </p:cNvPr>
          <p:cNvSpPr>
            <a:spLocks noGrp="1"/>
          </p:cNvSpPr>
          <p:nvPr>
            <p:ph type="title"/>
          </p:nvPr>
        </p:nvSpPr>
        <p:spPr>
          <a:xfrm>
            <a:off x="695367" y="0"/>
            <a:ext cx="11882713" cy="1577458"/>
          </a:xfrm>
        </p:spPr>
        <p:txBody>
          <a:bodyPr>
            <a:normAutofit/>
          </a:bodyPr>
          <a:lstStyle/>
          <a:p>
            <a:r>
              <a:rPr lang="es-MX" sz="3200" b="1" i="1" dirty="0"/>
              <a:t>¿Cuánto moverse?: </a:t>
            </a:r>
            <a:r>
              <a:rPr lang="es-MX" sz="3200" i="1" dirty="0"/>
              <a:t>Suele ser una decisión económica</a:t>
            </a:r>
            <a:r>
              <a:rPr lang="es-MX" sz="3200" b="1" i="1" dirty="0"/>
              <a:t>.</a:t>
            </a:r>
            <a:endParaRPr lang="es-CL" sz="3600" i="1" dirty="0"/>
          </a:p>
        </p:txBody>
      </p:sp>
      <p:pic>
        <p:nvPicPr>
          <p:cNvPr id="4" name="Picture 2" descr="Duoc UC - Learn Chile">
            <a:extLst>
              <a:ext uri="{FF2B5EF4-FFF2-40B4-BE49-F238E27FC236}">
                <a16:creationId xmlns:a16="http://schemas.microsoft.com/office/drawing/2014/main" id="{B7EABA84-DB2E-DBB4-12F5-FE71AF49B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5007F36D-6F2D-DFA4-EFDD-27BA71552C50}"/>
              </a:ext>
            </a:extLst>
          </p:cNvPr>
          <p:cNvPicPr>
            <a:picLocks noChangeAspect="1"/>
          </p:cNvPicPr>
          <p:nvPr/>
        </p:nvPicPr>
        <p:blipFill>
          <a:blip r:embed="rId3"/>
          <a:stretch>
            <a:fillRect/>
          </a:stretch>
        </p:blipFill>
        <p:spPr>
          <a:xfrm>
            <a:off x="1135175" y="1302909"/>
            <a:ext cx="9065315" cy="4894691"/>
          </a:xfrm>
          <a:prstGeom prst="rect">
            <a:avLst/>
          </a:prstGeom>
        </p:spPr>
      </p:pic>
    </p:spTree>
    <p:extLst>
      <p:ext uri="{BB962C8B-B14F-4D97-AF65-F5344CB8AC3E}">
        <p14:creationId xmlns:p14="http://schemas.microsoft.com/office/powerpoint/2010/main" val="3172291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210B6-7B08-15BC-40E5-1A3159A913A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636502-371F-4A34-DE6C-E7606001850B}"/>
              </a:ext>
            </a:extLst>
          </p:cNvPr>
          <p:cNvSpPr>
            <a:spLocks noGrp="1"/>
          </p:cNvSpPr>
          <p:nvPr>
            <p:ph type="title"/>
          </p:nvPr>
        </p:nvSpPr>
        <p:spPr>
          <a:xfrm>
            <a:off x="335833" y="67153"/>
            <a:ext cx="10846393" cy="1577458"/>
          </a:xfrm>
        </p:spPr>
        <p:txBody>
          <a:bodyPr>
            <a:normAutofit/>
          </a:bodyPr>
          <a:lstStyle/>
          <a:p>
            <a:r>
              <a:rPr lang="es-MX" sz="3200" b="1" i="1" dirty="0" err="1"/>
              <a:t>Kubernetes</a:t>
            </a:r>
            <a:r>
              <a:rPr lang="es-MX" sz="3200" b="1" i="1" dirty="0"/>
              <a:t>: </a:t>
            </a:r>
            <a:r>
              <a:rPr lang="es-MX" sz="3200" i="1" dirty="0"/>
              <a:t>La solución escalable que soluciona cualquier tipo de problema de conexión entre </a:t>
            </a:r>
            <a:r>
              <a:rPr lang="es-MX" sz="3200" i="1" dirty="0" err="1"/>
              <a:t>VMs</a:t>
            </a:r>
            <a:r>
              <a:rPr lang="es-MX" sz="3200" i="1" dirty="0"/>
              <a:t>.</a:t>
            </a:r>
            <a:endParaRPr lang="es-CL" sz="3600" i="1" dirty="0"/>
          </a:p>
        </p:txBody>
      </p:sp>
      <p:pic>
        <p:nvPicPr>
          <p:cNvPr id="4" name="Picture 2" descr="Duoc UC - Learn Chile">
            <a:extLst>
              <a:ext uri="{FF2B5EF4-FFF2-40B4-BE49-F238E27FC236}">
                <a16:creationId xmlns:a16="http://schemas.microsoft.com/office/drawing/2014/main" id="{263B9E2B-1CC5-D0F4-ED14-63DA5CBD2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0F9C0127-6B2D-B14B-EFB5-4E6221E5F4F3}"/>
              </a:ext>
            </a:extLst>
          </p:cNvPr>
          <p:cNvPicPr>
            <a:picLocks noChangeAspect="1"/>
          </p:cNvPicPr>
          <p:nvPr/>
        </p:nvPicPr>
        <p:blipFill>
          <a:blip r:embed="rId3"/>
          <a:stretch>
            <a:fillRect/>
          </a:stretch>
        </p:blipFill>
        <p:spPr>
          <a:xfrm>
            <a:off x="829740" y="1267919"/>
            <a:ext cx="9858580" cy="4972703"/>
          </a:xfrm>
          <a:prstGeom prst="rect">
            <a:avLst/>
          </a:prstGeom>
        </p:spPr>
      </p:pic>
      <p:sp>
        <p:nvSpPr>
          <p:cNvPr id="7" name="CuadroTexto 6">
            <a:extLst>
              <a:ext uri="{FF2B5EF4-FFF2-40B4-BE49-F238E27FC236}">
                <a16:creationId xmlns:a16="http://schemas.microsoft.com/office/drawing/2014/main" id="{87DBBC29-A4F4-FB79-EF6A-8E36167D842B}"/>
              </a:ext>
            </a:extLst>
          </p:cNvPr>
          <p:cNvSpPr txBox="1"/>
          <p:nvPr/>
        </p:nvSpPr>
        <p:spPr>
          <a:xfrm>
            <a:off x="635826" y="5959850"/>
            <a:ext cx="10726434" cy="830997"/>
          </a:xfrm>
          <a:prstGeom prst="rect">
            <a:avLst/>
          </a:prstGeom>
          <a:noFill/>
        </p:spPr>
        <p:txBody>
          <a:bodyPr wrap="square">
            <a:spAutoFit/>
          </a:bodyPr>
          <a:lstStyle/>
          <a:p>
            <a:pPr algn="ctr"/>
            <a:r>
              <a:rPr lang="es-MX" sz="1600" i="1" dirty="0"/>
              <a:t>Este ramo no es sobre </a:t>
            </a:r>
            <a:r>
              <a:rPr lang="es-MX" sz="1600" i="1" dirty="0" err="1"/>
              <a:t>Kubernetes</a:t>
            </a:r>
            <a:r>
              <a:rPr lang="es-MX" sz="1600" i="1" dirty="0"/>
              <a:t>. No es complicado configurarlo, ya que hoy en día, con GCP, es bastante fácil montar estos servicios, el problema es el costos, y que aplica solo a empresas que tienen un flujo de información alta, no a pequeñas empresas.</a:t>
            </a:r>
            <a:endParaRPr lang="es-CL" sz="1600" i="1" dirty="0"/>
          </a:p>
        </p:txBody>
      </p:sp>
    </p:spTree>
    <p:extLst>
      <p:ext uri="{BB962C8B-B14F-4D97-AF65-F5344CB8AC3E}">
        <p14:creationId xmlns:p14="http://schemas.microsoft.com/office/powerpoint/2010/main" val="195272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9BDF3-DC2C-F255-B374-22972D2708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5CAD86-B9EF-2F69-D4F5-4779B37157DC}"/>
              </a:ext>
            </a:extLst>
          </p:cNvPr>
          <p:cNvSpPr>
            <a:spLocks noGrp="1"/>
          </p:cNvSpPr>
          <p:nvPr>
            <p:ph type="title"/>
          </p:nvPr>
        </p:nvSpPr>
        <p:spPr>
          <a:xfrm>
            <a:off x="335833" y="67153"/>
            <a:ext cx="10846393" cy="1577458"/>
          </a:xfrm>
        </p:spPr>
        <p:txBody>
          <a:bodyPr>
            <a:normAutofit/>
          </a:bodyPr>
          <a:lstStyle/>
          <a:p>
            <a:r>
              <a:rPr lang="es-MX" sz="3200" b="1" i="1" dirty="0"/>
              <a:t>Optimización por inferencia de servicio: </a:t>
            </a:r>
            <a:r>
              <a:rPr lang="es-MX" sz="3200" i="1" dirty="0"/>
              <a:t>GPU más eficiente.</a:t>
            </a:r>
            <a:endParaRPr lang="es-CL" sz="3200" i="1" dirty="0"/>
          </a:p>
        </p:txBody>
      </p:sp>
      <p:pic>
        <p:nvPicPr>
          <p:cNvPr id="4" name="Picture 2" descr="Duoc UC - Learn Chile">
            <a:extLst>
              <a:ext uri="{FF2B5EF4-FFF2-40B4-BE49-F238E27FC236}">
                <a16:creationId xmlns:a16="http://schemas.microsoft.com/office/drawing/2014/main" id="{7B4B2BC7-49B7-178A-924F-D81B8277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esquinas redondeadas 7">
            <a:extLst>
              <a:ext uri="{FF2B5EF4-FFF2-40B4-BE49-F238E27FC236}">
                <a16:creationId xmlns:a16="http://schemas.microsoft.com/office/drawing/2014/main" id="{A776A299-C7B6-EA83-504E-54FC5F199ED6}"/>
              </a:ext>
            </a:extLst>
          </p:cNvPr>
          <p:cNvSpPr/>
          <p:nvPr/>
        </p:nvSpPr>
        <p:spPr>
          <a:xfrm>
            <a:off x="5293360" y="3002647"/>
            <a:ext cx="914400" cy="344950"/>
          </a:xfrm>
          <a:prstGeom prst="roundRect">
            <a:avLst/>
          </a:prstGeom>
          <a:noFill/>
          <a:ln w="571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CL"/>
          </a:p>
        </p:txBody>
      </p:sp>
      <p:pic>
        <p:nvPicPr>
          <p:cNvPr id="13" name="Imagen 12">
            <a:extLst>
              <a:ext uri="{FF2B5EF4-FFF2-40B4-BE49-F238E27FC236}">
                <a16:creationId xmlns:a16="http://schemas.microsoft.com/office/drawing/2014/main" id="{AFFFBAF1-D6F3-DC32-F83D-0213EEE3141E}"/>
              </a:ext>
            </a:extLst>
          </p:cNvPr>
          <p:cNvPicPr>
            <a:picLocks noChangeAspect="1"/>
          </p:cNvPicPr>
          <p:nvPr/>
        </p:nvPicPr>
        <p:blipFill>
          <a:blip r:embed="rId4"/>
          <a:stretch>
            <a:fillRect/>
          </a:stretch>
        </p:blipFill>
        <p:spPr>
          <a:xfrm>
            <a:off x="817256" y="1375819"/>
            <a:ext cx="10557488" cy="4160587"/>
          </a:xfrm>
          <a:prstGeom prst="rect">
            <a:avLst/>
          </a:prstGeom>
        </p:spPr>
      </p:pic>
      <p:sp>
        <p:nvSpPr>
          <p:cNvPr id="14" name="CuadroTexto 13">
            <a:extLst>
              <a:ext uri="{FF2B5EF4-FFF2-40B4-BE49-F238E27FC236}">
                <a16:creationId xmlns:a16="http://schemas.microsoft.com/office/drawing/2014/main" id="{E45922AA-E5A1-9128-EA4E-DDED92FE110D}"/>
              </a:ext>
            </a:extLst>
          </p:cNvPr>
          <p:cNvSpPr txBox="1"/>
          <p:nvPr/>
        </p:nvSpPr>
        <p:spPr>
          <a:xfrm>
            <a:off x="648310" y="5947828"/>
            <a:ext cx="10726434" cy="707886"/>
          </a:xfrm>
          <a:prstGeom prst="rect">
            <a:avLst/>
          </a:prstGeom>
          <a:noFill/>
        </p:spPr>
        <p:txBody>
          <a:bodyPr wrap="square">
            <a:spAutoFit/>
          </a:bodyPr>
          <a:lstStyle/>
          <a:p>
            <a:pPr algn="ctr"/>
            <a:r>
              <a:rPr lang="es-MX" sz="2000" i="1" dirty="0" err="1"/>
              <a:t>Requests</a:t>
            </a:r>
            <a:r>
              <a:rPr lang="es-MX" sz="2000" i="1" dirty="0"/>
              <a:t> esperan como en un Bus en </a:t>
            </a:r>
            <a:r>
              <a:rPr lang="es-MX" sz="2000" b="1" i="1" dirty="0" err="1"/>
              <a:t>Static</a:t>
            </a:r>
            <a:r>
              <a:rPr lang="es-MX" sz="2000" b="1" i="1" dirty="0"/>
              <a:t> </a:t>
            </a:r>
            <a:r>
              <a:rPr lang="es-MX" sz="2000" b="1" i="1" dirty="0" err="1"/>
              <a:t>batching</a:t>
            </a:r>
            <a:r>
              <a:rPr lang="es-MX" sz="2000" i="1" dirty="0"/>
              <a:t>, y en </a:t>
            </a:r>
            <a:r>
              <a:rPr lang="es-MX" sz="2000" b="1" i="1" dirty="0"/>
              <a:t>Dynamic </a:t>
            </a:r>
            <a:r>
              <a:rPr lang="es-MX" sz="2000" b="1" i="1" dirty="0" err="1"/>
              <a:t>batching</a:t>
            </a:r>
            <a:r>
              <a:rPr lang="es-MX" sz="2000" i="1" dirty="0"/>
              <a:t>, esperan como en un bus, o hasta un cierto tiempo.</a:t>
            </a:r>
            <a:endParaRPr lang="es-CL" sz="2000" i="1" dirty="0"/>
          </a:p>
        </p:txBody>
      </p:sp>
    </p:spTree>
    <p:extLst>
      <p:ext uri="{BB962C8B-B14F-4D97-AF65-F5344CB8AC3E}">
        <p14:creationId xmlns:p14="http://schemas.microsoft.com/office/powerpoint/2010/main" val="3051198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BE6D9-B7E1-E08B-95E6-6DE0D78FB9C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58F70E-8DBA-398D-E16F-3B36EF69839E}"/>
              </a:ext>
            </a:extLst>
          </p:cNvPr>
          <p:cNvSpPr>
            <a:spLocks noGrp="1"/>
          </p:cNvSpPr>
          <p:nvPr>
            <p:ph type="title"/>
          </p:nvPr>
        </p:nvSpPr>
        <p:spPr>
          <a:xfrm>
            <a:off x="335833" y="67153"/>
            <a:ext cx="10846393" cy="1577458"/>
          </a:xfrm>
        </p:spPr>
        <p:txBody>
          <a:bodyPr>
            <a:normAutofit/>
          </a:bodyPr>
          <a:lstStyle/>
          <a:p>
            <a:r>
              <a:rPr lang="es-MX" sz="3200" b="1" i="1" dirty="0" err="1"/>
              <a:t>Prompt</a:t>
            </a:r>
            <a:r>
              <a:rPr lang="es-MX" sz="3200" b="1" i="1" dirty="0"/>
              <a:t> </a:t>
            </a:r>
            <a:r>
              <a:rPr lang="es-MX" sz="3200" b="1" i="1" dirty="0" err="1"/>
              <a:t>caching</a:t>
            </a:r>
            <a:r>
              <a:rPr lang="es-MX" sz="3200" b="1" i="1" dirty="0"/>
              <a:t>: </a:t>
            </a:r>
            <a:r>
              <a:rPr lang="es-MX" sz="3200" i="1" dirty="0"/>
              <a:t>No</a:t>
            </a:r>
            <a:r>
              <a:rPr lang="es-MX" sz="3200" b="1" i="1" dirty="0"/>
              <a:t> </a:t>
            </a:r>
            <a:r>
              <a:rPr lang="es-MX" sz="3200" i="1" dirty="0"/>
              <a:t>te repitas a ti mismo.</a:t>
            </a:r>
            <a:endParaRPr lang="es-CL" sz="3200" i="1" dirty="0"/>
          </a:p>
        </p:txBody>
      </p:sp>
      <p:pic>
        <p:nvPicPr>
          <p:cNvPr id="4" name="Picture 2" descr="Duoc UC - Learn Chile">
            <a:extLst>
              <a:ext uri="{FF2B5EF4-FFF2-40B4-BE49-F238E27FC236}">
                <a16:creationId xmlns:a16="http://schemas.microsoft.com/office/drawing/2014/main" id="{D5B3823E-A13C-24DE-4904-E8DD2A93A1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esquinas redondeadas 7">
            <a:extLst>
              <a:ext uri="{FF2B5EF4-FFF2-40B4-BE49-F238E27FC236}">
                <a16:creationId xmlns:a16="http://schemas.microsoft.com/office/drawing/2014/main" id="{55F843E6-3E7F-6949-6058-544F3DB0981C}"/>
              </a:ext>
            </a:extLst>
          </p:cNvPr>
          <p:cNvSpPr/>
          <p:nvPr/>
        </p:nvSpPr>
        <p:spPr>
          <a:xfrm>
            <a:off x="5293360" y="3002647"/>
            <a:ext cx="914400" cy="344950"/>
          </a:xfrm>
          <a:prstGeom prst="roundRect">
            <a:avLst/>
          </a:prstGeom>
          <a:noFill/>
          <a:ln w="571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CL"/>
          </a:p>
        </p:txBody>
      </p:sp>
      <p:sp>
        <p:nvSpPr>
          <p:cNvPr id="14" name="CuadroTexto 13">
            <a:extLst>
              <a:ext uri="{FF2B5EF4-FFF2-40B4-BE49-F238E27FC236}">
                <a16:creationId xmlns:a16="http://schemas.microsoft.com/office/drawing/2014/main" id="{EC8E2BAB-A89A-BBA4-F850-B8DEF1847F53}"/>
              </a:ext>
            </a:extLst>
          </p:cNvPr>
          <p:cNvSpPr txBox="1"/>
          <p:nvPr/>
        </p:nvSpPr>
        <p:spPr>
          <a:xfrm>
            <a:off x="648310" y="5631170"/>
            <a:ext cx="10726434" cy="707886"/>
          </a:xfrm>
          <a:prstGeom prst="rect">
            <a:avLst/>
          </a:prstGeom>
          <a:noFill/>
        </p:spPr>
        <p:txBody>
          <a:bodyPr wrap="square">
            <a:spAutoFit/>
          </a:bodyPr>
          <a:lstStyle/>
          <a:p>
            <a:pPr algn="ctr"/>
            <a:r>
              <a:rPr lang="es-MX" sz="2000" i="1" dirty="0" err="1"/>
              <a:t>Prompt</a:t>
            </a:r>
            <a:r>
              <a:rPr lang="es-MX" sz="2000" i="1" dirty="0"/>
              <a:t> </a:t>
            </a:r>
            <a:r>
              <a:rPr lang="es-MX" sz="2000" i="1" dirty="0" err="1"/>
              <a:t>caching</a:t>
            </a:r>
            <a:r>
              <a:rPr lang="es-MX" sz="2000" i="1" dirty="0"/>
              <a:t> esta disponible por los proveedores de </a:t>
            </a:r>
            <a:r>
              <a:rPr lang="es-MX" sz="2000" i="1" dirty="0" err="1"/>
              <a:t>APIs</a:t>
            </a:r>
            <a:r>
              <a:rPr lang="es-MX" sz="2000" i="1" dirty="0"/>
              <a:t> de </a:t>
            </a:r>
            <a:r>
              <a:rPr lang="es-MX" sz="2000" i="1" dirty="0" err="1"/>
              <a:t>LLMs</a:t>
            </a:r>
            <a:r>
              <a:rPr lang="es-MX" sz="2000" i="1" dirty="0"/>
              <a:t>, y es una buena forma de optimizar costos.</a:t>
            </a:r>
            <a:endParaRPr lang="es-CL" sz="2000" i="1" dirty="0"/>
          </a:p>
        </p:txBody>
      </p:sp>
      <p:pic>
        <p:nvPicPr>
          <p:cNvPr id="16" name="Imagen 15">
            <a:extLst>
              <a:ext uri="{FF2B5EF4-FFF2-40B4-BE49-F238E27FC236}">
                <a16:creationId xmlns:a16="http://schemas.microsoft.com/office/drawing/2014/main" id="{74BABB9B-8FAE-31B7-0858-9187EDF6FBE7}"/>
              </a:ext>
            </a:extLst>
          </p:cNvPr>
          <p:cNvPicPr>
            <a:picLocks noChangeAspect="1"/>
          </p:cNvPicPr>
          <p:nvPr/>
        </p:nvPicPr>
        <p:blipFill>
          <a:blip r:embed="rId4"/>
          <a:stretch>
            <a:fillRect/>
          </a:stretch>
        </p:blipFill>
        <p:spPr>
          <a:xfrm>
            <a:off x="335833" y="1574135"/>
            <a:ext cx="5496007" cy="3516688"/>
          </a:xfrm>
          <a:prstGeom prst="rect">
            <a:avLst/>
          </a:prstGeom>
        </p:spPr>
      </p:pic>
      <p:pic>
        <p:nvPicPr>
          <p:cNvPr id="18" name="Imagen 17">
            <a:extLst>
              <a:ext uri="{FF2B5EF4-FFF2-40B4-BE49-F238E27FC236}">
                <a16:creationId xmlns:a16="http://schemas.microsoft.com/office/drawing/2014/main" id="{A5B0319F-7E43-4476-C80F-EA94D19217F3}"/>
              </a:ext>
            </a:extLst>
          </p:cNvPr>
          <p:cNvPicPr>
            <a:picLocks noChangeAspect="1"/>
          </p:cNvPicPr>
          <p:nvPr/>
        </p:nvPicPr>
        <p:blipFill>
          <a:blip r:embed="rId5"/>
          <a:stretch>
            <a:fillRect/>
          </a:stretch>
        </p:blipFill>
        <p:spPr>
          <a:xfrm>
            <a:off x="5750560" y="1795700"/>
            <a:ext cx="5988358" cy="3375740"/>
          </a:xfrm>
          <a:prstGeom prst="rect">
            <a:avLst/>
          </a:prstGeom>
        </p:spPr>
      </p:pic>
    </p:spTree>
    <p:extLst>
      <p:ext uri="{BB962C8B-B14F-4D97-AF65-F5344CB8AC3E}">
        <p14:creationId xmlns:p14="http://schemas.microsoft.com/office/powerpoint/2010/main" val="848995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B9C1B-8EF6-B55A-EE5E-6D59A8FDE4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048FB6-76E1-6D98-9686-F75B09235F9E}"/>
              </a:ext>
            </a:extLst>
          </p:cNvPr>
          <p:cNvSpPr>
            <a:spLocks noGrp="1"/>
          </p:cNvSpPr>
          <p:nvPr>
            <p:ph type="title"/>
          </p:nvPr>
        </p:nvSpPr>
        <p:spPr>
          <a:xfrm>
            <a:off x="335833" y="67153"/>
            <a:ext cx="10846393" cy="1577458"/>
          </a:xfrm>
        </p:spPr>
        <p:txBody>
          <a:bodyPr>
            <a:normAutofit/>
          </a:bodyPr>
          <a:lstStyle/>
          <a:p>
            <a:r>
              <a:rPr lang="es-MX" sz="3200" b="1" i="1" dirty="0"/>
              <a:t>Oxford </a:t>
            </a:r>
            <a:r>
              <a:rPr lang="es-MX" sz="3200" b="1" i="1" dirty="0" err="1"/>
              <a:t>Tech</a:t>
            </a:r>
            <a:r>
              <a:rPr lang="es-MX" sz="3200" b="1" i="1" dirty="0"/>
              <a:t> </a:t>
            </a:r>
            <a:r>
              <a:rPr lang="es-MX" sz="3200" b="1" i="1" dirty="0" err="1"/>
              <a:t>Week</a:t>
            </a:r>
            <a:r>
              <a:rPr lang="es-MX" sz="3200" b="1" i="1" dirty="0"/>
              <a:t>: </a:t>
            </a:r>
            <a:r>
              <a:rPr lang="es-MX" sz="3200" i="1" dirty="0"/>
              <a:t> Agentes, </a:t>
            </a:r>
            <a:r>
              <a:rPr lang="es-MX" sz="3200" i="1" dirty="0" err="1"/>
              <a:t>Iot</a:t>
            </a:r>
            <a:r>
              <a:rPr lang="es-MX" sz="3200" i="1" dirty="0"/>
              <a:t> y personas.</a:t>
            </a:r>
            <a:endParaRPr lang="es-CL" sz="3200" i="1" dirty="0"/>
          </a:p>
        </p:txBody>
      </p:sp>
      <p:pic>
        <p:nvPicPr>
          <p:cNvPr id="4" name="Picture 2" descr="Duoc UC - Learn Chile">
            <a:extLst>
              <a:ext uri="{FF2B5EF4-FFF2-40B4-BE49-F238E27FC236}">
                <a16:creationId xmlns:a16="http://schemas.microsoft.com/office/drawing/2014/main" id="{8399B515-A3A5-91B5-F9FA-7557AB18BD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83DD6003-6302-F46F-DF2B-C2BE1F7FDA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0309" y="3836526"/>
            <a:ext cx="2893087" cy="2169815"/>
          </a:xfrm>
          <a:prstGeom prst="rect">
            <a:avLst/>
          </a:prstGeom>
        </p:spPr>
      </p:pic>
      <p:pic>
        <p:nvPicPr>
          <p:cNvPr id="7" name="Imagen 6">
            <a:extLst>
              <a:ext uri="{FF2B5EF4-FFF2-40B4-BE49-F238E27FC236}">
                <a16:creationId xmlns:a16="http://schemas.microsoft.com/office/drawing/2014/main" id="{D454C7CD-CFAA-CBA0-4F9A-2D86571EF0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06849" y="1355350"/>
            <a:ext cx="1460009" cy="2179975"/>
          </a:xfrm>
          <a:prstGeom prst="rect">
            <a:avLst/>
          </a:prstGeom>
        </p:spPr>
      </p:pic>
      <p:pic>
        <p:nvPicPr>
          <p:cNvPr id="10" name="Imagen 9">
            <a:extLst>
              <a:ext uri="{FF2B5EF4-FFF2-40B4-BE49-F238E27FC236}">
                <a16:creationId xmlns:a16="http://schemas.microsoft.com/office/drawing/2014/main" id="{8DDDEC37-FDE6-A2D5-2FF2-3A218D9AB9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43061" y="2119180"/>
            <a:ext cx="3492852" cy="2619639"/>
          </a:xfrm>
          <a:prstGeom prst="rect">
            <a:avLst/>
          </a:prstGeom>
        </p:spPr>
      </p:pic>
      <p:pic>
        <p:nvPicPr>
          <p:cNvPr id="12" name="Imagen 11">
            <a:extLst>
              <a:ext uri="{FF2B5EF4-FFF2-40B4-BE49-F238E27FC236}">
                <a16:creationId xmlns:a16="http://schemas.microsoft.com/office/drawing/2014/main" id="{824F5E2C-C6C7-3F2B-8A7E-0A29C2AFDDD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3884" y="1765438"/>
            <a:ext cx="3492852" cy="2619639"/>
          </a:xfrm>
          <a:prstGeom prst="rect">
            <a:avLst/>
          </a:prstGeom>
        </p:spPr>
      </p:pic>
    </p:spTree>
    <p:extLst>
      <p:ext uri="{BB962C8B-B14F-4D97-AF65-F5344CB8AC3E}">
        <p14:creationId xmlns:p14="http://schemas.microsoft.com/office/powerpoint/2010/main" val="177787538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3355</TotalTime>
  <Words>1687</Words>
  <Application>Microsoft Office PowerPoint</Application>
  <PresentationFormat>Panorámica</PresentationFormat>
  <Paragraphs>51</Paragraphs>
  <Slides>14</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Calibri</vt:lpstr>
      <vt:lpstr>Calibri Light</vt:lpstr>
      <vt:lpstr>IBM Plex Sans</vt:lpstr>
      <vt:lpstr>Tema de Office</vt:lpstr>
      <vt:lpstr>Ingeniería de soluciones con AI</vt:lpstr>
      <vt:lpstr>Noticias: Magnifica Humanitas, reacción del Papa sobre la AI.</vt:lpstr>
      <vt:lpstr>¿Cuál es la diferencia entre la inteligencia artificial que uso en visual studio code o el chatGPT  y el código de mi agente de la evaluación 2?</vt:lpstr>
      <vt:lpstr>¿Qué es un sistema multi-agente?</vt:lpstr>
      <vt:lpstr>¿Cuál es la diferencia entre AI y ML?</vt:lpstr>
      <vt:lpstr>¿Cuál arquitectura es más escalable?</vt:lpstr>
      <vt:lpstr>¿Cómo se escribe un endpoint (API) correctamente?</vt:lpstr>
      <vt:lpstr>Escalabilidad de un sistema: Mas maquinas o mas potencia.</vt:lpstr>
      <vt:lpstr>Ejemplos: Un start-up, con pocos usuarios, suele ser monolito.</vt:lpstr>
      <vt:lpstr>¿Cuánto moverse?: Suele ser una decisión económica.</vt:lpstr>
      <vt:lpstr>Kubernetes: La solución escalable que soluciona cualquier tipo de problema de conexión entre VMs.</vt:lpstr>
      <vt:lpstr>Optimización por inferencia de servicio: GPU más eficiente.</vt:lpstr>
      <vt:lpstr>Prompt caching: No te repitas a ti mismo.</vt:lpstr>
      <vt:lpstr>Oxford Tech Week:  Agentes, Iot y personas.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30</cp:revision>
  <dcterms:created xsi:type="dcterms:W3CDTF">2026-03-06T13:35:57Z</dcterms:created>
  <dcterms:modified xsi:type="dcterms:W3CDTF">2026-05-31T16:10:44Z</dcterms:modified>
</cp:coreProperties>
</file>