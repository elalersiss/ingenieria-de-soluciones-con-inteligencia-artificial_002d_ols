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2"/>
    <p:sldId id="329" r:id="rId3"/>
    <p:sldId id="330" r:id="rId4"/>
    <p:sldId id="331" r:id="rId5"/>
    <p:sldId id="332" r:id="rId6"/>
    <p:sldId id="333" r:id="rId7"/>
    <p:sldId id="334" r:id="rId8"/>
  </p:sldIdLst>
  <p:sldSz cx="12192000" cy="6858000"/>
  <p:notesSz cx="6858000" cy="9144000"/>
  <p:defaultTex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enovo" initials="L" lastIdx="1" clrIdx="0">
    <p:extLst>
      <p:ext uri="{19B8F6BF-5375-455C-9EA6-DF929625EA0E}">
        <p15:presenceInfo xmlns:p15="http://schemas.microsoft.com/office/powerpoint/2012/main" userId="Lenovo"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C2FFA5D-87B4-456A-9821-1D502468CF0F}" styleName="Estilo temático 1 - Énfasis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Estilo claro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375" autoAdjust="0"/>
    <p:restoredTop sz="92236" autoAdjust="0"/>
  </p:normalViewPr>
  <p:slideViewPr>
    <p:cSldViewPr snapToGrid="0">
      <p:cViewPr varScale="1">
        <p:scale>
          <a:sx n="62" d="100"/>
          <a:sy n="62" d="100"/>
        </p:scale>
        <p:origin x="892"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7BDCB0C-69E9-4911-980B-989A824EA717}" type="datetimeFigureOut">
              <a:rPr lang="es-CL" smtClean="0"/>
              <a:t>16-06-2026</a:t>
            </a:fld>
            <a:endParaRPr lang="es-C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07F482-7FF7-4DD4-AE91-ACA70D5B43D5}" type="slidenum">
              <a:rPr lang="es-CL" smtClean="0"/>
              <a:t>‹Nº›</a:t>
            </a:fld>
            <a:endParaRPr lang="es-CL"/>
          </a:p>
        </p:txBody>
      </p:sp>
    </p:spTree>
    <p:extLst>
      <p:ext uri="{BB962C8B-B14F-4D97-AF65-F5344CB8AC3E}">
        <p14:creationId xmlns:p14="http://schemas.microsoft.com/office/powerpoint/2010/main" val="22097968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arxiv.org/abs/1810.05270" TargetMode="External"/><Relationship Id="rId2" Type="http://schemas.openxmlformats.org/officeDocument/2006/relationships/slide" Target="../slides/slide2.xml"/><Relationship Id="rId1" Type="http://schemas.openxmlformats.org/officeDocument/2006/relationships/notesMaster" Target="../notesMasters/notesMaster1.xml"/><Relationship Id="rId5" Type="http://schemas.openxmlformats.org/officeDocument/2006/relationships/hyperlink" Target="https://oreil.ly/qwlHE" TargetMode="External"/><Relationship Id="rId4" Type="http://schemas.openxmlformats.org/officeDocument/2006/relationships/hyperlink" Target="https://arxiv.org/abs/1710.01878" TargetMode="Externa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arxiv.org/abs/1810.05270" TargetMode="External"/><Relationship Id="rId2" Type="http://schemas.openxmlformats.org/officeDocument/2006/relationships/slide" Target="../slides/slide3.xml"/><Relationship Id="rId1" Type="http://schemas.openxmlformats.org/officeDocument/2006/relationships/notesMaster" Target="../notesMasters/notesMaster1.xml"/><Relationship Id="rId5" Type="http://schemas.openxmlformats.org/officeDocument/2006/relationships/hyperlink" Target="https://oreil.ly/qwlHE" TargetMode="External"/><Relationship Id="rId4" Type="http://schemas.openxmlformats.org/officeDocument/2006/relationships/hyperlink" Target="https://arxiv.org/abs/1710.01878" TargetMode="Externa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arxiv.org/abs/1810.05270" TargetMode="External"/><Relationship Id="rId2" Type="http://schemas.openxmlformats.org/officeDocument/2006/relationships/slide" Target="../slides/slide4.xml"/><Relationship Id="rId1" Type="http://schemas.openxmlformats.org/officeDocument/2006/relationships/notesMaster" Target="../notesMasters/notesMaster1.xml"/><Relationship Id="rId5" Type="http://schemas.openxmlformats.org/officeDocument/2006/relationships/hyperlink" Target="https://oreil.ly/qwlHE" TargetMode="External"/><Relationship Id="rId4" Type="http://schemas.openxmlformats.org/officeDocument/2006/relationships/hyperlink" Target="https://arxiv.org/abs/1710.01878" TargetMode="Externa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arxiv.org/abs/1810.05270" TargetMode="External"/><Relationship Id="rId2" Type="http://schemas.openxmlformats.org/officeDocument/2006/relationships/slide" Target="../slides/slide5.xml"/><Relationship Id="rId1" Type="http://schemas.openxmlformats.org/officeDocument/2006/relationships/notesMaster" Target="../notesMasters/notesMaster1.xml"/><Relationship Id="rId5" Type="http://schemas.openxmlformats.org/officeDocument/2006/relationships/hyperlink" Target="https://oreil.ly/qwlHE" TargetMode="External"/><Relationship Id="rId4" Type="http://schemas.openxmlformats.org/officeDocument/2006/relationships/hyperlink" Target="https://arxiv.org/abs/1710.01878" TargetMode="Externa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arxiv.org/abs/1810.05270" TargetMode="External"/><Relationship Id="rId2" Type="http://schemas.openxmlformats.org/officeDocument/2006/relationships/slide" Target="../slides/slide6.xml"/><Relationship Id="rId1" Type="http://schemas.openxmlformats.org/officeDocument/2006/relationships/notesMaster" Target="../notesMasters/notesMaster1.xml"/><Relationship Id="rId5" Type="http://schemas.openxmlformats.org/officeDocument/2006/relationships/hyperlink" Target="https://oreil.ly/qwlHE" TargetMode="External"/><Relationship Id="rId4" Type="http://schemas.openxmlformats.org/officeDocument/2006/relationships/hyperlink" Target="https://arxiv.org/abs/1710.01878" TargetMode="Externa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arxiv.org/abs/1810.05270" TargetMode="External"/><Relationship Id="rId2" Type="http://schemas.openxmlformats.org/officeDocument/2006/relationships/slide" Target="../slides/slide7.xml"/><Relationship Id="rId1" Type="http://schemas.openxmlformats.org/officeDocument/2006/relationships/notesMaster" Target="../notesMasters/notesMaster1.xml"/><Relationship Id="rId5" Type="http://schemas.openxmlformats.org/officeDocument/2006/relationships/hyperlink" Target="https://oreil.ly/qwlHE" TargetMode="External"/><Relationship Id="rId4" Type="http://schemas.openxmlformats.org/officeDocument/2006/relationships/hyperlink" Target="https://arxiv.org/abs/1710.01878"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L" dirty="0"/>
          </a:p>
        </p:txBody>
      </p:sp>
      <p:sp>
        <p:nvSpPr>
          <p:cNvPr id="4" name="Marcador de número de diapositiva 3"/>
          <p:cNvSpPr>
            <a:spLocks noGrp="1"/>
          </p:cNvSpPr>
          <p:nvPr>
            <p:ph type="sldNum" sz="quarter" idx="5"/>
          </p:nvPr>
        </p:nvSpPr>
        <p:spPr/>
        <p:txBody>
          <a:bodyPr/>
          <a:lstStyle/>
          <a:p>
            <a:fld id="{2107F482-7FF7-4DD4-AE91-ACA70D5B43D5}" type="slidenum">
              <a:rPr lang="es-CL" smtClean="0"/>
              <a:t>1</a:t>
            </a:fld>
            <a:endParaRPr lang="es-CL"/>
          </a:p>
        </p:txBody>
      </p:sp>
    </p:spTree>
    <p:extLst>
      <p:ext uri="{BB962C8B-B14F-4D97-AF65-F5344CB8AC3E}">
        <p14:creationId xmlns:p14="http://schemas.microsoft.com/office/powerpoint/2010/main" val="36421357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FCE99D-1871-0F35-B1DA-8F946AFC665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8967999-0166-C84E-263B-AC9DD4F2159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80FD80E-89F6-7102-E28A-48E000849C3B}"/>
              </a:ext>
            </a:extLst>
          </p:cNvPr>
          <p:cNvSpPr>
            <a:spLocks noGrp="1"/>
          </p:cNvSpPr>
          <p:nvPr>
            <p:ph type="body" idx="1"/>
          </p:nvPr>
        </p:nvSpPr>
        <p:spPr/>
        <p:txBody>
          <a:bodyPr/>
          <a:lstStyle/>
          <a:p>
            <a:pPr fontAlgn="base"/>
            <a:r>
              <a:rPr lang="en-US" sz="1200" b="0" i="0" kern="1200" dirty="0">
                <a:solidFill>
                  <a:schemeClr val="tx1"/>
                </a:solidFill>
                <a:effectLst/>
                <a:latin typeface="+mn-lt"/>
                <a:ea typeface="+mn-ea"/>
                <a:cs typeface="+mn-cs"/>
              </a:rPr>
              <a:t>Model distillation suggests that it’s possible to capture a large model’s behaviors using fewer parameters. Could it be that within the large model, there exists a subset of parameters capable of capturing the entire model’s behavior? This is the core concept behind pruning.</a:t>
            </a:r>
          </a:p>
          <a:p>
            <a:pPr fontAlgn="base"/>
            <a:r>
              <a:rPr lang="en-US" sz="1200" b="0" i="0" kern="1200" dirty="0">
                <a:solidFill>
                  <a:schemeClr val="tx1"/>
                </a:solidFill>
                <a:effectLst/>
                <a:latin typeface="+mn-lt"/>
                <a:ea typeface="+mn-ea"/>
                <a:cs typeface="+mn-cs"/>
              </a:rPr>
              <a:t>Pruning, in the context of neural networks, has two meanings. One is to remove entire nodes of a neural network, which means changing its architecture and reducing its number of parameters. Another is to find parameters least useful to predictions and set them to zero. In this case, pruning doesn’t reduce the total number of parameters, only the number of non-zero parameters. This makes the model more sparse, which both reduces the model’s storage space and speeds up computation.</a:t>
            </a:r>
          </a:p>
          <a:p>
            <a:pPr fontAlgn="base"/>
            <a:r>
              <a:rPr lang="en-US" sz="1200" b="0" i="0" kern="1200" dirty="0">
                <a:solidFill>
                  <a:schemeClr val="tx1"/>
                </a:solidFill>
                <a:effectLst/>
                <a:latin typeface="+mn-lt"/>
                <a:ea typeface="+mn-ea"/>
                <a:cs typeface="+mn-cs"/>
              </a:rPr>
              <a:t>Pruned models can be used as-is or be further finetuned to adjust the remaining parameters and restore any performance degradation caused by the pruning process. Pruning can help discover promising model architectures (</a:t>
            </a:r>
            <a:r>
              <a:rPr lang="en-US" sz="1200" b="0" i="0" u="sng" kern="1200" dirty="0">
                <a:solidFill>
                  <a:schemeClr val="tx1"/>
                </a:solidFill>
                <a:effectLst/>
                <a:latin typeface="+mn-lt"/>
                <a:ea typeface="+mn-ea"/>
                <a:cs typeface="+mn-cs"/>
                <a:hlinkClick r:id="rId3"/>
              </a:rPr>
              <a:t>Liu et al., 2018</a:t>
            </a:r>
            <a:r>
              <a:rPr lang="en-US" sz="1200" b="0" i="0" kern="1200" dirty="0">
                <a:solidFill>
                  <a:schemeClr val="tx1"/>
                </a:solidFill>
                <a:effectLst/>
                <a:latin typeface="+mn-lt"/>
                <a:ea typeface="+mn-ea"/>
                <a:cs typeface="+mn-cs"/>
              </a:rPr>
              <a:t>). These pruned architectures, smaller than the pre-pruned architectures, can also be trained from scratch (</a:t>
            </a:r>
            <a:r>
              <a:rPr lang="en-US" sz="1200" b="0" i="0" u="sng" kern="1200" dirty="0">
                <a:solidFill>
                  <a:schemeClr val="tx1"/>
                </a:solidFill>
                <a:effectLst/>
                <a:latin typeface="+mn-lt"/>
                <a:ea typeface="+mn-ea"/>
                <a:cs typeface="+mn-cs"/>
                <a:hlinkClick r:id="rId4"/>
              </a:rPr>
              <a:t>Zhu et al., 2017</a:t>
            </a:r>
            <a:r>
              <a:rPr lang="en-US" sz="1200" b="0" i="0" kern="1200" dirty="0">
                <a:solidFill>
                  <a:schemeClr val="tx1"/>
                </a:solidFill>
                <a:effectLst/>
                <a:latin typeface="+mn-lt"/>
                <a:ea typeface="+mn-ea"/>
                <a:cs typeface="+mn-cs"/>
              </a:rPr>
              <a:t>).</a:t>
            </a:r>
          </a:p>
          <a:p>
            <a:pPr fontAlgn="base"/>
            <a:r>
              <a:rPr lang="en-US" sz="1200" b="0" i="0" kern="1200" dirty="0">
                <a:solidFill>
                  <a:schemeClr val="tx1"/>
                </a:solidFill>
                <a:effectLst/>
                <a:latin typeface="+mn-lt"/>
                <a:ea typeface="+mn-ea"/>
                <a:cs typeface="+mn-cs"/>
              </a:rPr>
              <a:t>In the literature, there have been many encouraging pruning results. For example, </a:t>
            </a:r>
            <a:r>
              <a:rPr lang="en-US" sz="1200" b="0" i="0" u="sng" kern="1200" dirty="0">
                <a:solidFill>
                  <a:schemeClr val="tx1"/>
                </a:solidFill>
                <a:effectLst/>
                <a:latin typeface="+mn-lt"/>
                <a:ea typeface="+mn-ea"/>
                <a:cs typeface="+mn-cs"/>
                <a:hlinkClick r:id="rId5"/>
              </a:rPr>
              <a:t>Frankle and Carbin (2019)</a:t>
            </a:r>
            <a:r>
              <a:rPr lang="en-US" sz="1200" b="0" i="0" kern="1200" dirty="0">
                <a:solidFill>
                  <a:schemeClr val="tx1"/>
                </a:solidFill>
                <a:effectLst/>
                <a:latin typeface="+mn-lt"/>
                <a:ea typeface="+mn-ea"/>
                <a:cs typeface="+mn-cs"/>
              </a:rPr>
              <a:t> showed that pruning techniques can reduce the non-zero parameter counts of certain trained networks by over 90%, decreasing memory footprints and improving speed without compromising accuracy. However, in practice, as of this writing, pruning is less common. It’s harder to do, as it requires an understanding of the original model’s architecture, and the performance boost it can bring is often much less than that of other approaches. Pruning also results in sparse models, and not all hardware architectures are designed to take advantage of the resulting sparsity.</a:t>
            </a:r>
          </a:p>
          <a:p>
            <a:pPr fontAlgn="base"/>
            <a:r>
              <a:rPr lang="en-US" sz="1200" b="0" i="1" kern="1200" dirty="0">
                <a:solidFill>
                  <a:schemeClr val="tx1"/>
                </a:solidFill>
                <a:effectLst/>
                <a:latin typeface="+mn-lt"/>
                <a:ea typeface="+mn-ea"/>
                <a:cs typeface="+mn-cs"/>
              </a:rPr>
              <a:t>Weight-only quantization is by far the most popular approach since it’s easy to use, works out of the box for many models, and is extremely effective.</a:t>
            </a:r>
            <a:r>
              <a:rPr lang="en-US" sz="1200" b="0" i="0" kern="1200" dirty="0">
                <a:solidFill>
                  <a:schemeClr val="tx1"/>
                </a:solidFill>
                <a:effectLst/>
                <a:latin typeface="+mn-lt"/>
                <a:ea typeface="+mn-ea"/>
                <a:cs typeface="+mn-cs"/>
              </a:rPr>
              <a:t> Reducing a model’s precision from 32 bits to 16 bits reduces its memory footprint by half. However, we’re close to the limit of quantization—we can’t go lower than 1 bit per value. Distillation is also common because it can result in a smaller model whose behavior is comparative to that of a much larger one for your needs.</a:t>
            </a:r>
          </a:p>
          <a:p>
            <a:endParaRPr lang="es-CL" dirty="0"/>
          </a:p>
        </p:txBody>
      </p:sp>
      <p:sp>
        <p:nvSpPr>
          <p:cNvPr id="4" name="Marcador de número de diapositiva 3">
            <a:extLst>
              <a:ext uri="{FF2B5EF4-FFF2-40B4-BE49-F238E27FC236}">
                <a16:creationId xmlns:a16="http://schemas.microsoft.com/office/drawing/2014/main" id="{F1354CB5-EA5E-3686-3A33-1F54A77BFDBC}"/>
              </a:ext>
            </a:extLst>
          </p:cNvPr>
          <p:cNvSpPr>
            <a:spLocks noGrp="1"/>
          </p:cNvSpPr>
          <p:nvPr>
            <p:ph type="sldNum" sz="quarter" idx="5"/>
          </p:nvPr>
        </p:nvSpPr>
        <p:spPr/>
        <p:txBody>
          <a:bodyPr/>
          <a:lstStyle/>
          <a:p>
            <a:fld id="{2107F482-7FF7-4DD4-AE91-ACA70D5B43D5}" type="slidenum">
              <a:rPr lang="es-CL" smtClean="0"/>
              <a:t>2</a:t>
            </a:fld>
            <a:endParaRPr lang="es-CL"/>
          </a:p>
        </p:txBody>
      </p:sp>
    </p:spTree>
    <p:extLst>
      <p:ext uri="{BB962C8B-B14F-4D97-AF65-F5344CB8AC3E}">
        <p14:creationId xmlns:p14="http://schemas.microsoft.com/office/powerpoint/2010/main" val="1053171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FE76E1-6FED-C371-C729-A7DACB36AB8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7CFF3AE-97C1-00C2-CEB9-8C341E0F4A3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92C11FB-4B77-540E-F90C-DA26472E8116}"/>
              </a:ext>
            </a:extLst>
          </p:cNvPr>
          <p:cNvSpPr>
            <a:spLocks noGrp="1"/>
          </p:cNvSpPr>
          <p:nvPr>
            <p:ph type="body" idx="1"/>
          </p:nvPr>
        </p:nvSpPr>
        <p:spPr/>
        <p:txBody>
          <a:bodyPr/>
          <a:lstStyle/>
          <a:p>
            <a:pPr fontAlgn="base"/>
            <a:r>
              <a:rPr lang="en-US" sz="1200" b="0" i="0" kern="1200" dirty="0">
                <a:solidFill>
                  <a:schemeClr val="tx1"/>
                </a:solidFill>
                <a:effectLst/>
                <a:latin typeface="+mn-lt"/>
                <a:ea typeface="+mn-ea"/>
                <a:cs typeface="+mn-cs"/>
              </a:rPr>
              <a:t>Model distillation suggests that it’s possible to capture a large model’s behaviors using fewer parameters. Could it be that within the large model, there exists a subset of parameters capable of capturing the entire model’s behavior? This is the core concept behind pruning.</a:t>
            </a:r>
          </a:p>
          <a:p>
            <a:pPr fontAlgn="base"/>
            <a:r>
              <a:rPr lang="en-US" sz="1200" b="0" i="0" kern="1200" dirty="0">
                <a:solidFill>
                  <a:schemeClr val="tx1"/>
                </a:solidFill>
                <a:effectLst/>
                <a:latin typeface="+mn-lt"/>
                <a:ea typeface="+mn-ea"/>
                <a:cs typeface="+mn-cs"/>
              </a:rPr>
              <a:t>Pruning, in the context of neural networks, has two meanings. One is to remove entire nodes of a neural network, which means changing its architecture and reducing its number of parameters. Another is to find parameters least useful to predictions and set them to zero. In this case, pruning doesn’t reduce the total number of parameters, only the number of non-zero parameters. This makes the model more sparse, which both reduces the model’s storage space and speeds up computation.</a:t>
            </a:r>
          </a:p>
          <a:p>
            <a:pPr fontAlgn="base"/>
            <a:r>
              <a:rPr lang="en-US" sz="1200" b="0" i="0" kern="1200" dirty="0">
                <a:solidFill>
                  <a:schemeClr val="tx1"/>
                </a:solidFill>
                <a:effectLst/>
                <a:latin typeface="+mn-lt"/>
                <a:ea typeface="+mn-ea"/>
                <a:cs typeface="+mn-cs"/>
              </a:rPr>
              <a:t>Pruned models can be used as-is or be further finetuned to adjust the remaining parameters and restore any performance degradation caused by the pruning process. Pruning can help discover promising model architectures (</a:t>
            </a:r>
            <a:r>
              <a:rPr lang="en-US" sz="1200" b="0" i="0" u="sng" kern="1200" dirty="0">
                <a:solidFill>
                  <a:schemeClr val="tx1"/>
                </a:solidFill>
                <a:effectLst/>
                <a:latin typeface="+mn-lt"/>
                <a:ea typeface="+mn-ea"/>
                <a:cs typeface="+mn-cs"/>
                <a:hlinkClick r:id="rId3"/>
              </a:rPr>
              <a:t>Liu et al., 2018</a:t>
            </a:r>
            <a:r>
              <a:rPr lang="en-US" sz="1200" b="0" i="0" kern="1200" dirty="0">
                <a:solidFill>
                  <a:schemeClr val="tx1"/>
                </a:solidFill>
                <a:effectLst/>
                <a:latin typeface="+mn-lt"/>
                <a:ea typeface="+mn-ea"/>
                <a:cs typeface="+mn-cs"/>
              </a:rPr>
              <a:t>). These pruned architectures, smaller than the pre-pruned architectures, can also be trained from scratch (</a:t>
            </a:r>
            <a:r>
              <a:rPr lang="en-US" sz="1200" b="0" i="0" u="sng" kern="1200" dirty="0">
                <a:solidFill>
                  <a:schemeClr val="tx1"/>
                </a:solidFill>
                <a:effectLst/>
                <a:latin typeface="+mn-lt"/>
                <a:ea typeface="+mn-ea"/>
                <a:cs typeface="+mn-cs"/>
                <a:hlinkClick r:id="rId4"/>
              </a:rPr>
              <a:t>Zhu et al., 2017</a:t>
            </a:r>
            <a:r>
              <a:rPr lang="en-US" sz="1200" b="0" i="0" kern="1200" dirty="0">
                <a:solidFill>
                  <a:schemeClr val="tx1"/>
                </a:solidFill>
                <a:effectLst/>
                <a:latin typeface="+mn-lt"/>
                <a:ea typeface="+mn-ea"/>
                <a:cs typeface="+mn-cs"/>
              </a:rPr>
              <a:t>).</a:t>
            </a:r>
          </a:p>
          <a:p>
            <a:pPr fontAlgn="base"/>
            <a:r>
              <a:rPr lang="en-US" sz="1200" b="0" i="0" kern="1200" dirty="0">
                <a:solidFill>
                  <a:schemeClr val="tx1"/>
                </a:solidFill>
                <a:effectLst/>
                <a:latin typeface="+mn-lt"/>
                <a:ea typeface="+mn-ea"/>
                <a:cs typeface="+mn-cs"/>
              </a:rPr>
              <a:t>In the literature, there have been many encouraging pruning results. For example, </a:t>
            </a:r>
            <a:r>
              <a:rPr lang="en-US" sz="1200" b="0" i="0" u="sng" kern="1200" dirty="0">
                <a:solidFill>
                  <a:schemeClr val="tx1"/>
                </a:solidFill>
                <a:effectLst/>
                <a:latin typeface="+mn-lt"/>
                <a:ea typeface="+mn-ea"/>
                <a:cs typeface="+mn-cs"/>
                <a:hlinkClick r:id="rId5"/>
              </a:rPr>
              <a:t>Frankle and Carbin (2019)</a:t>
            </a:r>
            <a:r>
              <a:rPr lang="en-US" sz="1200" b="0" i="0" kern="1200" dirty="0">
                <a:solidFill>
                  <a:schemeClr val="tx1"/>
                </a:solidFill>
                <a:effectLst/>
                <a:latin typeface="+mn-lt"/>
                <a:ea typeface="+mn-ea"/>
                <a:cs typeface="+mn-cs"/>
              </a:rPr>
              <a:t> showed that pruning techniques can reduce the non-zero parameter counts of certain trained networks by over 90%, decreasing memory footprints and improving speed without compromising accuracy. However, in practice, as of this writing, pruning is less common. It’s harder to do, as it requires an understanding of the original model’s architecture, and the performance boost it can bring is often much less than that of other approaches. Pruning also results in sparse models, and not all hardware architectures are designed to take advantage of the resulting sparsity.</a:t>
            </a:r>
          </a:p>
          <a:p>
            <a:pPr fontAlgn="base"/>
            <a:r>
              <a:rPr lang="en-US" sz="1200" b="0" i="1" kern="1200" dirty="0">
                <a:solidFill>
                  <a:schemeClr val="tx1"/>
                </a:solidFill>
                <a:effectLst/>
                <a:latin typeface="+mn-lt"/>
                <a:ea typeface="+mn-ea"/>
                <a:cs typeface="+mn-cs"/>
              </a:rPr>
              <a:t>Weight-only quantization is by far the most popular approach since it’s easy to use, works out of the box for many models, and is extremely effective.</a:t>
            </a:r>
            <a:r>
              <a:rPr lang="en-US" sz="1200" b="0" i="0" kern="1200" dirty="0">
                <a:solidFill>
                  <a:schemeClr val="tx1"/>
                </a:solidFill>
                <a:effectLst/>
                <a:latin typeface="+mn-lt"/>
                <a:ea typeface="+mn-ea"/>
                <a:cs typeface="+mn-cs"/>
              </a:rPr>
              <a:t> Reducing a model’s precision from 32 bits to 16 bits reduces its memory footprint by half. However, we’re close to the limit of quantization—we can’t go lower than 1 bit per value. Distillation is also common because it can result in a smaller model whose behavior is comparative to that of a much larger one for your needs.</a:t>
            </a:r>
          </a:p>
          <a:p>
            <a:endParaRPr lang="es-CL" dirty="0"/>
          </a:p>
        </p:txBody>
      </p:sp>
      <p:sp>
        <p:nvSpPr>
          <p:cNvPr id="4" name="Marcador de número de diapositiva 3">
            <a:extLst>
              <a:ext uri="{FF2B5EF4-FFF2-40B4-BE49-F238E27FC236}">
                <a16:creationId xmlns:a16="http://schemas.microsoft.com/office/drawing/2014/main" id="{0A8C458C-2BA4-7611-0B57-656F8DAED52D}"/>
              </a:ext>
            </a:extLst>
          </p:cNvPr>
          <p:cNvSpPr>
            <a:spLocks noGrp="1"/>
          </p:cNvSpPr>
          <p:nvPr>
            <p:ph type="sldNum" sz="quarter" idx="5"/>
          </p:nvPr>
        </p:nvSpPr>
        <p:spPr/>
        <p:txBody>
          <a:bodyPr/>
          <a:lstStyle/>
          <a:p>
            <a:fld id="{2107F482-7FF7-4DD4-AE91-ACA70D5B43D5}" type="slidenum">
              <a:rPr lang="es-CL" smtClean="0"/>
              <a:t>3</a:t>
            </a:fld>
            <a:endParaRPr lang="es-CL"/>
          </a:p>
        </p:txBody>
      </p:sp>
    </p:spTree>
    <p:extLst>
      <p:ext uri="{BB962C8B-B14F-4D97-AF65-F5344CB8AC3E}">
        <p14:creationId xmlns:p14="http://schemas.microsoft.com/office/powerpoint/2010/main" val="40497512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26B9A6-680C-19B5-6AC3-D8BBCA6DD01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B71C603-D04F-9B65-0B72-ED02FA59164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7ED617F-EE89-841B-4CCD-0F9AB755B3CE}"/>
              </a:ext>
            </a:extLst>
          </p:cNvPr>
          <p:cNvSpPr>
            <a:spLocks noGrp="1"/>
          </p:cNvSpPr>
          <p:nvPr>
            <p:ph type="body" idx="1"/>
          </p:nvPr>
        </p:nvSpPr>
        <p:spPr/>
        <p:txBody>
          <a:bodyPr/>
          <a:lstStyle/>
          <a:p>
            <a:pPr fontAlgn="base"/>
            <a:r>
              <a:rPr lang="en-US" sz="1200" b="0" i="0" kern="1200" dirty="0">
                <a:solidFill>
                  <a:schemeClr val="tx1"/>
                </a:solidFill>
                <a:effectLst/>
                <a:latin typeface="+mn-lt"/>
                <a:ea typeface="+mn-ea"/>
                <a:cs typeface="+mn-cs"/>
              </a:rPr>
              <a:t>Model distillation suggests that it’s possible to capture a large model’s behaviors using fewer parameters. Could it be that within the large model, there exists a subset of parameters capable of capturing the entire model’s behavior? This is the core concept behind pruning.</a:t>
            </a:r>
          </a:p>
          <a:p>
            <a:pPr fontAlgn="base"/>
            <a:r>
              <a:rPr lang="en-US" sz="1200" b="0" i="0" kern="1200" dirty="0">
                <a:solidFill>
                  <a:schemeClr val="tx1"/>
                </a:solidFill>
                <a:effectLst/>
                <a:latin typeface="+mn-lt"/>
                <a:ea typeface="+mn-ea"/>
                <a:cs typeface="+mn-cs"/>
              </a:rPr>
              <a:t>Pruning, in the context of neural networks, has two meanings. One is to remove entire nodes of a neural network, which means changing its architecture and reducing its number of parameters. Another is to find parameters least useful to predictions and set them to zero. In this case, pruning doesn’t reduce the total number of parameters, only the number of non-zero parameters. This makes the model more sparse, which both reduces the model’s storage space and speeds up computation.</a:t>
            </a:r>
          </a:p>
          <a:p>
            <a:pPr fontAlgn="base"/>
            <a:r>
              <a:rPr lang="en-US" sz="1200" b="0" i="0" kern="1200" dirty="0">
                <a:solidFill>
                  <a:schemeClr val="tx1"/>
                </a:solidFill>
                <a:effectLst/>
                <a:latin typeface="+mn-lt"/>
                <a:ea typeface="+mn-ea"/>
                <a:cs typeface="+mn-cs"/>
              </a:rPr>
              <a:t>Pruned models can be used as-is or be further finetuned to adjust the remaining parameters and restore any performance degradation caused by the pruning process. Pruning can help discover promising model architectures (</a:t>
            </a:r>
            <a:r>
              <a:rPr lang="en-US" sz="1200" b="0" i="0" u="sng" kern="1200" dirty="0">
                <a:solidFill>
                  <a:schemeClr val="tx1"/>
                </a:solidFill>
                <a:effectLst/>
                <a:latin typeface="+mn-lt"/>
                <a:ea typeface="+mn-ea"/>
                <a:cs typeface="+mn-cs"/>
                <a:hlinkClick r:id="rId3"/>
              </a:rPr>
              <a:t>Liu et al., 2018</a:t>
            </a:r>
            <a:r>
              <a:rPr lang="en-US" sz="1200" b="0" i="0" kern="1200" dirty="0">
                <a:solidFill>
                  <a:schemeClr val="tx1"/>
                </a:solidFill>
                <a:effectLst/>
                <a:latin typeface="+mn-lt"/>
                <a:ea typeface="+mn-ea"/>
                <a:cs typeface="+mn-cs"/>
              </a:rPr>
              <a:t>). These pruned architectures, smaller than the pre-pruned architectures, can also be trained from scratch (</a:t>
            </a:r>
            <a:r>
              <a:rPr lang="en-US" sz="1200" b="0" i="0" u="sng" kern="1200" dirty="0">
                <a:solidFill>
                  <a:schemeClr val="tx1"/>
                </a:solidFill>
                <a:effectLst/>
                <a:latin typeface="+mn-lt"/>
                <a:ea typeface="+mn-ea"/>
                <a:cs typeface="+mn-cs"/>
                <a:hlinkClick r:id="rId4"/>
              </a:rPr>
              <a:t>Zhu et al., 2017</a:t>
            </a:r>
            <a:r>
              <a:rPr lang="en-US" sz="1200" b="0" i="0" kern="1200" dirty="0">
                <a:solidFill>
                  <a:schemeClr val="tx1"/>
                </a:solidFill>
                <a:effectLst/>
                <a:latin typeface="+mn-lt"/>
                <a:ea typeface="+mn-ea"/>
                <a:cs typeface="+mn-cs"/>
              </a:rPr>
              <a:t>).</a:t>
            </a:r>
          </a:p>
          <a:p>
            <a:pPr fontAlgn="base"/>
            <a:r>
              <a:rPr lang="en-US" sz="1200" b="0" i="0" kern="1200" dirty="0">
                <a:solidFill>
                  <a:schemeClr val="tx1"/>
                </a:solidFill>
                <a:effectLst/>
                <a:latin typeface="+mn-lt"/>
                <a:ea typeface="+mn-ea"/>
                <a:cs typeface="+mn-cs"/>
              </a:rPr>
              <a:t>In the literature, there have been many encouraging pruning results. For example, </a:t>
            </a:r>
            <a:r>
              <a:rPr lang="en-US" sz="1200" b="0" i="0" u="sng" kern="1200" dirty="0">
                <a:solidFill>
                  <a:schemeClr val="tx1"/>
                </a:solidFill>
                <a:effectLst/>
                <a:latin typeface="+mn-lt"/>
                <a:ea typeface="+mn-ea"/>
                <a:cs typeface="+mn-cs"/>
                <a:hlinkClick r:id="rId5"/>
              </a:rPr>
              <a:t>Frankle and Carbin (2019)</a:t>
            </a:r>
            <a:r>
              <a:rPr lang="en-US" sz="1200" b="0" i="0" kern="1200" dirty="0">
                <a:solidFill>
                  <a:schemeClr val="tx1"/>
                </a:solidFill>
                <a:effectLst/>
                <a:latin typeface="+mn-lt"/>
                <a:ea typeface="+mn-ea"/>
                <a:cs typeface="+mn-cs"/>
              </a:rPr>
              <a:t> showed that pruning techniques can reduce the non-zero parameter counts of certain trained networks by over 90%, decreasing memory footprints and improving speed without compromising accuracy. However, in practice, as of this writing, pruning is less common. It’s harder to do, as it requires an understanding of the original model’s architecture, and the performance boost it can bring is often much less than that of other approaches. Pruning also results in sparse models, and not all hardware architectures are designed to take advantage of the resulting sparsity.</a:t>
            </a:r>
          </a:p>
          <a:p>
            <a:pPr fontAlgn="base"/>
            <a:r>
              <a:rPr lang="en-US" sz="1200" b="0" i="1" kern="1200" dirty="0">
                <a:solidFill>
                  <a:schemeClr val="tx1"/>
                </a:solidFill>
                <a:effectLst/>
                <a:latin typeface="+mn-lt"/>
                <a:ea typeface="+mn-ea"/>
                <a:cs typeface="+mn-cs"/>
              </a:rPr>
              <a:t>Weight-only quantization is by far the most popular approach since it’s easy to use, works out of the box for many models, and is extremely effective.</a:t>
            </a:r>
            <a:r>
              <a:rPr lang="en-US" sz="1200" b="0" i="0" kern="1200" dirty="0">
                <a:solidFill>
                  <a:schemeClr val="tx1"/>
                </a:solidFill>
                <a:effectLst/>
                <a:latin typeface="+mn-lt"/>
                <a:ea typeface="+mn-ea"/>
                <a:cs typeface="+mn-cs"/>
              </a:rPr>
              <a:t> Reducing a model’s precision from 32 bits to 16 bits reduces its memory footprint by half. However, we’re close to the limit of quantization—we can’t go lower than 1 bit per value. Distillation is also common because it can result in a smaller model whose behavior is comparative to that of a much larger one for your needs.</a:t>
            </a:r>
          </a:p>
          <a:p>
            <a:endParaRPr lang="es-CL" dirty="0"/>
          </a:p>
        </p:txBody>
      </p:sp>
      <p:sp>
        <p:nvSpPr>
          <p:cNvPr id="4" name="Marcador de número de diapositiva 3">
            <a:extLst>
              <a:ext uri="{FF2B5EF4-FFF2-40B4-BE49-F238E27FC236}">
                <a16:creationId xmlns:a16="http://schemas.microsoft.com/office/drawing/2014/main" id="{47DF2DED-D08A-9AEC-D88F-9C1F9A2488DE}"/>
              </a:ext>
            </a:extLst>
          </p:cNvPr>
          <p:cNvSpPr>
            <a:spLocks noGrp="1"/>
          </p:cNvSpPr>
          <p:nvPr>
            <p:ph type="sldNum" sz="quarter" idx="5"/>
          </p:nvPr>
        </p:nvSpPr>
        <p:spPr/>
        <p:txBody>
          <a:bodyPr/>
          <a:lstStyle/>
          <a:p>
            <a:fld id="{2107F482-7FF7-4DD4-AE91-ACA70D5B43D5}" type="slidenum">
              <a:rPr lang="es-CL" smtClean="0"/>
              <a:t>4</a:t>
            </a:fld>
            <a:endParaRPr lang="es-CL"/>
          </a:p>
        </p:txBody>
      </p:sp>
    </p:spTree>
    <p:extLst>
      <p:ext uri="{BB962C8B-B14F-4D97-AF65-F5344CB8AC3E}">
        <p14:creationId xmlns:p14="http://schemas.microsoft.com/office/powerpoint/2010/main" val="35592488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DE541B-DA84-BD3B-1F67-0DC18454714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CCF6085-7E49-9CFA-50CF-B9829A53A6E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A969BC-571C-7305-C421-6041D56E0E11}"/>
              </a:ext>
            </a:extLst>
          </p:cNvPr>
          <p:cNvSpPr>
            <a:spLocks noGrp="1"/>
          </p:cNvSpPr>
          <p:nvPr>
            <p:ph type="body" idx="1"/>
          </p:nvPr>
        </p:nvSpPr>
        <p:spPr/>
        <p:txBody>
          <a:bodyPr/>
          <a:lstStyle/>
          <a:p>
            <a:pPr fontAlgn="base"/>
            <a:r>
              <a:rPr lang="en-US" sz="1200" b="0" i="0" kern="1200" dirty="0">
                <a:solidFill>
                  <a:schemeClr val="tx1"/>
                </a:solidFill>
                <a:effectLst/>
                <a:latin typeface="+mn-lt"/>
                <a:ea typeface="+mn-ea"/>
                <a:cs typeface="+mn-cs"/>
              </a:rPr>
              <a:t>Model distillation suggests that it’s possible to capture a large model’s behaviors using fewer parameters. Could it be that within the large model, there exists a subset of parameters capable of capturing the entire model’s behavior? This is the core concept behind pruning.</a:t>
            </a:r>
          </a:p>
          <a:p>
            <a:pPr fontAlgn="base"/>
            <a:r>
              <a:rPr lang="en-US" sz="1200" b="0" i="0" kern="1200" dirty="0">
                <a:solidFill>
                  <a:schemeClr val="tx1"/>
                </a:solidFill>
                <a:effectLst/>
                <a:latin typeface="+mn-lt"/>
                <a:ea typeface="+mn-ea"/>
                <a:cs typeface="+mn-cs"/>
              </a:rPr>
              <a:t>Pruning, in the context of neural networks, has two meanings. One is to remove entire nodes of a neural network, which means changing its architecture and reducing its number of parameters. Another is to find parameters least useful to predictions and set them to zero. In this case, pruning doesn’t reduce the total number of parameters, only the number of non-zero parameters. This makes the model more sparse, which both reduces the model’s storage space and speeds up computation.</a:t>
            </a:r>
          </a:p>
          <a:p>
            <a:pPr fontAlgn="base"/>
            <a:r>
              <a:rPr lang="en-US" sz="1200" b="0" i="0" kern="1200" dirty="0">
                <a:solidFill>
                  <a:schemeClr val="tx1"/>
                </a:solidFill>
                <a:effectLst/>
                <a:latin typeface="+mn-lt"/>
                <a:ea typeface="+mn-ea"/>
                <a:cs typeface="+mn-cs"/>
              </a:rPr>
              <a:t>Pruned models can be used as-is or be further finetuned to adjust the remaining parameters and restore any performance degradation caused by the pruning process. Pruning can help discover promising model architectures (</a:t>
            </a:r>
            <a:r>
              <a:rPr lang="en-US" sz="1200" b="0" i="0" u="sng" kern="1200" dirty="0">
                <a:solidFill>
                  <a:schemeClr val="tx1"/>
                </a:solidFill>
                <a:effectLst/>
                <a:latin typeface="+mn-lt"/>
                <a:ea typeface="+mn-ea"/>
                <a:cs typeface="+mn-cs"/>
                <a:hlinkClick r:id="rId3"/>
              </a:rPr>
              <a:t>Liu et al., 2018</a:t>
            </a:r>
            <a:r>
              <a:rPr lang="en-US" sz="1200" b="0" i="0" kern="1200" dirty="0">
                <a:solidFill>
                  <a:schemeClr val="tx1"/>
                </a:solidFill>
                <a:effectLst/>
                <a:latin typeface="+mn-lt"/>
                <a:ea typeface="+mn-ea"/>
                <a:cs typeface="+mn-cs"/>
              </a:rPr>
              <a:t>). These pruned architectures, smaller than the pre-pruned architectures, can also be trained from scratch (</a:t>
            </a:r>
            <a:r>
              <a:rPr lang="en-US" sz="1200" b="0" i="0" u="sng" kern="1200" dirty="0">
                <a:solidFill>
                  <a:schemeClr val="tx1"/>
                </a:solidFill>
                <a:effectLst/>
                <a:latin typeface="+mn-lt"/>
                <a:ea typeface="+mn-ea"/>
                <a:cs typeface="+mn-cs"/>
                <a:hlinkClick r:id="rId4"/>
              </a:rPr>
              <a:t>Zhu et al., 2017</a:t>
            </a:r>
            <a:r>
              <a:rPr lang="en-US" sz="1200" b="0" i="0" kern="1200" dirty="0">
                <a:solidFill>
                  <a:schemeClr val="tx1"/>
                </a:solidFill>
                <a:effectLst/>
                <a:latin typeface="+mn-lt"/>
                <a:ea typeface="+mn-ea"/>
                <a:cs typeface="+mn-cs"/>
              </a:rPr>
              <a:t>).</a:t>
            </a:r>
          </a:p>
          <a:p>
            <a:pPr fontAlgn="base"/>
            <a:r>
              <a:rPr lang="en-US" sz="1200" b="0" i="0" kern="1200" dirty="0">
                <a:solidFill>
                  <a:schemeClr val="tx1"/>
                </a:solidFill>
                <a:effectLst/>
                <a:latin typeface="+mn-lt"/>
                <a:ea typeface="+mn-ea"/>
                <a:cs typeface="+mn-cs"/>
              </a:rPr>
              <a:t>In the literature, there have been many encouraging pruning results. For example, </a:t>
            </a:r>
            <a:r>
              <a:rPr lang="en-US" sz="1200" b="0" i="0" u="sng" kern="1200" dirty="0">
                <a:solidFill>
                  <a:schemeClr val="tx1"/>
                </a:solidFill>
                <a:effectLst/>
                <a:latin typeface="+mn-lt"/>
                <a:ea typeface="+mn-ea"/>
                <a:cs typeface="+mn-cs"/>
                <a:hlinkClick r:id="rId5"/>
              </a:rPr>
              <a:t>Frankle and Carbin (2019)</a:t>
            </a:r>
            <a:r>
              <a:rPr lang="en-US" sz="1200" b="0" i="0" kern="1200" dirty="0">
                <a:solidFill>
                  <a:schemeClr val="tx1"/>
                </a:solidFill>
                <a:effectLst/>
                <a:latin typeface="+mn-lt"/>
                <a:ea typeface="+mn-ea"/>
                <a:cs typeface="+mn-cs"/>
              </a:rPr>
              <a:t> showed that pruning techniques can reduce the non-zero parameter counts of certain trained networks by over 90%, decreasing memory footprints and improving speed without compromising accuracy. However, in practice, as of this writing, pruning is less common. It’s harder to do, as it requires an understanding of the original model’s architecture, and the performance boost it can bring is often much less than that of other approaches. Pruning also results in sparse models, and not all hardware architectures are designed to take advantage of the resulting sparsity.</a:t>
            </a:r>
          </a:p>
          <a:p>
            <a:pPr fontAlgn="base"/>
            <a:r>
              <a:rPr lang="en-US" sz="1200" b="0" i="1" kern="1200" dirty="0">
                <a:solidFill>
                  <a:schemeClr val="tx1"/>
                </a:solidFill>
                <a:effectLst/>
                <a:latin typeface="+mn-lt"/>
                <a:ea typeface="+mn-ea"/>
                <a:cs typeface="+mn-cs"/>
              </a:rPr>
              <a:t>Weight-only quantization is by far the most popular approach since it’s easy to use, works out of the box for many models, and is extremely effective.</a:t>
            </a:r>
            <a:r>
              <a:rPr lang="en-US" sz="1200" b="0" i="0" kern="1200" dirty="0">
                <a:solidFill>
                  <a:schemeClr val="tx1"/>
                </a:solidFill>
                <a:effectLst/>
                <a:latin typeface="+mn-lt"/>
                <a:ea typeface="+mn-ea"/>
                <a:cs typeface="+mn-cs"/>
              </a:rPr>
              <a:t> Reducing a model’s precision from 32 bits to 16 bits reduces its memory footprint by half. However, we’re close to the limit of quantization—we can’t go lower than 1 bit per value. Distillation is also common because it can result in a smaller model whose behavior is comparative to that of a much larger one for your needs.</a:t>
            </a:r>
          </a:p>
          <a:p>
            <a:endParaRPr lang="es-CL" dirty="0"/>
          </a:p>
        </p:txBody>
      </p:sp>
      <p:sp>
        <p:nvSpPr>
          <p:cNvPr id="4" name="Marcador de número de diapositiva 3">
            <a:extLst>
              <a:ext uri="{FF2B5EF4-FFF2-40B4-BE49-F238E27FC236}">
                <a16:creationId xmlns:a16="http://schemas.microsoft.com/office/drawing/2014/main" id="{4BF08ADE-1E47-09A9-8D4B-62AE06A8FA25}"/>
              </a:ext>
            </a:extLst>
          </p:cNvPr>
          <p:cNvSpPr>
            <a:spLocks noGrp="1"/>
          </p:cNvSpPr>
          <p:nvPr>
            <p:ph type="sldNum" sz="quarter" idx="5"/>
          </p:nvPr>
        </p:nvSpPr>
        <p:spPr/>
        <p:txBody>
          <a:bodyPr/>
          <a:lstStyle/>
          <a:p>
            <a:fld id="{2107F482-7FF7-4DD4-AE91-ACA70D5B43D5}" type="slidenum">
              <a:rPr lang="es-CL" smtClean="0"/>
              <a:t>5</a:t>
            </a:fld>
            <a:endParaRPr lang="es-CL"/>
          </a:p>
        </p:txBody>
      </p:sp>
    </p:spTree>
    <p:extLst>
      <p:ext uri="{BB962C8B-B14F-4D97-AF65-F5344CB8AC3E}">
        <p14:creationId xmlns:p14="http://schemas.microsoft.com/office/powerpoint/2010/main" val="38825099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65315C-EFE5-99E9-C0C9-089FBD59352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83729AE-27FB-AE40-A893-EE2E790492D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B8286B9-419D-D458-E29A-C38920DC237C}"/>
              </a:ext>
            </a:extLst>
          </p:cNvPr>
          <p:cNvSpPr>
            <a:spLocks noGrp="1"/>
          </p:cNvSpPr>
          <p:nvPr>
            <p:ph type="body" idx="1"/>
          </p:nvPr>
        </p:nvSpPr>
        <p:spPr/>
        <p:txBody>
          <a:bodyPr/>
          <a:lstStyle/>
          <a:p>
            <a:pPr fontAlgn="base"/>
            <a:r>
              <a:rPr lang="en-US" sz="1200" b="0" i="0" kern="1200" dirty="0">
                <a:solidFill>
                  <a:schemeClr val="tx1"/>
                </a:solidFill>
                <a:effectLst/>
                <a:latin typeface="+mn-lt"/>
                <a:ea typeface="+mn-ea"/>
                <a:cs typeface="+mn-cs"/>
              </a:rPr>
              <a:t>Model distillation suggests that it’s possible to capture a large model’s behaviors using fewer parameters. Could it be that within the large model, there exists a subset of parameters capable of capturing the entire model’s behavior? This is the core concept behind pruning.</a:t>
            </a:r>
          </a:p>
          <a:p>
            <a:pPr fontAlgn="base"/>
            <a:r>
              <a:rPr lang="en-US" sz="1200" b="0" i="0" kern="1200" dirty="0">
                <a:solidFill>
                  <a:schemeClr val="tx1"/>
                </a:solidFill>
                <a:effectLst/>
                <a:latin typeface="+mn-lt"/>
                <a:ea typeface="+mn-ea"/>
                <a:cs typeface="+mn-cs"/>
              </a:rPr>
              <a:t>Pruning, in the context of neural networks, has two meanings. One is to remove entire nodes of a neural network, which means changing its architecture and reducing its number of parameters. Another is to find parameters least useful to predictions and set them to zero. In this case, pruning doesn’t reduce the total number of parameters, only the number of non-zero parameters. This makes the model more sparse, which both reduces the model’s storage space and speeds up computation.</a:t>
            </a:r>
          </a:p>
          <a:p>
            <a:pPr fontAlgn="base"/>
            <a:r>
              <a:rPr lang="en-US" sz="1200" b="0" i="0" kern="1200" dirty="0">
                <a:solidFill>
                  <a:schemeClr val="tx1"/>
                </a:solidFill>
                <a:effectLst/>
                <a:latin typeface="+mn-lt"/>
                <a:ea typeface="+mn-ea"/>
                <a:cs typeface="+mn-cs"/>
              </a:rPr>
              <a:t>Pruned models can be used as-is or be further finetuned to adjust the remaining parameters and restore any performance degradation caused by the pruning process. Pruning can help discover promising model architectures (</a:t>
            </a:r>
            <a:r>
              <a:rPr lang="en-US" sz="1200" b="0" i="0" u="sng" kern="1200" dirty="0">
                <a:solidFill>
                  <a:schemeClr val="tx1"/>
                </a:solidFill>
                <a:effectLst/>
                <a:latin typeface="+mn-lt"/>
                <a:ea typeface="+mn-ea"/>
                <a:cs typeface="+mn-cs"/>
                <a:hlinkClick r:id="rId3"/>
              </a:rPr>
              <a:t>Liu et al., 2018</a:t>
            </a:r>
            <a:r>
              <a:rPr lang="en-US" sz="1200" b="0" i="0" kern="1200" dirty="0">
                <a:solidFill>
                  <a:schemeClr val="tx1"/>
                </a:solidFill>
                <a:effectLst/>
                <a:latin typeface="+mn-lt"/>
                <a:ea typeface="+mn-ea"/>
                <a:cs typeface="+mn-cs"/>
              </a:rPr>
              <a:t>). These pruned architectures, smaller than the pre-pruned architectures, can also be trained from scratch (</a:t>
            </a:r>
            <a:r>
              <a:rPr lang="en-US" sz="1200" b="0" i="0" u="sng" kern="1200" dirty="0">
                <a:solidFill>
                  <a:schemeClr val="tx1"/>
                </a:solidFill>
                <a:effectLst/>
                <a:latin typeface="+mn-lt"/>
                <a:ea typeface="+mn-ea"/>
                <a:cs typeface="+mn-cs"/>
                <a:hlinkClick r:id="rId4"/>
              </a:rPr>
              <a:t>Zhu et al., 2017</a:t>
            </a:r>
            <a:r>
              <a:rPr lang="en-US" sz="1200" b="0" i="0" kern="1200" dirty="0">
                <a:solidFill>
                  <a:schemeClr val="tx1"/>
                </a:solidFill>
                <a:effectLst/>
                <a:latin typeface="+mn-lt"/>
                <a:ea typeface="+mn-ea"/>
                <a:cs typeface="+mn-cs"/>
              </a:rPr>
              <a:t>).</a:t>
            </a:r>
          </a:p>
          <a:p>
            <a:pPr fontAlgn="base"/>
            <a:r>
              <a:rPr lang="en-US" sz="1200" b="0" i="0" kern="1200" dirty="0">
                <a:solidFill>
                  <a:schemeClr val="tx1"/>
                </a:solidFill>
                <a:effectLst/>
                <a:latin typeface="+mn-lt"/>
                <a:ea typeface="+mn-ea"/>
                <a:cs typeface="+mn-cs"/>
              </a:rPr>
              <a:t>In the literature, there have been many encouraging pruning results. For example, </a:t>
            </a:r>
            <a:r>
              <a:rPr lang="en-US" sz="1200" b="0" i="0" u="sng" kern="1200" dirty="0">
                <a:solidFill>
                  <a:schemeClr val="tx1"/>
                </a:solidFill>
                <a:effectLst/>
                <a:latin typeface="+mn-lt"/>
                <a:ea typeface="+mn-ea"/>
                <a:cs typeface="+mn-cs"/>
                <a:hlinkClick r:id="rId5"/>
              </a:rPr>
              <a:t>Frankle and Carbin (2019)</a:t>
            </a:r>
            <a:r>
              <a:rPr lang="en-US" sz="1200" b="0" i="0" kern="1200" dirty="0">
                <a:solidFill>
                  <a:schemeClr val="tx1"/>
                </a:solidFill>
                <a:effectLst/>
                <a:latin typeface="+mn-lt"/>
                <a:ea typeface="+mn-ea"/>
                <a:cs typeface="+mn-cs"/>
              </a:rPr>
              <a:t> showed that pruning techniques can reduce the non-zero parameter counts of certain trained networks by over 90%, decreasing memory footprints and improving speed without compromising accuracy. However, in practice, as of this writing, pruning is less common. It’s harder to do, as it requires an understanding of the original model’s architecture, and the performance boost it can bring is often much less than that of other approaches. Pruning also results in sparse models, and not all hardware architectures are designed to take advantage of the resulting sparsity.</a:t>
            </a:r>
          </a:p>
          <a:p>
            <a:pPr fontAlgn="base"/>
            <a:r>
              <a:rPr lang="en-US" sz="1200" b="0" i="1" kern="1200" dirty="0">
                <a:solidFill>
                  <a:schemeClr val="tx1"/>
                </a:solidFill>
                <a:effectLst/>
                <a:latin typeface="+mn-lt"/>
                <a:ea typeface="+mn-ea"/>
                <a:cs typeface="+mn-cs"/>
              </a:rPr>
              <a:t>Weight-only quantization is by far the most popular approach since it’s easy to use, works out of the box for many models, and is extremely effective.</a:t>
            </a:r>
            <a:r>
              <a:rPr lang="en-US" sz="1200" b="0" i="0" kern="1200" dirty="0">
                <a:solidFill>
                  <a:schemeClr val="tx1"/>
                </a:solidFill>
                <a:effectLst/>
                <a:latin typeface="+mn-lt"/>
                <a:ea typeface="+mn-ea"/>
                <a:cs typeface="+mn-cs"/>
              </a:rPr>
              <a:t> Reducing a model’s precision from 32 bits to 16 bits reduces its memory footprint by half. However, we’re close to the limit of quantization—we can’t go lower than 1 bit per value. Distillation is also common because it can result in a smaller model whose behavior is comparative to that of a much larger one for your needs.</a:t>
            </a:r>
          </a:p>
          <a:p>
            <a:endParaRPr lang="es-CL" dirty="0"/>
          </a:p>
        </p:txBody>
      </p:sp>
      <p:sp>
        <p:nvSpPr>
          <p:cNvPr id="4" name="Marcador de número de diapositiva 3">
            <a:extLst>
              <a:ext uri="{FF2B5EF4-FFF2-40B4-BE49-F238E27FC236}">
                <a16:creationId xmlns:a16="http://schemas.microsoft.com/office/drawing/2014/main" id="{71892293-28F3-BCCA-25FD-3484E9D0859A}"/>
              </a:ext>
            </a:extLst>
          </p:cNvPr>
          <p:cNvSpPr>
            <a:spLocks noGrp="1"/>
          </p:cNvSpPr>
          <p:nvPr>
            <p:ph type="sldNum" sz="quarter" idx="5"/>
          </p:nvPr>
        </p:nvSpPr>
        <p:spPr/>
        <p:txBody>
          <a:bodyPr/>
          <a:lstStyle/>
          <a:p>
            <a:fld id="{2107F482-7FF7-4DD4-AE91-ACA70D5B43D5}" type="slidenum">
              <a:rPr lang="es-CL" smtClean="0"/>
              <a:t>6</a:t>
            </a:fld>
            <a:endParaRPr lang="es-CL"/>
          </a:p>
        </p:txBody>
      </p:sp>
    </p:spTree>
    <p:extLst>
      <p:ext uri="{BB962C8B-B14F-4D97-AF65-F5344CB8AC3E}">
        <p14:creationId xmlns:p14="http://schemas.microsoft.com/office/powerpoint/2010/main" val="17096224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AF9850-4ADB-2FEF-2813-DDB5855CBB0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52366B3-A33C-CD9A-0EF3-622E168DE9E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B534AD7-05D6-1ED8-0B48-AD91727E6AAB}"/>
              </a:ext>
            </a:extLst>
          </p:cNvPr>
          <p:cNvSpPr>
            <a:spLocks noGrp="1"/>
          </p:cNvSpPr>
          <p:nvPr>
            <p:ph type="body" idx="1"/>
          </p:nvPr>
        </p:nvSpPr>
        <p:spPr/>
        <p:txBody>
          <a:bodyPr/>
          <a:lstStyle/>
          <a:p>
            <a:pPr fontAlgn="base"/>
            <a:r>
              <a:rPr lang="en-US" sz="1200" b="0" i="0" kern="1200" dirty="0">
                <a:solidFill>
                  <a:schemeClr val="tx1"/>
                </a:solidFill>
                <a:effectLst/>
                <a:latin typeface="+mn-lt"/>
                <a:ea typeface="+mn-ea"/>
                <a:cs typeface="+mn-cs"/>
              </a:rPr>
              <a:t>Model distillation suggests that it’s possible to capture a large model’s behaviors using fewer parameters. Could it be that within the large model, there exists a subset of parameters capable of capturing the entire model’s behavior? This is the core concept behind pruning.</a:t>
            </a:r>
          </a:p>
          <a:p>
            <a:pPr fontAlgn="base"/>
            <a:r>
              <a:rPr lang="en-US" sz="1200" b="0" i="0" kern="1200" dirty="0">
                <a:solidFill>
                  <a:schemeClr val="tx1"/>
                </a:solidFill>
                <a:effectLst/>
                <a:latin typeface="+mn-lt"/>
                <a:ea typeface="+mn-ea"/>
                <a:cs typeface="+mn-cs"/>
              </a:rPr>
              <a:t>Pruning, in the context of neural networks, has two meanings. One is to remove entire nodes of a neural network, which means changing its architecture and reducing its number of parameters. Another is to find parameters least useful to predictions and set them to zero. In this case, pruning doesn’t reduce the total number of parameters, only the number of non-zero parameters. This makes the model more sparse, which both reduces the model’s storage space and speeds up computation.</a:t>
            </a:r>
          </a:p>
          <a:p>
            <a:pPr fontAlgn="base"/>
            <a:r>
              <a:rPr lang="en-US" sz="1200" b="0" i="0" kern="1200" dirty="0">
                <a:solidFill>
                  <a:schemeClr val="tx1"/>
                </a:solidFill>
                <a:effectLst/>
                <a:latin typeface="+mn-lt"/>
                <a:ea typeface="+mn-ea"/>
                <a:cs typeface="+mn-cs"/>
              </a:rPr>
              <a:t>Pruned models can be used as-is or be further finetuned to adjust the remaining parameters and restore any performance degradation caused by the pruning process. Pruning can help discover promising model architectures (</a:t>
            </a:r>
            <a:r>
              <a:rPr lang="en-US" sz="1200" b="0" i="0" u="sng" kern="1200" dirty="0">
                <a:solidFill>
                  <a:schemeClr val="tx1"/>
                </a:solidFill>
                <a:effectLst/>
                <a:latin typeface="+mn-lt"/>
                <a:ea typeface="+mn-ea"/>
                <a:cs typeface="+mn-cs"/>
                <a:hlinkClick r:id="rId3"/>
              </a:rPr>
              <a:t>Liu et al., 2018</a:t>
            </a:r>
            <a:r>
              <a:rPr lang="en-US" sz="1200" b="0" i="0" kern="1200" dirty="0">
                <a:solidFill>
                  <a:schemeClr val="tx1"/>
                </a:solidFill>
                <a:effectLst/>
                <a:latin typeface="+mn-lt"/>
                <a:ea typeface="+mn-ea"/>
                <a:cs typeface="+mn-cs"/>
              </a:rPr>
              <a:t>). These pruned architectures, smaller than the pre-pruned architectures, can also be trained from scratch (</a:t>
            </a:r>
            <a:r>
              <a:rPr lang="en-US" sz="1200" b="0" i="0" u="sng" kern="1200" dirty="0">
                <a:solidFill>
                  <a:schemeClr val="tx1"/>
                </a:solidFill>
                <a:effectLst/>
                <a:latin typeface="+mn-lt"/>
                <a:ea typeface="+mn-ea"/>
                <a:cs typeface="+mn-cs"/>
                <a:hlinkClick r:id="rId4"/>
              </a:rPr>
              <a:t>Zhu et al., 2017</a:t>
            </a:r>
            <a:r>
              <a:rPr lang="en-US" sz="1200" b="0" i="0" kern="1200" dirty="0">
                <a:solidFill>
                  <a:schemeClr val="tx1"/>
                </a:solidFill>
                <a:effectLst/>
                <a:latin typeface="+mn-lt"/>
                <a:ea typeface="+mn-ea"/>
                <a:cs typeface="+mn-cs"/>
              </a:rPr>
              <a:t>).</a:t>
            </a:r>
          </a:p>
          <a:p>
            <a:pPr fontAlgn="base"/>
            <a:r>
              <a:rPr lang="en-US" sz="1200" b="0" i="0" kern="1200" dirty="0">
                <a:solidFill>
                  <a:schemeClr val="tx1"/>
                </a:solidFill>
                <a:effectLst/>
                <a:latin typeface="+mn-lt"/>
                <a:ea typeface="+mn-ea"/>
                <a:cs typeface="+mn-cs"/>
              </a:rPr>
              <a:t>In the literature, there have been many encouraging pruning results. For example, </a:t>
            </a:r>
            <a:r>
              <a:rPr lang="en-US" sz="1200" b="0" i="0" u="sng" kern="1200" dirty="0">
                <a:solidFill>
                  <a:schemeClr val="tx1"/>
                </a:solidFill>
                <a:effectLst/>
                <a:latin typeface="+mn-lt"/>
                <a:ea typeface="+mn-ea"/>
                <a:cs typeface="+mn-cs"/>
                <a:hlinkClick r:id="rId5"/>
              </a:rPr>
              <a:t>Frankle and Carbin (2019)</a:t>
            </a:r>
            <a:r>
              <a:rPr lang="en-US" sz="1200" b="0" i="0" kern="1200" dirty="0">
                <a:solidFill>
                  <a:schemeClr val="tx1"/>
                </a:solidFill>
                <a:effectLst/>
                <a:latin typeface="+mn-lt"/>
                <a:ea typeface="+mn-ea"/>
                <a:cs typeface="+mn-cs"/>
              </a:rPr>
              <a:t> showed that pruning techniques can reduce the non-zero parameter counts of certain trained networks by over 90%, decreasing memory footprints and improving speed without compromising accuracy. However, in practice, as of this writing, pruning is less common. It’s harder to do, as it requires an understanding of the original model’s architecture, and the performance boost it can bring is often much less than that of other approaches. Pruning also results in sparse models, and not all hardware architectures are designed to take advantage of the resulting sparsity.</a:t>
            </a:r>
          </a:p>
          <a:p>
            <a:pPr fontAlgn="base"/>
            <a:r>
              <a:rPr lang="en-US" sz="1200" b="0" i="1" kern="1200" dirty="0">
                <a:solidFill>
                  <a:schemeClr val="tx1"/>
                </a:solidFill>
                <a:effectLst/>
                <a:latin typeface="+mn-lt"/>
                <a:ea typeface="+mn-ea"/>
                <a:cs typeface="+mn-cs"/>
              </a:rPr>
              <a:t>Weight-only quantization is by far the most popular approach since it’s easy to use, works out of the box for many models, and is extremely effective.</a:t>
            </a:r>
            <a:r>
              <a:rPr lang="en-US" sz="1200" b="0" i="0" kern="1200" dirty="0">
                <a:solidFill>
                  <a:schemeClr val="tx1"/>
                </a:solidFill>
                <a:effectLst/>
                <a:latin typeface="+mn-lt"/>
                <a:ea typeface="+mn-ea"/>
                <a:cs typeface="+mn-cs"/>
              </a:rPr>
              <a:t> Reducing a model’s precision from 32 bits to 16 bits reduces its memory footprint by half. However, we’re close to the limit of quantization—we can’t go lower than 1 bit per value. Distillation is also common because it can result in a smaller model whose behavior is comparative to that of a much larger one for your needs.</a:t>
            </a:r>
          </a:p>
          <a:p>
            <a:endParaRPr lang="es-CL" dirty="0"/>
          </a:p>
        </p:txBody>
      </p:sp>
      <p:sp>
        <p:nvSpPr>
          <p:cNvPr id="4" name="Marcador de número de diapositiva 3">
            <a:extLst>
              <a:ext uri="{FF2B5EF4-FFF2-40B4-BE49-F238E27FC236}">
                <a16:creationId xmlns:a16="http://schemas.microsoft.com/office/drawing/2014/main" id="{0B0346EC-F286-D481-90E0-87E7DC9A5E90}"/>
              </a:ext>
            </a:extLst>
          </p:cNvPr>
          <p:cNvSpPr>
            <a:spLocks noGrp="1"/>
          </p:cNvSpPr>
          <p:nvPr>
            <p:ph type="sldNum" sz="quarter" idx="5"/>
          </p:nvPr>
        </p:nvSpPr>
        <p:spPr/>
        <p:txBody>
          <a:bodyPr/>
          <a:lstStyle/>
          <a:p>
            <a:fld id="{2107F482-7FF7-4DD4-AE91-ACA70D5B43D5}" type="slidenum">
              <a:rPr lang="es-CL" smtClean="0"/>
              <a:t>7</a:t>
            </a:fld>
            <a:endParaRPr lang="es-CL"/>
          </a:p>
        </p:txBody>
      </p:sp>
    </p:spTree>
    <p:extLst>
      <p:ext uri="{BB962C8B-B14F-4D97-AF65-F5344CB8AC3E}">
        <p14:creationId xmlns:p14="http://schemas.microsoft.com/office/powerpoint/2010/main" val="33360394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D1CEB3-5675-98F6-5555-EE13E992A564}"/>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L"/>
          </a:p>
        </p:txBody>
      </p:sp>
      <p:sp>
        <p:nvSpPr>
          <p:cNvPr id="3" name="Subtítulo 2">
            <a:extLst>
              <a:ext uri="{FF2B5EF4-FFF2-40B4-BE49-F238E27FC236}">
                <a16:creationId xmlns:a16="http://schemas.microsoft.com/office/drawing/2014/main" id="{F07ADF84-13F9-5B39-43F1-14E7D8EA089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L"/>
          </a:p>
        </p:txBody>
      </p:sp>
      <p:sp>
        <p:nvSpPr>
          <p:cNvPr id="4" name="Marcador de fecha 3">
            <a:extLst>
              <a:ext uri="{FF2B5EF4-FFF2-40B4-BE49-F238E27FC236}">
                <a16:creationId xmlns:a16="http://schemas.microsoft.com/office/drawing/2014/main" id="{49FA3DF8-0758-BF8A-9304-ECC31709A5D7}"/>
              </a:ext>
            </a:extLst>
          </p:cNvPr>
          <p:cNvSpPr>
            <a:spLocks noGrp="1"/>
          </p:cNvSpPr>
          <p:nvPr>
            <p:ph type="dt" sz="half" idx="10"/>
          </p:nvPr>
        </p:nvSpPr>
        <p:spPr/>
        <p:txBody>
          <a:bodyPr/>
          <a:lstStyle/>
          <a:p>
            <a:fld id="{E8BDA46D-A1A7-4D05-A86A-5A57D57622A5}" type="datetimeFigureOut">
              <a:rPr lang="es-CL" smtClean="0"/>
              <a:t>16-06-2026</a:t>
            </a:fld>
            <a:endParaRPr lang="es-CL"/>
          </a:p>
        </p:txBody>
      </p:sp>
      <p:sp>
        <p:nvSpPr>
          <p:cNvPr id="5" name="Marcador de pie de página 4">
            <a:extLst>
              <a:ext uri="{FF2B5EF4-FFF2-40B4-BE49-F238E27FC236}">
                <a16:creationId xmlns:a16="http://schemas.microsoft.com/office/drawing/2014/main" id="{E7A8AD70-F127-7BA6-5921-BCF78459803E}"/>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85809D2E-C8C8-DAE5-342D-7ACCCAC6D7F7}"/>
              </a:ext>
            </a:extLst>
          </p:cNvPr>
          <p:cNvSpPr>
            <a:spLocks noGrp="1"/>
          </p:cNvSpPr>
          <p:nvPr>
            <p:ph type="sldNum" sz="quarter" idx="12"/>
          </p:nvPr>
        </p:nvSpPr>
        <p:spPr/>
        <p:txBody>
          <a:bodyPr/>
          <a:lstStyle/>
          <a:p>
            <a:fld id="{5F02DCD1-67CD-4B9C-AF7C-A4846B367CA8}" type="slidenum">
              <a:rPr lang="es-CL" smtClean="0"/>
              <a:t>‹Nº›</a:t>
            </a:fld>
            <a:endParaRPr lang="es-CL"/>
          </a:p>
        </p:txBody>
      </p:sp>
    </p:spTree>
    <p:extLst>
      <p:ext uri="{BB962C8B-B14F-4D97-AF65-F5344CB8AC3E}">
        <p14:creationId xmlns:p14="http://schemas.microsoft.com/office/powerpoint/2010/main" val="40428069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3DC2BA7-F473-4377-62A9-34C365181649}"/>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12876B6C-F6ED-E8B4-6256-B671D382415E}"/>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FE376944-86DF-A06F-F26C-EEAE33302DCB}"/>
              </a:ext>
            </a:extLst>
          </p:cNvPr>
          <p:cNvSpPr>
            <a:spLocks noGrp="1"/>
          </p:cNvSpPr>
          <p:nvPr>
            <p:ph type="dt" sz="half" idx="10"/>
          </p:nvPr>
        </p:nvSpPr>
        <p:spPr/>
        <p:txBody>
          <a:bodyPr/>
          <a:lstStyle/>
          <a:p>
            <a:fld id="{E8BDA46D-A1A7-4D05-A86A-5A57D57622A5}" type="datetimeFigureOut">
              <a:rPr lang="es-CL" smtClean="0"/>
              <a:t>16-06-2026</a:t>
            </a:fld>
            <a:endParaRPr lang="es-CL"/>
          </a:p>
        </p:txBody>
      </p:sp>
      <p:sp>
        <p:nvSpPr>
          <p:cNvPr id="5" name="Marcador de pie de página 4">
            <a:extLst>
              <a:ext uri="{FF2B5EF4-FFF2-40B4-BE49-F238E27FC236}">
                <a16:creationId xmlns:a16="http://schemas.microsoft.com/office/drawing/2014/main" id="{8842D504-2579-A803-D017-38F414D8F925}"/>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FB44F6F1-3475-DF5A-171D-90C0A6361F33}"/>
              </a:ext>
            </a:extLst>
          </p:cNvPr>
          <p:cNvSpPr>
            <a:spLocks noGrp="1"/>
          </p:cNvSpPr>
          <p:nvPr>
            <p:ph type="sldNum" sz="quarter" idx="12"/>
          </p:nvPr>
        </p:nvSpPr>
        <p:spPr/>
        <p:txBody>
          <a:bodyPr/>
          <a:lstStyle/>
          <a:p>
            <a:fld id="{5F02DCD1-67CD-4B9C-AF7C-A4846B367CA8}" type="slidenum">
              <a:rPr lang="es-CL" smtClean="0"/>
              <a:t>‹Nº›</a:t>
            </a:fld>
            <a:endParaRPr lang="es-CL"/>
          </a:p>
        </p:txBody>
      </p:sp>
    </p:spTree>
    <p:extLst>
      <p:ext uri="{BB962C8B-B14F-4D97-AF65-F5344CB8AC3E}">
        <p14:creationId xmlns:p14="http://schemas.microsoft.com/office/powerpoint/2010/main" val="27195890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29EE0DC-FE41-207B-B5D4-12044E8D9BC5}"/>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265E523B-DBFD-D95C-BDA2-AF438B18FAA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100A689A-2C60-C5ED-1F57-27748FB82FCF}"/>
              </a:ext>
            </a:extLst>
          </p:cNvPr>
          <p:cNvSpPr>
            <a:spLocks noGrp="1"/>
          </p:cNvSpPr>
          <p:nvPr>
            <p:ph type="dt" sz="half" idx="10"/>
          </p:nvPr>
        </p:nvSpPr>
        <p:spPr/>
        <p:txBody>
          <a:bodyPr/>
          <a:lstStyle/>
          <a:p>
            <a:fld id="{E8BDA46D-A1A7-4D05-A86A-5A57D57622A5}" type="datetimeFigureOut">
              <a:rPr lang="es-CL" smtClean="0"/>
              <a:t>16-06-2026</a:t>
            </a:fld>
            <a:endParaRPr lang="es-CL"/>
          </a:p>
        </p:txBody>
      </p:sp>
      <p:sp>
        <p:nvSpPr>
          <p:cNvPr id="5" name="Marcador de pie de página 4">
            <a:extLst>
              <a:ext uri="{FF2B5EF4-FFF2-40B4-BE49-F238E27FC236}">
                <a16:creationId xmlns:a16="http://schemas.microsoft.com/office/drawing/2014/main" id="{18E6A1D8-E528-4BB5-3D0E-DD599C20DD16}"/>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A22BCB4D-49C6-4998-F409-6029A291DE8C}"/>
              </a:ext>
            </a:extLst>
          </p:cNvPr>
          <p:cNvSpPr>
            <a:spLocks noGrp="1"/>
          </p:cNvSpPr>
          <p:nvPr>
            <p:ph type="sldNum" sz="quarter" idx="12"/>
          </p:nvPr>
        </p:nvSpPr>
        <p:spPr/>
        <p:txBody>
          <a:bodyPr/>
          <a:lstStyle/>
          <a:p>
            <a:fld id="{5F02DCD1-67CD-4B9C-AF7C-A4846B367CA8}" type="slidenum">
              <a:rPr lang="es-CL" smtClean="0"/>
              <a:t>‹Nº›</a:t>
            </a:fld>
            <a:endParaRPr lang="es-CL"/>
          </a:p>
        </p:txBody>
      </p:sp>
    </p:spTree>
    <p:extLst>
      <p:ext uri="{BB962C8B-B14F-4D97-AF65-F5344CB8AC3E}">
        <p14:creationId xmlns:p14="http://schemas.microsoft.com/office/powerpoint/2010/main" val="10407022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431A91A-3147-1537-3F76-79772FA41546}"/>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F3C01651-05BC-1EC6-A58E-575D048EC2FA}"/>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contenido 3">
            <a:extLst>
              <a:ext uri="{FF2B5EF4-FFF2-40B4-BE49-F238E27FC236}">
                <a16:creationId xmlns:a16="http://schemas.microsoft.com/office/drawing/2014/main" id="{55082018-B822-A183-DA4B-1C3D16A49C4B}"/>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fecha 4">
            <a:extLst>
              <a:ext uri="{FF2B5EF4-FFF2-40B4-BE49-F238E27FC236}">
                <a16:creationId xmlns:a16="http://schemas.microsoft.com/office/drawing/2014/main" id="{A6F26C75-9BEB-D6DB-5431-6309AC889347}"/>
              </a:ext>
            </a:extLst>
          </p:cNvPr>
          <p:cNvSpPr>
            <a:spLocks noGrp="1"/>
          </p:cNvSpPr>
          <p:nvPr>
            <p:ph type="dt" sz="half" idx="10"/>
          </p:nvPr>
        </p:nvSpPr>
        <p:spPr/>
        <p:txBody>
          <a:bodyPr/>
          <a:lstStyle/>
          <a:p>
            <a:fld id="{E8BDA46D-A1A7-4D05-A86A-5A57D57622A5}" type="datetimeFigureOut">
              <a:rPr lang="es-CL" smtClean="0"/>
              <a:t>16-06-2026</a:t>
            </a:fld>
            <a:endParaRPr lang="es-CL"/>
          </a:p>
        </p:txBody>
      </p:sp>
      <p:sp>
        <p:nvSpPr>
          <p:cNvPr id="6" name="Marcador de pie de página 5">
            <a:extLst>
              <a:ext uri="{FF2B5EF4-FFF2-40B4-BE49-F238E27FC236}">
                <a16:creationId xmlns:a16="http://schemas.microsoft.com/office/drawing/2014/main" id="{D071B78F-8C40-BEB7-3CA1-D48366C1C4D4}"/>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27D4D4F6-B884-C893-0AE7-0BD236FC0A3F}"/>
              </a:ext>
            </a:extLst>
          </p:cNvPr>
          <p:cNvSpPr>
            <a:spLocks noGrp="1"/>
          </p:cNvSpPr>
          <p:nvPr>
            <p:ph type="sldNum" sz="quarter" idx="12"/>
          </p:nvPr>
        </p:nvSpPr>
        <p:spPr/>
        <p:txBody>
          <a:bodyPr/>
          <a:lstStyle/>
          <a:p>
            <a:fld id="{5F02DCD1-67CD-4B9C-AF7C-A4846B367CA8}" type="slidenum">
              <a:rPr lang="es-CL" smtClean="0"/>
              <a:t>‹Nº›</a:t>
            </a:fld>
            <a:endParaRPr lang="es-CL"/>
          </a:p>
        </p:txBody>
      </p:sp>
    </p:spTree>
    <p:extLst>
      <p:ext uri="{BB962C8B-B14F-4D97-AF65-F5344CB8AC3E}">
        <p14:creationId xmlns:p14="http://schemas.microsoft.com/office/powerpoint/2010/main" val="31968844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928DA5D-9DAA-85F9-8663-3F4CFE4F13BC}"/>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06CA55E1-B5F5-EAF9-B7FE-D45D79747C3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7C121A24-CF2D-161C-0F6E-E25010C9830E}"/>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texto 4">
            <a:extLst>
              <a:ext uri="{FF2B5EF4-FFF2-40B4-BE49-F238E27FC236}">
                <a16:creationId xmlns:a16="http://schemas.microsoft.com/office/drawing/2014/main" id="{C20F6704-DF9F-D96E-863C-22E02CAD624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208E114D-20FF-505F-3AC7-DFA59AC8F45F}"/>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7" name="Marcador de fecha 6">
            <a:extLst>
              <a:ext uri="{FF2B5EF4-FFF2-40B4-BE49-F238E27FC236}">
                <a16:creationId xmlns:a16="http://schemas.microsoft.com/office/drawing/2014/main" id="{321214F7-5555-5155-7348-E210F99F0EF8}"/>
              </a:ext>
            </a:extLst>
          </p:cNvPr>
          <p:cNvSpPr>
            <a:spLocks noGrp="1"/>
          </p:cNvSpPr>
          <p:nvPr>
            <p:ph type="dt" sz="half" idx="10"/>
          </p:nvPr>
        </p:nvSpPr>
        <p:spPr/>
        <p:txBody>
          <a:bodyPr/>
          <a:lstStyle/>
          <a:p>
            <a:fld id="{E8BDA46D-A1A7-4D05-A86A-5A57D57622A5}" type="datetimeFigureOut">
              <a:rPr lang="es-CL" smtClean="0"/>
              <a:t>16-06-2026</a:t>
            </a:fld>
            <a:endParaRPr lang="es-CL"/>
          </a:p>
        </p:txBody>
      </p:sp>
      <p:sp>
        <p:nvSpPr>
          <p:cNvPr id="8" name="Marcador de pie de página 7">
            <a:extLst>
              <a:ext uri="{FF2B5EF4-FFF2-40B4-BE49-F238E27FC236}">
                <a16:creationId xmlns:a16="http://schemas.microsoft.com/office/drawing/2014/main" id="{C2C5D59F-5FAC-9631-CDC3-84D27C41472A}"/>
              </a:ext>
            </a:extLst>
          </p:cNvPr>
          <p:cNvSpPr>
            <a:spLocks noGrp="1"/>
          </p:cNvSpPr>
          <p:nvPr>
            <p:ph type="ftr" sz="quarter" idx="11"/>
          </p:nvPr>
        </p:nvSpPr>
        <p:spPr/>
        <p:txBody>
          <a:bodyPr/>
          <a:lstStyle/>
          <a:p>
            <a:endParaRPr lang="es-CL"/>
          </a:p>
        </p:txBody>
      </p:sp>
      <p:sp>
        <p:nvSpPr>
          <p:cNvPr id="9" name="Marcador de número de diapositiva 8">
            <a:extLst>
              <a:ext uri="{FF2B5EF4-FFF2-40B4-BE49-F238E27FC236}">
                <a16:creationId xmlns:a16="http://schemas.microsoft.com/office/drawing/2014/main" id="{321995D8-D632-D10E-8AFF-26E5C8098BB9}"/>
              </a:ext>
            </a:extLst>
          </p:cNvPr>
          <p:cNvSpPr>
            <a:spLocks noGrp="1"/>
          </p:cNvSpPr>
          <p:nvPr>
            <p:ph type="sldNum" sz="quarter" idx="12"/>
          </p:nvPr>
        </p:nvSpPr>
        <p:spPr/>
        <p:txBody>
          <a:bodyPr/>
          <a:lstStyle/>
          <a:p>
            <a:fld id="{5F02DCD1-67CD-4B9C-AF7C-A4846B367CA8}" type="slidenum">
              <a:rPr lang="es-CL" smtClean="0"/>
              <a:t>‹Nº›</a:t>
            </a:fld>
            <a:endParaRPr lang="es-CL"/>
          </a:p>
        </p:txBody>
      </p:sp>
    </p:spTree>
    <p:extLst>
      <p:ext uri="{BB962C8B-B14F-4D97-AF65-F5344CB8AC3E}">
        <p14:creationId xmlns:p14="http://schemas.microsoft.com/office/powerpoint/2010/main" val="371272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5B870B8-34B8-37DC-89DB-47FC09CC5D80}"/>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fecha 2">
            <a:extLst>
              <a:ext uri="{FF2B5EF4-FFF2-40B4-BE49-F238E27FC236}">
                <a16:creationId xmlns:a16="http://schemas.microsoft.com/office/drawing/2014/main" id="{BB0F1EB3-E9A9-3C8D-7E75-A95C59BF31B0}"/>
              </a:ext>
            </a:extLst>
          </p:cNvPr>
          <p:cNvSpPr>
            <a:spLocks noGrp="1"/>
          </p:cNvSpPr>
          <p:nvPr>
            <p:ph type="dt" sz="half" idx="10"/>
          </p:nvPr>
        </p:nvSpPr>
        <p:spPr/>
        <p:txBody>
          <a:bodyPr/>
          <a:lstStyle/>
          <a:p>
            <a:fld id="{E8BDA46D-A1A7-4D05-A86A-5A57D57622A5}" type="datetimeFigureOut">
              <a:rPr lang="es-CL" smtClean="0"/>
              <a:t>16-06-2026</a:t>
            </a:fld>
            <a:endParaRPr lang="es-CL"/>
          </a:p>
        </p:txBody>
      </p:sp>
      <p:sp>
        <p:nvSpPr>
          <p:cNvPr id="4" name="Marcador de pie de página 3">
            <a:extLst>
              <a:ext uri="{FF2B5EF4-FFF2-40B4-BE49-F238E27FC236}">
                <a16:creationId xmlns:a16="http://schemas.microsoft.com/office/drawing/2014/main" id="{6337F6A3-CB35-F37A-A6DA-88C9FF448CC1}"/>
              </a:ext>
            </a:extLst>
          </p:cNvPr>
          <p:cNvSpPr>
            <a:spLocks noGrp="1"/>
          </p:cNvSpPr>
          <p:nvPr>
            <p:ph type="ftr" sz="quarter" idx="11"/>
          </p:nvPr>
        </p:nvSpPr>
        <p:spPr/>
        <p:txBody>
          <a:bodyPr/>
          <a:lstStyle/>
          <a:p>
            <a:endParaRPr lang="es-CL"/>
          </a:p>
        </p:txBody>
      </p:sp>
      <p:sp>
        <p:nvSpPr>
          <p:cNvPr id="5" name="Marcador de número de diapositiva 4">
            <a:extLst>
              <a:ext uri="{FF2B5EF4-FFF2-40B4-BE49-F238E27FC236}">
                <a16:creationId xmlns:a16="http://schemas.microsoft.com/office/drawing/2014/main" id="{3C4C9290-251F-B1E0-AEAA-710A3CB53E84}"/>
              </a:ext>
            </a:extLst>
          </p:cNvPr>
          <p:cNvSpPr>
            <a:spLocks noGrp="1"/>
          </p:cNvSpPr>
          <p:nvPr>
            <p:ph type="sldNum" sz="quarter" idx="12"/>
          </p:nvPr>
        </p:nvSpPr>
        <p:spPr/>
        <p:txBody>
          <a:bodyPr/>
          <a:lstStyle/>
          <a:p>
            <a:fld id="{5F02DCD1-67CD-4B9C-AF7C-A4846B367CA8}" type="slidenum">
              <a:rPr lang="es-CL" smtClean="0"/>
              <a:t>‹Nº›</a:t>
            </a:fld>
            <a:endParaRPr lang="es-CL"/>
          </a:p>
        </p:txBody>
      </p:sp>
    </p:spTree>
    <p:extLst>
      <p:ext uri="{BB962C8B-B14F-4D97-AF65-F5344CB8AC3E}">
        <p14:creationId xmlns:p14="http://schemas.microsoft.com/office/powerpoint/2010/main" val="9712299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781B6F75-8539-FB15-F03B-E2523D1BB972}"/>
              </a:ext>
            </a:extLst>
          </p:cNvPr>
          <p:cNvSpPr>
            <a:spLocks noGrp="1"/>
          </p:cNvSpPr>
          <p:nvPr>
            <p:ph type="dt" sz="half" idx="10"/>
          </p:nvPr>
        </p:nvSpPr>
        <p:spPr/>
        <p:txBody>
          <a:bodyPr/>
          <a:lstStyle/>
          <a:p>
            <a:fld id="{E8BDA46D-A1A7-4D05-A86A-5A57D57622A5}" type="datetimeFigureOut">
              <a:rPr lang="es-CL" smtClean="0"/>
              <a:t>16-06-2026</a:t>
            </a:fld>
            <a:endParaRPr lang="es-CL"/>
          </a:p>
        </p:txBody>
      </p:sp>
      <p:sp>
        <p:nvSpPr>
          <p:cNvPr id="3" name="Marcador de pie de página 2">
            <a:extLst>
              <a:ext uri="{FF2B5EF4-FFF2-40B4-BE49-F238E27FC236}">
                <a16:creationId xmlns:a16="http://schemas.microsoft.com/office/drawing/2014/main" id="{F8725444-0A64-F2BF-CE6D-C96D6C237478}"/>
              </a:ext>
            </a:extLst>
          </p:cNvPr>
          <p:cNvSpPr>
            <a:spLocks noGrp="1"/>
          </p:cNvSpPr>
          <p:nvPr>
            <p:ph type="ftr" sz="quarter" idx="11"/>
          </p:nvPr>
        </p:nvSpPr>
        <p:spPr/>
        <p:txBody>
          <a:bodyPr/>
          <a:lstStyle/>
          <a:p>
            <a:endParaRPr lang="es-CL"/>
          </a:p>
        </p:txBody>
      </p:sp>
      <p:sp>
        <p:nvSpPr>
          <p:cNvPr id="4" name="Marcador de número de diapositiva 3">
            <a:extLst>
              <a:ext uri="{FF2B5EF4-FFF2-40B4-BE49-F238E27FC236}">
                <a16:creationId xmlns:a16="http://schemas.microsoft.com/office/drawing/2014/main" id="{B1A95120-3AD7-2633-1852-99868A08E105}"/>
              </a:ext>
            </a:extLst>
          </p:cNvPr>
          <p:cNvSpPr>
            <a:spLocks noGrp="1"/>
          </p:cNvSpPr>
          <p:nvPr>
            <p:ph type="sldNum" sz="quarter" idx="12"/>
          </p:nvPr>
        </p:nvSpPr>
        <p:spPr/>
        <p:txBody>
          <a:bodyPr/>
          <a:lstStyle/>
          <a:p>
            <a:fld id="{5F02DCD1-67CD-4B9C-AF7C-A4846B367CA8}" type="slidenum">
              <a:rPr lang="es-CL" smtClean="0"/>
              <a:t>‹Nº›</a:t>
            </a:fld>
            <a:endParaRPr lang="es-CL"/>
          </a:p>
        </p:txBody>
      </p:sp>
    </p:spTree>
    <p:extLst>
      <p:ext uri="{BB962C8B-B14F-4D97-AF65-F5344CB8AC3E}">
        <p14:creationId xmlns:p14="http://schemas.microsoft.com/office/powerpoint/2010/main" val="2915767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3D67FF6-55E8-496C-BCC4-4D7B40336D73}"/>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AA28B327-F8C2-0B0D-FCA9-41E590A062E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texto 3">
            <a:extLst>
              <a:ext uri="{FF2B5EF4-FFF2-40B4-BE49-F238E27FC236}">
                <a16:creationId xmlns:a16="http://schemas.microsoft.com/office/drawing/2014/main" id="{C374743E-45A5-85D0-4052-5B42C3C077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67AA9CE0-4EF9-BCF9-74C2-CFE7CCCA4E61}"/>
              </a:ext>
            </a:extLst>
          </p:cNvPr>
          <p:cNvSpPr>
            <a:spLocks noGrp="1"/>
          </p:cNvSpPr>
          <p:nvPr>
            <p:ph type="dt" sz="half" idx="10"/>
          </p:nvPr>
        </p:nvSpPr>
        <p:spPr/>
        <p:txBody>
          <a:bodyPr/>
          <a:lstStyle/>
          <a:p>
            <a:fld id="{E8BDA46D-A1A7-4D05-A86A-5A57D57622A5}" type="datetimeFigureOut">
              <a:rPr lang="es-CL" smtClean="0"/>
              <a:t>16-06-2026</a:t>
            </a:fld>
            <a:endParaRPr lang="es-CL"/>
          </a:p>
        </p:txBody>
      </p:sp>
      <p:sp>
        <p:nvSpPr>
          <p:cNvPr id="6" name="Marcador de pie de página 5">
            <a:extLst>
              <a:ext uri="{FF2B5EF4-FFF2-40B4-BE49-F238E27FC236}">
                <a16:creationId xmlns:a16="http://schemas.microsoft.com/office/drawing/2014/main" id="{31A8C77C-C8E9-8F00-1622-EC17987D85CA}"/>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9FBA34C7-982A-2E74-0F17-C8063BB65B07}"/>
              </a:ext>
            </a:extLst>
          </p:cNvPr>
          <p:cNvSpPr>
            <a:spLocks noGrp="1"/>
          </p:cNvSpPr>
          <p:nvPr>
            <p:ph type="sldNum" sz="quarter" idx="12"/>
          </p:nvPr>
        </p:nvSpPr>
        <p:spPr/>
        <p:txBody>
          <a:bodyPr/>
          <a:lstStyle/>
          <a:p>
            <a:fld id="{5F02DCD1-67CD-4B9C-AF7C-A4846B367CA8}" type="slidenum">
              <a:rPr lang="es-CL" smtClean="0"/>
              <a:t>‹Nº›</a:t>
            </a:fld>
            <a:endParaRPr lang="es-CL"/>
          </a:p>
        </p:txBody>
      </p:sp>
    </p:spTree>
    <p:extLst>
      <p:ext uri="{BB962C8B-B14F-4D97-AF65-F5344CB8AC3E}">
        <p14:creationId xmlns:p14="http://schemas.microsoft.com/office/powerpoint/2010/main" val="194461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A231788-80C1-18AA-49B2-00AA49AE72C8}"/>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posición de imagen 2">
            <a:extLst>
              <a:ext uri="{FF2B5EF4-FFF2-40B4-BE49-F238E27FC236}">
                <a16:creationId xmlns:a16="http://schemas.microsoft.com/office/drawing/2014/main" id="{B19EDF4D-E446-21A3-5193-EA3AA3FD2A9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L"/>
          </a:p>
        </p:txBody>
      </p:sp>
      <p:sp>
        <p:nvSpPr>
          <p:cNvPr id="4" name="Marcador de texto 3">
            <a:extLst>
              <a:ext uri="{FF2B5EF4-FFF2-40B4-BE49-F238E27FC236}">
                <a16:creationId xmlns:a16="http://schemas.microsoft.com/office/drawing/2014/main" id="{C22F1C9E-17FA-6C7E-F214-0530F189A4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681A0B5E-955F-3A5F-84DE-EE873021AD65}"/>
              </a:ext>
            </a:extLst>
          </p:cNvPr>
          <p:cNvSpPr>
            <a:spLocks noGrp="1"/>
          </p:cNvSpPr>
          <p:nvPr>
            <p:ph type="dt" sz="half" idx="10"/>
          </p:nvPr>
        </p:nvSpPr>
        <p:spPr/>
        <p:txBody>
          <a:bodyPr/>
          <a:lstStyle/>
          <a:p>
            <a:fld id="{E8BDA46D-A1A7-4D05-A86A-5A57D57622A5}" type="datetimeFigureOut">
              <a:rPr lang="es-CL" smtClean="0"/>
              <a:t>16-06-2026</a:t>
            </a:fld>
            <a:endParaRPr lang="es-CL"/>
          </a:p>
        </p:txBody>
      </p:sp>
      <p:sp>
        <p:nvSpPr>
          <p:cNvPr id="6" name="Marcador de pie de página 5">
            <a:extLst>
              <a:ext uri="{FF2B5EF4-FFF2-40B4-BE49-F238E27FC236}">
                <a16:creationId xmlns:a16="http://schemas.microsoft.com/office/drawing/2014/main" id="{82FDB288-42E2-730F-3EC2-75CDD0F07093}"/>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459CA278-6D6E-B2A8-B1E4-9F7DA302E9DC}"/>
              </a:ext>
            </a:extLst>
          </p:cNvPr>
          <p:cNvSpPr>
            <a:spLocks noGrp="1"/>
          </p:cNvSpPr>
          <p:nvPr>
            <p:ph type="sldNum" sz="quarter" idx="12"/>
          </p:nvPr>
        </p:nvSpPr>
        <p:spPr/>
        <p:txBody>
          <a:bodyPr/>
          <a:lstStyle/>
          <a:p>
            <a:fld id="{5F02DCD1-67CD-4B9C-AF7C-A4846B367CA8}" type="slidenum">
              <a:rPr lang="es-CL" smtClean="0"/>
              <a:t>‹Nº›</a:t>
            </a:fld>
            <a:endParaRPr lang="es-CL"/>
          </a:p>
        </p:txBody>
      </p:sp>
    </p:spTree>
    <p:extLst>
      <p:ext uri="{BB962C8B-B14F-4D97-AF65-F5344CB8AC3E}">
        <p14:creationId xmlns:p14="http://schemas.microsoft.com/office/powerpoint/2010/main" val="8316433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5856C15-EF0C-C8A8-41F6-840E0E4336C8}"/>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texto vertical 2">
            <a:extLst>
              <a:ext uri="{FF2B5EF4-FFF2-40B4-BE49-F238E27FC236}">
                <a16:creationId xmlns:a16="http://schemas.microsoft.com/office/drawing/2014/main" id="{0A36D5AC-B824-2DA4-A083-1EEB7768DEAC}"/>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9920E341-3C14-25A1-76F8-8BC7FE23FF28}"/>
              </a:ext>
            </a:extLst>
          </p:cNvPr>
          <p:cNvSpPr>
            <a:spLocks noGrp="1"/>
          </p:cNvSpPr>
          <p:nvPr>
            <p:ph type="dt" sz="half" idx="10"/>
          </p:nvPr>
        </p:nvSpPr>
        <p:spPr/>
        <p:txBody>
          <a:bodyPr/>
          <a:lstStyle/>
          <a:p>
            <a:fld id="{E8BDA46D-A1A7-4D05-A86A-5A57D57622A5}" type="datetimeFigureOut">
              <a:rPr lang="es-CL" smtClean="0"/>
              <a:t>16-06-2026</a:t>
            </a:fld>
            <a:endParaRPr lang="es-CL"/>
          </a:p>
        </p:txBody>
      </p:sp>
      <p:sp>
        <p:nvSpPr>
          <p:cNvPr id="5" name="Marcador de pie de página 4">
            <a:extLst>
              <a:ext uri="{FF2B5EF4-FFF2-40B4-BE49-F238E27FC236}">
                <a16:creationId xmlns:a16="http://schemas.microsoft.com/office/drawing/2014/main" id="{CEC9B56E-2B7B-8C60-811D-12FE70B468E9}"/>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4650FC0E-77B0-E187-7241-8BE9332FF16D}"/>
              </a:ext>
            </a:extLst>
          </p:cNvPr>
          <p:cNvSpPr>
            <a:spLocks noGrp="1"/>
          </p:cNvSpPr>
          <p:nvPr>
            <p:ph type="sldNum" sz="quarter" idx="12"/>
          </p:nvPr>
        </p:nvSpPr>
        <p:spPr/>
        <p:txBody>
          <a:bodyPr/>
          <a:lstStyle/>
          <a:p>
            <a:fld id="{5F02DCD1-67CD-4B9C-AF7C-A4846B367CA8}" type="slidenum">
              <a:rPr lang="es-CL" smtClean="0"/>
              <a:t>‹Nº›</a:t>
            </a:fld>
            <a:endParaRPr lang="es-CL"/>
          </a:p>
        </p:txBody>
      </p:sp>
    </p:spTree>
    <p:extLst>
      <p:ext uri="{BB962C8B-B14F-4D97-AF65-F5344CB8AC3E}">
        <p14:creationId xmlns:p14="http://schemas.microsoft.com/office/powerpoint/2010/main" val="12029147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5F00424F-3FDF-9896-F8DF-EBF93BEF4D4D}"/>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L"/>
          </a:p>
        </p:txBody>
      </p:sp>
      <p:sp>
        <p:nvSpPr>
          <p:cNvPr id="3" name="Marcador de texto vertical 2">
            <a:extLst>
              <a:ext uri="{FF2B5EF4-FFF2-40B4-BE49-F238E27FC236}">
                <a16:creationId xmlns:a16="http://schemas.microsoft.com/office/drawing/2014/main" id="{8350F60B-440F-292F-888A-8EF62AA412C6}"/>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D14116BF-3104-AF5D-C0A8-E063AF706A11}"/>
              </a:ext>
            </a:extLst>
          </p:cNvPr>
          <p:cNvSpPr>
            <a:spLocks noGrp="1"/>
          </p:cNvSpPr>
          <p:nvPr>
            <p:ph type="dt" sz="half" idx="10"/>
          </p:nvPr>
        </p:nvSpPr>
        <p:spPr/>
        <p:txBody>
          <a:bodyPr/>
          <a:lstStyle/>
          <a:p>
            <a:fld id="{E8BDA46D-A1A7-4D05-A86A-5A57D57622A5}" type="datetimeFigureOut">
              <a:rPr lang="es-CL" smtClean="0"/>
              <a:t>16-06-2026</a:t>
            </a:fld>
            <a:endParaRPr lang="es-CL"/>
          </a:p>
        </p:txBody>
      </p:sp>
      <p:sp>
        <p:nvSpPr>
          <p:cNvPr id="5" name="Marcador de pie de página 4">
            <a:extLst>
              <a:ext uri="{FF2B5EF4-FFF2-40B4-BE49-F238E27FC236}">
                <a16:creationId xmlns:a16="http://schemas.microsoft.com/office/drawing/2014/main" id="{2E8F5DAA-9632-8650-11D1-4852CB9F0A65}"/>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01DD27B8-05BD-48E2-3B7C-2DF3A1DBBD5A}"/>
              </a:ext>
            </a:extLst>
          </p:cNvPr>
          <p:cNvSpPr>
            <a:spLocks noGrp="1"/>
          </p:cNvSpPr>
          <p:nvPr>
            <p:ph type="sldNum" sz="quarter" idx="12"/>
          </p:nvPr>
        </p:nvSpPr>
        <p:spPr/>
        <p:txBody>
          <a:bodyPr/>
          <a:lstStyle/>
          <a:p>
            <a:fld id="{5F02DCD1-67CD-4B9C-AF7C-A4846B367CA8}" type="slidenum">
              <a:rPr lang="es-CL" smtClean="0"/>
              <a:t>‹Nº›</a:t>
            </a:fld>
            <a:endParaRPr lang="es-CL"/>
          </a:p>
        </p:txBody>
      </p:sp>
    </p:spTree>
    <p:extLst>
      <p:ext uri="{BB962C8B-B14F-4D97-AF65-F5344CB8AC3E}">
        <p14:creationId xmlns:p14="http://schemas.microsoft.com/office/powerpoint/2010/main" val="25467320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9FE1D736-C504-F2D3-4D26-5C0C6D78972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CD32A4F1-8C91-29BD-B83A-D5ED13E399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77C91089-CE03-9300-C918-89BA1B7A9AD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BDA46D-A1A7-4D05-A86A-5A57D57622A5}" type="datetimeFigureOut">
              <a:rPr lang="es-CL" smtClean="0"/>
              <a:t>16-06-2026</a:t>
            </a:fld>
            <a:endParaRPr lang="es-CL"/>
          </a:p>
        </p:txBody>
      </p:sp>
      <p:sp>
        <p:nvSpPr>
          <p:cNvPr id="5" name="Marcador de pie de página 4">
            <a:extLst>
              <a:ext uri="{FF2B5EF4-FFF2-40B4-BE49-F238E27FC236}">
                <a16:creationId xmlns:a16="http://schemas.microsoft.com/office/drawing/2014/main" id="{FEE5FFC7-CC22-AA3D-8561-D011B9400C7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L"/>
          </a:p>
        </p:txBody>
      </p:sp>
      <p:sp>
        <p:nvSpPr>
          <p:cNvPr id="6" name="Marcador de número de diapositiva 5">
            <a:extLst>
              <a:ext uri="{FF2B5EF4-FFF2-40B4-BE49-F238E27FC236}">
                <a16:creationId xmlns:a16="http://schemas.microsoft.com/office/drawing/2014/main" id="{462EE7A9-3E52-92C2-1A3E-C180FB6A61F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F02DCD1-67CD-4B9C-AF7C-A4846B367CA8}" type="slidenum">
              <a:rPr lang="es-CL" smtClean="0"/>
              <a:t>‹Nº›</a:t>
            </a:fld>
            <a:endParaRPr lang="es-CL"/>
          </a:p>
        </p:txBody>
      </p:sp>
    </p:spTree>
    <p:extLst>
      <p:ext uri="{BB962C8B-B14F-4D97-AF65-F5344CB8AC3E}">
        <p14:creationId xmlns:p14="http://schemas.microsoft.com/office/powerpoint/2010/main" val="23656023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64C5055-DE28-A84E-9FB5-12A3C43AF46E}"/>
              </a:ext>
            </a:extLst>
          </p:cNvPr>
          <p:cNvSpPr>
            <a:spLocks noGrp="1"/>
          </p:cNvSpPr>
          <p:nvPr>
            <p:ph type="ctrTitle"/>
          </p:nvPr>
        </p:nvSpPr>
        <p:spPr>
          <a:xfrm>
            <a:off x="1524000" y="1569403"/>
            <a:ext cx="9144000" cy="2387600"/>
          </a:xfrm>
        </p:spPr>
        <p:txBody>
          <a:bodyPr/>
          <a:lstStyle/>
          <a:p>
            <a:r>
              <a:rPr lang="es-MX" i="1" dirty="0"/>
              <a:t>Ingeniería de soluciones con AI</a:t>
            </a:r>
            <a:endParaRPr lang="es-CL" i="1" dirty="0"/>
          </a:p>
        </p:txBody>
      </p:sp>
      <p:sp>
        <p:nvSpPr>
          <p:cNvPr id="3" name="Subtítulo 2">
            <a:extLst>
              <a:ext uri="{FF2B5EF4-FFF2-40B4-BE49-F238E27FC236}">
                <a16:creationId xmlns:a16="http://schemas.microsoft.com/office/drawing/2014/main" id="{9C898086-6830-28E7-5F70-A1C13B3A9DBB}"/>
              </a:ext>
            </a:extLst>
          </p:cNvPr>
          <p:cNvSpPr>
            <a:spLocks noGrp="1"/>
          </p:cNvSpPr>
          <p:nvPr>
            <p:ph type="subTitle" idx="1"/>
          </p:nvPr>
        </p:nvSpPr>
        <p:spPr>
          <a:xfrm>
            <a:off x="9763760" y="5788758"/>
            <a:ext cx="2585194" cy="675639"/>
          </a:xfrm>
        </p:spPr>
        <p:txBody>
          <a:bodyPr>
            <a:normAutofit lnSpcReduction="10000"/>
          </a:bodyPr>
          <a:lstStyle/>
          <a:p>
            <a:pPr algn="l"/>
            <a:r>
              <a:rPr lang="es-MX" sz="1800" b="1" i="1" dirty="0"/>
              <a:t>Docente:</a:t>
            </a:r>
          </a:p>
          <a:p>
            <a:pPr algn="l"/>
            <a:r>
              <a:rPr lang="es-MX" sz="1800" i="1" dirty="0"/>
              <a:t>Francisco Macaya</a:t>
            </a:r>
            <a:endParaRPr lang="es-CL" sz="1800" i="1" dirty="0"/>
          </a:p>
        </p:txBody>
      </p:sp>
      <p:pic>
        <p:nvPicPr>
          <p:cNvPr id="1026" name="Picture 2" descr="Duoc UC - Learn Chile">
            <a:extLst>
              <a:ext uri="{FF2B5EF4-FFF2-40B4-BE49-F238E27FC236}">
                <a16:creationId xmlns:a16="http://schemas.microsoft.com/office/drawing/2014/main" id="{EFAFD388-37C4-B6E5-0BD9-7194363299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sp>
        <p:nvSpPr>
          <p:cNvPr id="4" name="Subtítulo 2">
            <a:extLst>
              <a:ext uri="{FF2B5EF4-FFF2-40B4-BE49-F238E27FC236}">
                <a16:creationId xmlns:a16="http://schemas.microsoft.com/office/drawing/2014/main" id="{289FDFC1-9135-D283-EA5A-9264421DCA54}"/>
              </a:ext>
            </a:extLst>
          </p:cNvPr>
          <p:cNvSpPr txBox="1">
            <a:spLocks/>
          </p:cNvSpPr>
          <p:nvPr/>
        </p:nvSpPr>
        <p:spPr>
          <a:xfrm>
            <a:off x="5345302" y="5971981"/>
            <a:ext cx="2585194" cy="67563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s-MX" sz="1800" i="1" dirty="0"/>
              <a:t>Semestre 2026-1</a:t>
            </a:r>
            <a:endParaRPr lang="es-CL" sz="1800" i="1" dirty="0"/>
          </a:p>
        </p:txBody>
      </p:sp>
    </p:spTree>
    <p:extLst>
      <p:ext uri="{BB962C8B-B14F-4D97-AF65-F5344CB8AC3E}">
        <p14:creationId xmlns:p14="http://schemas.microsoft.com/office/powerpoint/2010/main" val="28177939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6B9C1B-8EF6-B55A-EE5E-6D59A8FDE4B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9048FB6-76E1-6D98-9686-F75B09235F9E}"/>
              </a:ext>
            </a:extLst>
          </p:cNvPr>
          <p:cNvSpPr>
            <a:spLocks noGrp="1"/>
          </p:cNvSpPr>
          <p:nvPr>
            <p:ph type="title"/>
          </p:nvPr>
        </p:nvSpPr>
        <p:spPr>
          <a:xfrm>
            <a:off x="335833" y="67153"/>
            <a:ext cx="10846393" cy="1577458"/>
          </a:xfrm>
        </p:spPr>
        <p:txBody>
          <a:bodyPr>
            <a:normAutofit/>
          </a:bodyPr>
          <a:lstStyle/>
          <a:p>
            <a:r>
              <a:rPr lang="es-MX" sz="3200" i="1" dirty="0"/>
              <a:t> </a:t>
            </a:r>
            <a:r>
              <a:rPr lang="es-MX" sz="3200" b="1" i="1" dirty="0" err="1"/>
              <a:t>LangSmith</a:t>
            </a:r>
            <a:r>
              <a:rPr lang="es-MX" sz="3200" b="1" i="1" dirty="0"/>
              <a:t> </a:t>
            </a:r>
            <a:r>
              <a:rPr lang="es-MX" sz="3200" b="1" i="1" dirty="0" err="1"/>
              <a:t>Engine</a:t>
            </a:r>
            <a:r>
              <a:rPr lang="es-MX" sz="3200" i="1" dirty="0"/>
              <a:t>: “Los agentes se ajustan solos”</a:t>
            </a:r>
            <a:endParaRPr lang="es-CL" sz="3200" i="1" dirty="0"/>
          </a:p>
        </p:txBody>
      </p:sp>
      <p:pic>
        <p:nvPicPr>
          <p:cNvPr id="4" name="Picture 2" descr="Duoc UC - Learn Chile">
            <a:extLst>
              <a:ext uri="{FF2B5EF4-FFF2-40B4-BE49-F238E27FC236}">
                <a16:creationId xmlns:a16="http://schemas.microsoft.com/office/drawing/2014/main" id="{8399B515-A3A5-91B5-F9FA-7557AB18BD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4BB7EA74-5569-428A-C3E8-89A637365715}"/>
              </a:ext>
            </a:extLst>
          </p:cNvPr>
          <p:cNvSpPr txBox="1"/>
          <p:nvPr/>
        </p:nvSpPr>
        <p:spPr>
          <a:xfrm>
            <a:off x="335833" y="6318774"/>
            <a:ext cx="7019818" cy="369332"/>
          </a:xfrm>
          <a:prstGeom prst="rect">
            <a:avLst/>
          </a:prstGeom>
          <a:noFill/>
        </p:spPr>
        <p:txBody>
          <a:bodyPr wrap="square">
            <a:spAutoFit/>
          </a:bodyPr>
          <a:lstStyle/>
          <a:p>
            <a:r>
              <a:rPr lang="es-CL" b="1" dirty="0"/>
              <a:t>Notas: </a:t>
            </a:r>
            <a:r>
              <a:rPr lang="es-CL" dirty="0"/>
              <a:t>https://www.langchain.com/blog/introducing-langsmith-engine</a:t>
            </a:r>
          </a:p>
        </p:txBody>
      </p:sp>
      <p:pic>
        <p:nvPicPr>
          <p:cNvPr id="9" name="Imagen 8">
            <a:extLst>
              <a:ext uri="{FF2B5EF4-FFF2-40B4-BE49-F238E27FC236}">
                <a16:creationId xmlns:a16="http://schemas.microsoft.com/office/drawing/2014/main" id="{784D59F6-59A9-B1F0-EAC1-B7BD52684174}"/>
              </a:ext>
            </a:extLst>
          </p:cNvPr>
          <p:cNvPicPr>
            <a:picLocks noChangeAspect="1"/>
          </p:cNvPicPr>
          <p:nvPr/>
        </p:nvPicPr>
        <p:blipFill>
          <a:blip r:embed="rId4"/>
          <a:stretch>
            <a:fillRect/>
          </a:stretch>
        </p:blipFill>
        <p:spPr>
          <a:xfrm>
            <a:off x="1941815" y="1370323"/>
            <a:ext cx="8520433" cy="4876531"/>
          </a:xfrm>
          <a:prstGeom prst="rect">
            <a:avLst/>
          </a:prstGeom>
        </p:spPr>
      </p:pic>
    </p:spTree>
    <p:extLst>
      <p:ext uri="{BB962C8B-B14F-4D97-AF65-F5344CB8AC3E}">
        <p14:creationId xmlns:p14="http://schemas.microsoft.com/office/powerpoint/2010/main" val="17778753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8D0D4A-DB59-A1FE-6ED4-576985F6926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6B6ACD9-5A3D-2AB4-3EAC-23E0FAD9BCA5}"/>
              </a:ext>
            </a:extLst>
          </p:cNvPr>
          <p:cNvSpPr>
            <a:spLocks noGrp="1"/>
          </p:cNvSpPr>
          <p:nvPr>
            <p:ph type="title"/>
          </p:nvPr>
        </p:nvSpPr>
        <p:spPr>
          <a:xfrm>
            <a:off x="335833" y="67153"/>
            <a:ext cx="10846393" cy="1577458"/>
          </a:xfrm>
        </p:spPr>
        <p:txBody>
          <a:bodyPr>
            <a:normAutofit/>
          </a:bodyPr>
          <a:lstStyle/>
          <a:p>
            <a:r>
              <a:rPr lang="es-MX" sz="3200" i="1" dirty="0"/>
              <a:t> </a:t>
            </a:r>
            <a:r>
              <a:rPr lang="es-MX" sz="3200" b="1" i="1" dirty="0" err="1"/>
              <a:t>LangSmith</a:t>
            </a:r>
            <a:r>
              <a:rPr lang="es-MX" sz="3200" b="1" i="1" dirty="0"/>
              <a:t> </a:t>
            </a:r>
            <a:r>
              <a:rPr lang="es-MX" sz="3200" b="1" i="1" dirty="0" err="1"/>
              <a:t>Engine</a:t>
            </a:r>
            <a:r>
              <a:rPr lang="es-MX" sz="3200" i="1" dirty="0"/>
              <a:t>: ¿Cuáles son los patrones?</a:t>
            </a:r>
            <a:endParaRPr lang="es-CL" sz="3200" i="1" dirty="0"/>
          </a:p>
        </p:txBody>
      </p:sp>
      <p:pic>
        <p:nvPicPr>
          <p:cNvPr id="4" name="Picture 2" descr="Duoc UC - Learn Chile">
            <a:extLst>
              <a:ext uri="{FF2B5EF4-FFF2-40B4-BE49-F238E27FC236}">
                <a16:creationId xmlns:a16="http://schemas.microsoft.com/office/drawing/2014/main" id="{8ED5433A-6952-A473-0AD5-DC7B03B542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sp>
        <p:nvSpPr>
          <p:cNvPr id="3" name="Rectángulo 2">
            <a:extLst>
              <a:ext uri="{FF2B5EF4-FFF2-40B4-BE49-F238E27FC236}">
                <a16:creationId xmlns:a16="http://schemas.microsoft.com/office/drawing/2014/main" id="{686BDFDA-4DBD-7036-A4B8-057DD084B110}"/>
              </a:ext>
            </a:extLst>
          </p:cNvPr>
          <p:cNvSpPr/>
          <p:nvPr/>
        </p:nvSpPr>
        <p:spPr>
          <a:xfrm>
            <a:off x="5012440" y="1452343"/>
            <a:ext cx="4809654" cy="83220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Trace your agent to understand what it's doing</a:t>
            </a:r>
            <a:r>
              <a:rPr lang="es-MX" dirty="0">
                <a:solidFill>
                  <a:schemeClr val="tx1"/>
                </a:solidFill>
              </a:rPr>
              <a:t> </a:t>
            </a:r>
            <a:endParaRPr lang="es-CL" dirty="0">
              <a:solidFill>
                <a:schemeClr val="tx1"/>
              </a:solidFill>
            </a:endParaRPr>
          </a:p>
        </p:txBody>
      </p:sp>
      <p:sp>
        <p:nvSpPr>
          <p:cNvPr id="5" name="Rectángulo 4">
            <a:extLst>
              <a:ext uri="{FF2B5EF4-FFF2-40B4-BE49-F238E27FC236}">
                <a16:creationId xmlns:a16="http://schemas.microsoft.com/office/drawing/2014/main" id="{D3476461-AD43-B8EE-3BA5-CF51FF82454F}"/>
              </a:ext>
            </a:extLst>
          </p:cNvPr>
          <p:cNvSpPr/>
          <p:nvPr/>
        </p:nvSpPr>
        <p:spPr>
          <a:xfrm>
            <a:off x="5012440" y="2494051"/>
            <a:ext cx="4809654" cy="83220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Identify patterns in failures or gaps in functionality</a:t>
            </a:r>
          </a:p>
        </p:txBody>
      </p:sp>
      <p:sp>
        <p:nvSpPr>
          <p:cNvPr id="7" name="Rectángulo 6">
            <a:extLst>
              <a:ext uri="{FF2B5EF4-FFF2-40B4-BE49-F238E27FC236}">
                <a16:creationId xmlns:a16="http://schemas.microsoft.com/office/drawing/2014/main" id="{0BB828CB-309F-50FD-FA7E-153B44149C5C}"/>
              </a:ext>
            </a:extLst>
          </p:cNvPr>
          <p:cNvSpPr/>
          <p:nvPr/>
        </p:nvSpPr>
        <p:spPr>
          <a:xfrm>
            <a:off x="5012440" y="3488034"/>
            <a:ext cx="4809654" cy="83220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Make changes to prompts, tools, logic, or structure</a:t>
            </a:r>
          </a:p>
        </p:txBody>
      </p:sp>
      <p:sp>
        <p:nvSpPr>
          <p:cNvPr id="8" name="Rectángulo 7">
            <a:extLst>
              <a:ext uri="{FF2B5EF4-FFF2-40B4-BE49-F238E27FC236}">
                <a16:creationId xmlns:a16="http://schemas.microsoft.com/office/drawing/2014/main" id="{5507E807-DD82-D365-DA53-840E1A0B39E1}"/>
              </a:ext>
            </a:extLst>
          </p:cNvPr>
          <p:cNvSpPr/>
          <p:nvPr/>
        </p:nvSpPr>
        <p:spPr>
          <a:xfrm>
            <a:off x="5012440" y="4529742"/>
            <a:ext cx="4809654" cy="83220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Create ground truth datasets from production traces</a:t>
            </a:r>
          </a:p>
        </p:txBody>
      </p:sp>
      <p:sp>
        <p:nvSpPr>
          <p:cNvPr id="10" name="Rectángulo 9">
            <a:extLst>
              <a:ext uri="{FF2B5EF4-FFF2-40B4-BE49-F238E27FC236}">
                <a16:creationId xmlns:a16="http://schemas.microsoft.com/office/drawing/2014/main" id="{BD1F4D12-C6DA-F7A3-0A93-BCA6357593EC}"/>
              </a:ext>
            </a:extLst>
          </p:cNvPr>
          <p:cNvSpPr/>
          <p:nvPr/>
        </p:nvSpPr>
        <p:spPr>
          <a:xfrm>
            <a:off x="5012440" y="5523725"/>
            <a:ext cx="4801456" cy="83220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Run experiments to confirm improvements and check for regressions and then ship and repeat</a:t>
            </a:r>
          </a:p>
        </p:txBody>
      </p:sp>
      <p:sp>
        <p:nvSpPr>
          <p:cNvPr id="11" name="Abrir llave 10">
            <a:extLst>
              <a:ext uri="{FF2B5EF4-FFF2-40B4-BE49-F238E27FC236}">
                <a16:creationId xmlns:a16="http://schemas.microsoft.com/office/drawing/2014/main" id="{BBE18225-C100-56A9-1148-6F63D60EA722}"/>
              </a:ext>
            </a:extLst>
          </p:cNvPr>
          <p:cNvSpPr/>
          <p:nvPr/>
        </p:nvSpPr>
        <p:spPr>
          <a:xfrm>
            <a:off x="4294598" y="1726388"/>
            <a:ext cx="243487" cy="4355497"/>
          </a:xfrm>
          <a:prstGeom prst="lef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L"/>
          </a:p>
        </p:txBody>
      </p:sp>
      <p:sp>
        <p:nvSpPr>
          <p:cNvPr id="13" name="CuadroTexto 12">
            <a:extLst>
              <a:ext uri="{FF2B5EF4-FFF2-40B4-BE49-F238E27FC236}">
                <a16:creationId xmlns:a16="http://schemas.microsoft.com/office/drawing/2014/main" id="{87D4551F-F9B6-749A-25E8-984F7146C8A1}"/>
              </a:ext>
            </a:extLst>
          </p:cNvPr>
          <p:cNvSpPr txBox="1"/>
          <p:nvPr/>
        </p:nvSpPr>
        <p:spPr>
          <a:xfrm>
            <a:off x="2074856" y="3669740"/>
            <a:ext cx="6097712" cy="369332"/>
          </a:xfrm>
          <a:prstGeom prst="rect">
            <a:avLst/>
          </a:prstGeom>
          <a:noFill/>
        </p:spPr>
        <p:txBody>
          <a:bodyPr wrap="square">
            <a:spAutoFit/>
          </a:bodyPr>
          <a:lstStyle/>
          <a:p>
            <a:r>
              <a:rPr lang="es-MX" i="1" dirty="0"/>
              <a:t>Ciclo de los agentes</a:t>
            </a:r>
            <a:endParaRPr lang="es-CL" dirty="0"/>
          </a:p>
        </p:txBody>
      </p:sp>
    </p:spTree>
    <p:extLst>
      <p:ext uri="{BB962C8B-B14F-4D97-AF65-F5344CB8AC3E}">
        <p14:creationId xmlns:p14="http://schemas.microsoft.com/office/powerpoint/2010/main" val="14268091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842365-96C5-528A-9D27-46774226C71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6A7CAC8-CBED-AB91-9898-EAC4E7CBB195}"/>
              </a:ext>
            </a:extLst>
          </p:cNvPr>
          <p:cNvSpPr>
            <a:spLocks noGrp="1"/>
          </p:cNvSpPr>
          <p:nvPr>
            <p:ph type="title"/>
          </p:nvPr>
        </p:nvSpPr>
        <p:spPr>
          <a:xfrm>
            <a:off x="335833" y="67153"/>
            <a:ext cx="10846393" cy="1577458"/>
          </a:xfrm>
        </p:spPr>
        <p:txBody>
          <a:bodyPr>
            <a:normAutofit/>
          </a:bodyPr>
          <a:lstStyle/>
          <a:p>
            <a:r>
              <a:rPr lang="es-MX" sz="3200" i="1" dirty="0"/>
              <a:t> </a:t>
            </a:r>
            <a:r>
              <a:rPr lang="es-MX" sz="3200" b="1" i="1" dirty="0" err="1"/>
              <a:t>LangSmith</a:t>
            </a:r>
            <a:r>
              <a:rPr lang="es-MX" sz="3200" b="1" i="1" dirty="0"/>
              <a:t> </a:t>
            </a:r>
            <a:r>
              <a:rPr lang="es-MX" sz="3200" b="1" i="1" dirty="0" err="1"/>
              <a:t>Engine</a:t>
            </a:r>
            <a:r>
              <a:rPr lang="es-MX" sz="3200" i="1" dirty="0"/>
              <a:t>: ¿Cómo realmente luce?</a:t>
            </a:r>
            <a:endParaRPr lang="es-CL" sz="3200" i="1" dirty="0"/>
          </a:p>
        </p:txBody>
      </p:sp>
      <p:pic>
        <p:nvPicPr>
          <p:cNvPr id="4" name="Picture 2" descr="Duoc UC - Learn Chile">
            <a:extLst>
              <a:ext uri="{FF2B5EF4-FFF2-40B4-BE49-F238E27FC236}">
                <a16:creationId xmlns:a16="http://schemas.microsoft.com/office/drawing/2014/main" id="{F62875CC-D39F-2961-DC8A-E4CA1022A2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pic>
        <p:nvPicPr>
          <p:cNvPr id="9" name="Imagen 8">
            <a:extLst>
              <a:ext uri="{FF2B5EF4-FFF2-40B4-BE49-F238E27FC236}">
                <a16:creationId xmlns:a16="http://schemas.microsoft.com/office/drawing/2014/main" id="{6B2BF8CC-560F-0AE6-446A-DA194B44831A}"/>
              </a:ext>
            </a:extLst>
          </p:cNvPr>
          <p:cNvPicPr>
            <a:picLocks noChangeAspect="1"/>
          </p:cNvPicPr>
          <p:nvPr/>
        </p:nvPicPr>
        <p:blipFill>
          <a:blip r:embed="rId4"/>
          <a:stretch>
            <a:fillRect/>
          </a:stretch>
        </p:blipFill>
        <p:spPr>
          <a:xfrm>
            <a:off x="736123" y="1323771"/>
            <a:ext cx="10719753" cy="4881818"/>
          </a:xfrm>
          <a:prstGeom prst="rect">
            <a:avLst/>
          </a:prstGeom>
        </p:spPr>
      </p:pic>
    </p:spTree>
    <p:extLst>
      <p:ext uri="{BB962C8B-B14F-4D97-AF65-F5344CB8AC3E}">
        <p14:creationId xmlns:p14="http://schemas.microsoft.com/office/powerpoint/2010/main" val="41584399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26484-9AC5-1C2A-8EA9-28BD4AD6097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780F195-115D-0D44-3AA9-C284C81E13E1}"/>
              </a:ext>
            </a:extLst>
          </p:cNvPr>
          <p:cNvSpPr>
            <a:spLocks noGrp="1"/>
          </p:cNvSpPr>
          <p:nvPr>
            <p:ph type="title"/>
          </p:nvPr>
        </p:nvSpPr>
        <p:spPr>
          <a:xfrm>
            <a:off x="335833" y="67153"/>
            <a:ext cx="10846393" cy="1577458"/>
          </a:xfrm>
        </p:spPr>
        <p:txBody>
          <a:bodyPr>
            <a:normAutofit/>
          </a:bodyPr>
          <a:lstStyle/>
          <a:p>
            <a:r>
              <a:rPr lang="es-MX" sz="3200" i="1" dirty="0"/>
              <a:t> </a:t>
            </a:r>
            <a:r>
              <a:rPr lang="es-MX" sz="3200" b="1" i="1" dirty="0" err="1"/>
              <a:t>LangSmith</a:t>
            </a:r>
            <a:r>
              <a:rPr lang="es-MX" sz="3200" b="1" i="1" dirty="0"/>
              <a:t> </a:t>
            </a:r>
            <a:r>
              <a:rPr lang="es-MX" sz="3200" b="1" i="1" dirty="0" err="1"/>
              <a:t>Engine</a:t>
            </a:r>
            <a:r>
              <a:rPr lang="es-MX" sz="3200" i="1" dirty="0"/>
              <a:t>: El ciclo se cierra.</a:t>
            </a:r>
            <a:endParaRPr lang="es-CL" sz="3200" i="1" dirty="0"/>
          </a:p>
        </p:txBody>
      </p:sp>
      <p:pic>
        <p:nvPicPr>
          <p:cNvPr id="4" name="Picture 2" descr="Duoc UC - Learn Chile">
            <a:extLst>
              <a:ext uri="{FF2B5EF4-FFF2-40B4-BE49-F238E27FC236}">
                <a16:creationId xmlns:a16="http://schemas.microsoft.com/office/drawing/2014/main" id="{D99FD1B9-2D6C-3E1F-4F94-531DBB545C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pic>
        <p:nvPicPr>
          <p:cNvPr id="7" name="Imagen 6">
            <a:extLst>
              <a:ext uri="{FF2B5EF4-FFF2-40B4-BE49-F238E27FC236}">
                <a16:creationId xmlns:a16="http://schemas.microsoft.com/office/drawing/2014/main" id="{C474D211-D3B4-97A0-C789-4E070DBD6EF2}"/>
              </a:ext>
            </a:extLst>
          </p:cNvPr>
          <p:cNvPicPr>
            <a:picLocks noChangeAspect="1"/>
          </p:cNvPicPr>
          <p:nvPr/>
        </p:nvPicPr>
        <p:blipFill>
          <a:blip r:embed="rId4"/>
          <a:stretch>
            <a:fillRect/>
          </a:stretch>
        </p:blipFill>
        <p:spPr>
          <a:xfrm>
            <a:off x="2773562" y="1412591"/>
            <a:ext cx="6390986" cy="4877925"/>
          </a:xfrm>
          <a:prstGeom prst="rect">
            <a:avLst/>
          </a:prstGeom>
        </p:spPr>
      </p:pic>
      <p:sp>
        <p:nvSpPr>
          <p:cNvPr id="8" name="CuadroTexto 7">
            <a:extLst>
              <a:ext uri="{FF2B5EF4-FFF2-40B4-BE49-F238E27FC236}">
                <a16:creationId xmlns:a16="http://schemas.microsoft.com/office/drawing/2014/main" id="{1AB73836-677F-39F4-B962-58DAD10D1205}"/>
              </a:ext>
            </a:extLst>
          </p:cNvPr>
          <p:cNvSpPr txBox="1"/>
          <p:nvPr/>
        </p:nvSpPr>
        <p:spPr>
          <a:xfrm>
            <a:off x="335833" y="6318774"/>
            <a:ext cx="7019818" cy="369332"/>
          </a:xfrm>
          <a:prstGeom prst="rect">
            <a:avLst/>
          </a:prstGeom>
          <a:noFill/>
        </p:spPr>
        <p:txBody>
          <a:bodyPr wrap="square">
            <a:spAutoFit/>
          </a:bodyPr>
          <a:lstStyle/>
          <a:p>
            <a:r>
              <a:rPr lang="es-CL" b="1" dirty="0"/>
              <a:t>Notas: </a:t>
            </a:r>
            <a:r>
              <a:rPr lang="es-CL" dirty="0"/>
              <a:t>https://www.langchain.com/blog/introducing-langsmith-engine</a:t>
            </a:r>
          </a:p>
        </p:txBody>
      </p:sp>
    </p:spTree>
    <p:extLst>
      <p:ext uri="{BB962C8B-B14F-4D97-AF65-F5344CB8AC3E}">
        <p14:creationId xmlns:p14="http://schemas.microsoft.com/office/powerpoint/2010/main" val="40442411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FCF7C0-2A4D-48F4-C5AC-BCCD973212E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16DB288-D081-6078-813A-AD29DD9A65F0}"/>
              </a:ext>
            </a:extLst>
          </p:cNvPr>
          <p:cNvSpPr>
            <a:spLocks noGrp="1"/>
          </p:cNvSpPr>
          <p:nvPr>
            <p:ph type="title"/>
          </p:nvPr>
        </p:nvSpPr>
        <p:spPr>
          <a:xfrm>
            <a:off x="335833" y="67153"/>
            <a:ext cx="10846393" cy="1577458"/>
          </a:xfrm>
        </p:spPr>
        <p:txBody>
          <a:bodyPr>
            <a:normAutofit/>
          </a:bodyPr>
          <a:lstStyle/>
          <a:p>
            <a:r>
              <a:rPr lang="es-MX" sz="3200" i="1" dirty="0"/>
              <a:t>Cuesta al menos </a:t>
            </a:r>
            <a:r>
              <a:rPr lang="es-MX" sz="3200" b="1" i="1" dirty="0"/>
              <a:t>50 dólares </a:t>
            </a:r>
            <a:r>
              <a:rPr lang="es-MX" sz="3200" i="1" dirty="0"/>
              <a:t>…</a:t>
            </a:r>
            <a:endParaRPr lang="es-CL" sz="3200" i="1" dirty="0"/>
          </a:p>
        </p:txBody>
      </p:sp>
      <p:pic>
        <p:nvPicPr>
          <p:cNvPr id="4" name="Picture 2" descr="Duoc UC - Learn Chile">
            <a:extLst>
              <a:ext uri="{FF2B5EF4-FFF2-40B4-BE49-F238E27FC236}">
                <a16:creationId xmlns:a16="http://schemas.microsoft.com/office/drawing/2014/main" id="{72900045-FDA8-685A-47EA-239779525C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sp>
        <p:nvSpPr>
          <p:cNvPr id="5" name="CuadroTexto 4">
            <a:extLst>
              <a:ext uri="{FF2B5EF4-FFF2-40B4-BE49-F238E27FC236}">
                <a16:creationId xmlns:a16="http://schemas.microsoft.com/office/drawing/2014/main" id="{0A677638-6C36-34E1-2779-C403F2B76C94}"/>
              </a:ext>
            </a:extLst>
          </p:cNvPr>
          <p:cNvSpPr txBox="1"/>
          <p:nvPr/>
        </p:nvSpPr>
        <p:spPr>
          <a:xfrm>
            <a:off x="3047144" y="1387757"/>
            <a:ext cx="6097712" cy="830997"/>
          </a:xfrm>
          <a:prstGeom prst="rect">
            <a:avLst/>
          </a:prstGeom>
          <a:noFill/>
        </p:spPr>
        <p:txBody>
          <a:bodyPr wrap="square">
            <a:spAutoFit/>
          </a:bodyPr>
          <a:lstStyle/>
          <a:p>
            <a:pPr algn="ctr"/>
            <a:r>
              <a:rPr lang="es-MX" sz="1800" i="1" dirty="0"/>
              <a:t> </a:t>
            </a:r>
            <a:r>
              <a:rPr lang="es-MX" sz="2400" i="1" dirty="0"/>
              <a:t>¿Que realmente hay detrás de </a:t>
            </a:r>
            <a:r>
              <a:rPr lang="es-MX" sz="2400" b="1" i="1" dirty="0" err="1"/>
              <a:t>LangSmith</a:t>
            </a:r>
            <a:r>
              <a:rPr lang="es-MX" sz="2400" b="1" i="1" dirty="0"/>
              <a:t> </a:t>
            </a:r>
            <a:r>
              <a:rPr lang="es-MX" sz="2400" b="1" i="1" dirty="0" err="1"/>
              <a:t>Engine</a:t>
            </a:r>
            <a:r>
              <a:rPr lang="es-MX" sz="2400" b="1" i="1" dirty="0"/>
              <a:t>?</a:t>
            </a:r>
            <a:endParaRPr lang="es-CL" dirty="0"/>
          </a:p>
        </p:txBody>
      </p:sp>
      <p:sp>
        <p:nvSpPr>
          <p:cNvPr id="9" name="CuadroTexto 8">
            <a:extLst>
              <a:ext uri="{FF2B5EF4-FFF2-40B4-BE49-F238E27FC236}">
                <a16:creationId xmlns:a16="http://schemas.microsoft.com/office/drawing/2014/main" id="{395542AC-3394-1E08-399B-8F80D8A24F2D}"/>
              </a:ext>
            </a:extLst>
          </p:cNvPr>
          <p:cNvSpPr txBox="1"/>
          <p:nvPr/>
        </p:nvSpPr>
        <p:spPr>
          <a:xfrm>
            <a:off x="1923407" y="2399289"/>
            <a:ext cx="8899989" cy="3970318"/>
          </a:xfrm>
          <a:prstGeom prst="rect">
            <a:avLst/>
          </a:prstGeom>
          <a:noFill/>
        </p:spPr>
        <p:txBody>
          <a:bodyPr wrap="square">
            <a:spAutoFit/>
          </a:bodyPr>
          <a:lstStyle/>
          <a:p>
            <a:pPr algn="l">
              <a:buNone/>
            </a:pPr>
            <a:r>
              <a:rPr lang="en-US" b="0" i="0" dirty="0" err="1">
                <a:effectLst/>
                <a:latin typeface="Twklausanne"/>
              </a:rPr>
              <a:t>LangSmith</a:t>
            </a:r>
            <a:r>
              <a:rPr lang="en-US" b="0" i="0" dirty="0">
                <a:effectLst/>
                <a:latin typeface="Twklausanne"/>
              </a:rPr>
              <a:t> Engine is powered by a </a:t>
            </a:r>
            <a:r>
              <a:rPr lang="en-US" b="1" i="0" dirty="0">
                <a:effectLst/>
                <a:latin typeface="Twklausanne"/>
              </a:rPr>
              <a:t>deep agent </a:t>
            </a:r>
            <a:r>
              <a:rPr lang="en-US" b="0" i="0" dirty="0">
                <a:effectLst/>
                <a:latin typeface="Twklausanne"/>
              </a:rPr>
              <a:t>that has access to your </a:t>
            </a:r>
            <a:r>
              <a:rPr lang="en-US" b="1" i="0" dirty="0">
                <a:effectLst/>
                <a:latin typeface="Twklausanne"/>
              </a:rPr>
              <a:t>trace data, evaluator feedback, and your agent's source code </a:t>
            </a:r>
            <a:r>
              <a:rPr lang="en-US" b="0" i="0" dirty="0">
                <a:effectLst/>
                <a:latin typeface="Twklausanne"/>
              </a:rPr>
              <a:t>(if connected to your repo).</a:t>
            </a:r>
          </a:p>
          <a:p>
            <a:pPr algn="l">
              <a:buNone/>
            </a:pPr>
            <a:endParaRPr lang="en-US" b="0" i="0" dirty="0">
              <a:effectLst/>
              <a:latin typeface="Twklausanne"/>
            </a:endParaRPr>
          </a:p>
          <a:p>
            <a:pPr algn="l">
              <a:buNone/>
            </a:pPr>
            <a:r>
              <a:rPr lang="en-US" b="0" i="0" dirty="0">
                <a:effectLst/>
                <a:latin typeface="Twklausanne"/>
              </a:rPr>
              <a:t>It </a:t>
            </a:r>
            <a:r>
              <a:rPr lang="en-US" b="1" i="0" dirty="0">
                <a:effectLst/>
                <a:latin typeface="Twklausanne"/>
              </a:rPr>
              <a:t>monitors traces for several signal types</a:t>
            </a:r>
            <a:r>
              <a:rPr lang="en-US" b="0" i="0" dirty="0">
                <a:effectLst/>
                <a:latin typeface="Twklausanne"/>
              </a:rPr>
              <a:t>: explicit errors (tool call failures, timeouts), online evaluator failures, trace anomalies (latency spikes, token blowouts, unexpected step counts), negative user feedback, and unusual behaviors like users asking questions the agent wasn't built to answer. </a:t>
            </a:r>
            <a:r>
              <a:rPr lang="en-US" b="1" i="0" dirty="0">
                <a:effectLst/>
                <a:latin typeface="Twklausanne"/>
              </a:rPr>
              <a:t>When Engine spots a pattern across multiple traces, it clusters them into a single named issue rather than surfacing each failure individually.</a:t>
            </a:r>
          </a:p>
          <a:p>
            <a:pPr algn="l">
              <a:buNone/>
            </a:pPr>
            <a:endParaRPr lang="en-US" b="0" i="0" dirty="0">
              <a:effectLst/>
              <a:latin typeface="Twklausanne"/>
            </a:endParaRPr>
          </a:p>
          <a:p>
            <a:pPr algn="l">
              <a:buNone/>
            </a:pPr>
            <a:r>
              <a:rPr lang="en-US" b="0" i="0" dirty="0" err="1">
                <a:effectLst/>
                <a:latin typeface="Twklausanne"/>
              </a:rPr>
              <a:t>LangSmith</a:t>
            </a:r>
            <a:r>
              <a:rPr lang="en-US" b="0" i="0" dirty="0">
                <a:effectLst/>
                <a:latin typeface="Twklausanne"/>
              </a:rPr>
              <a:t> Engine is built on top of </a:t>
            </a:r>
            <a:r>
              <a:rPr lang="en-US" b="0" i="0" dirty="0" err="1">
                <a:effectLst/>
                <a:latin typeface="Twklausanne"/>
              </a:rPr>
              <a:t>LangSmith's</a:t>
            </a:r>
            <a:r>
              <a:rPr lang="en-US" b="0" i="0" dirty="0">
                <a:effectLst/>
                <a:latin typeface="Twklausanne"/>
              </a:rPr>
              <a:t> existing tracing and evaluation infrastructure. It uses your existing evaluator results as inputs, so failures your evals catch feed directly into issue detection. When Engine proposes a new evaluator, it's because it detected a gap in your current coverage. When it creates a dataset example, it goes directly into your existing offline eval workflow.</a:t>
            </a:r>
          </a:p>
        </p:txBody>
      </p:sp>
    </p:spTree>
    <p:extLst>
      <p:ext uri="{BB962C8B-B14F-4D97-AF65-F5344CB8AC3E}">
        <p14:creationId xmlns:p14="http://schemas.microsoft.com/office/powerpoint/2010/main" val="4925111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04FE5A-A720-FABC-A35B-0E91CA9B8D1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AA10E9E-BE67-E809-BC39-47CD10D012D0}"/>
              </a:ext>
            </a:extLst>
          </p:cNvPr>
          <p:cNvSpPr>
            <a:spLocks noGrp="1"/>
          </p:cNvSpPr>
          <p:nvPr>
            <p:ph type="title"/>
          </p:nvPr>
        </p:nvSpPr>
        <p:spPr>
          <a:xfrm>
            <a:off x="335828" y="287644"/>
            <a:ext cx="10846393" cy="1577458"/>
          </a:xfrm>
        </p:spPr>
        <p:txBody>
          <a:bodyPr>
            <a:normAutofit/>
          </a:bodyPr>
          <a:lstStyle/>
          <a:p>
            <a:r>
              <a:rPr lang="es-MX" sz="3200" b="1" i="1" dirty="0"/>
              <a:t>Etapa final: </a:t>
            </a:r>
            <a:r>
              <a:rPr lang="es-MX" sz="3200" i="1" dirty="0"/>
              <a:t>Las próximas actividades del semestre.</a:t>
            </a:r>
            <a:endParaRPr lang="es-CL" sz="3200" i="1" dirty="0"/>
          </a:p>
        </p:txBody>
      </p:sp>
      <p:pic>
        <p:nvPicPr>
          <p:cNvPr id="4" name="Picture 2" descr="Duoc UC - Learn Chile">
            <a:extLst>
              <a:ext uri="{FF2B5EF4-FFF2-40B4-BE49-F238E27FC236}">
                <a16:creationId xmlns:a16="http://schemas.microsoft.com/office/drawing/2014/main" id="{59F27593-246A-D31F-B6EF-C350166C79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sp>
        <p:nvSpPr>
          <p:cNvPr id="3" name="CuadroTexto 2">
            <a:extLst>
              <a:ext uri="{FF2B5EF4-FFF2-40B4-BE49-F238E27FC236}">
                <a16:creationId xmlns:a16="http://schemas.microsoft.com/office/drawing/2014/main" id="{C75704A4-D300-1630-1F02-C77CD543C024}"/>
              </a:ext>
            </a:extLst>
          </p:cNvPr>
          <p:cNvSpPr txBox="1"/>
          <p:nvPr/>
        </p:nvSpPr>
        <p:spPr>
          <a:xfrm>
            <a:off x="1309031" y="1996277"/>
            <a:ext cx="8899989" cy="369332"/>
          </a:xfrm>
          <a:prstGeom prst="rect">
            <a:avLst/>
          </a:prstGeom>
          <a:noFill/>
        </p:spPr>
        <p:txBody>
          <a:bodyPr wrap="square">
            <a:spAutoFit/>
          </a:bodyPr>
          <a:lstStyle/>
          <a:p>
            <a:pPr algn="l">
              <a:buNone/>
            </a:pPr>
            <a:r>
              <a:rPr lang="en-US" b="1" i="0" dirty="0">
                <a:effectLst/>
                <a:latin typeface="Twklausanne"/>
              </a:rPr>
              <a:t>16-06-2026</a:t>
            </a:r>
            <a:r>
              <a:rPr lang="en-US" b="0" i="0" dirty="0">
                <a:effectLst/>
                <a:latin typeface="Twklausanne"/>
              </a:rPr>
              <a:t>:  </a:t>
            </a:r>
            <a:r>
              <a:rPr lang="en-US" b="0" i="0" dirty="0" err="1">
                <a:effectLst/>
                <a:latin typeface="Twklausanne"/>
              </a:rPr>
              <a:t>LangSmith</a:t>
            </a:r>
            <a:r>
              <a:rPr lang="en-US" b="0" i="0" dirty="0">
                <a:effectLst/>
                <a:latin typeface="Twklausanne"/>
              </a:rPr>
              <a:t> </a:t>
            </a:r>
            <a:r>
              <a:rPr lang="en-US" b="0" i="0" dirty="0" err="1">
                <a:effectLst/>
                <a:latin typeface="Twklausanne"/>
              </a:rPr>
              <a:t>Enginer</a:t>
            </a:r>
            <a:r>
              <a:rPr lang="en-US" b="0" i="0" dirty="0">
                <a:effectLst/>
                <a:latin typeface="Twklausanne"/>
              </a:rPr>
              <a:t> + Avance del Proyecto</a:t>
            </a:r>
          </a:p>
        </p:txBody>
      </p:sp>
      <p:sp>
        <p:nvSpPr>
          <p:cNvPr id="6" name="CuadroTexto 5">
            <a:extLst>
              <a:ext uri="{FF2B5EF4-FFF2-40B4-BE49-F238E27FC236}">
                <a16:creationId xmlns:a16="http://schemas.microsoft.com/office/drawing/2014/main" id="{619308BF-3195-CA08-3705-F444F7269E20}"/>
              </a:ext>
            </a:extLst>
          </p:cNvPr>
          <p:cNvSpPr txBox="1"/>
          <p:nvPr/>
        </p:nvSpPr>
        <p:spPr>
          <a:xfrm>
            <a:off x="1309031" y="2797317"/>
            <a:ext cx="8899989" cy="369332"/>
          </a:xfrm>
          <a:prstGeom prst="rect">
            <a:avLst/>
          </a:prstGeom>
          <a:noFill/>
        </p:spPr>
        <p:txBody>
          <a:bodyPr wrap="square">
            <a:spAutoFit/>
          </a:bodyPr>
          <a:lstStyle/>
          <a:p>
            <a:pPr algn="l">
              <a:buNone/>
            </a:pPr>
            <a:r>
              <a:rPr lang="en-US" b="1" dirty="0">
                <a:latin typeface="Twklausanne"/>
              </a:rPr>
              <a:t>23</a:t>
            </a:r>
            <a:r>
              <a:rPr lang="en-US" b="1" i="0" dirty="0">
                <a:effectLst/>
                <a:latin typeface="Twklausanne"/>
              </a:rPr>
              <a:t>-06-2026</a:t>
            </a:r>
            <a:r>
              <a:rPr lang="en-US" b="0" i="0" dirty="0">
                <a:effectLst/>
                <a:latin typeface="Twklausanne"/>
              </a:rPr>
              <a:t>:  </a:t>
            </a:r>
            <a:r>
              <a:rPr lang="en-US" dirty="0">
                <a:latin typeface="Twklausanne"/>
              </a:rPr>
              <a:t>Clase </a:t>
            </a:r>
            <a:r>
              <a:rPr lang="en-US" dirty="0" err="1">
                <a:latin typeface="Twklausanne"/>
              </a:rPr>
              <a:t>sobre</a:t>
            </a:r>
            <a:r>
              <a:rPr lang="en-US" dirty="0">
                <a:latin typeface="Twklausanne"/>
              </a:rPr>
              <a:t> </a:t>
            </a:r>
            <a:r>
              <a:rPr lang="en-US" b="0" i="0" dirty="0">
                <a:effectLst/>
                <a:latin typeface="Twklausanne"/>
              </a:rPr>
              <a:t>Claude Code (Skills, MCP, </a:t>
            </a:r>
            <a:r>
              <a:rPr lang="en-US" b="0" i="0" dirty="0" err="1">
                <a:effectLst/>
                <a:latin typeface="Twklausanne"/>
              </a:rPr>
              <a:t>SubAgentes</a:t>
            </a:r>
            <a:r>
              <a:rPr lang="en-US" b="0" i="0" dirty="0">
                <a:effectLst/>
                <a:latin typeface="Twklausanne"/>
              </a:rPr>
              <a:t>)</a:t>
            </a:r>
          </a:p>
        </p:txBody>
      </p:sp>
      <p:sp>
        <p:nvSpPr>
          <p:cNvPr id="7" name="CuadroTexto 6">
            <a:extLst>
              <a:ext uri="{FF2B5EF4-FFF2-40B4-BE49-F238E27FC236}">
                <a16:creationId xmlns:a16="http://schemas.microsoft.com/office/drawing/2014/main" id="{D052E57A-29C2-A7C6-E18E-6D49FA0390E8}"/>
              </a:ext>
            </a:extLst>
          </p:cNvPr>
          <p:cNvSpPr txBox="1"/>
          <p:nvPr/>
        </p:nvSpPr>
        <p:spPr>
          <a:xfrm>
            <a:off x="1309032" y="3429000"/>
            <a:ext cx="8899989" cy="646331"/>
          </a:xfrm>
          <a:prstGeom prst="rect">
            <a:avLst/>
          </a:prstGeom>
          <a:noFill/>
        </p:spPr>
        <p:txBody>
          <a:bodyPr wrap="square">
            <a:spAutoFit/>
          </a:bodyPr>
          <a:lstStyle/>
          <a:p>
            <a:pPr algn="l">
              <a:buNone/>
            </a:pPr>
            <a:r>
              <a:rPr lang="en-US" b="1" i="0" dirty="0">
                <a:effectLst/>
                <a:latin typeface="Twklausanne"/>
              </a:rPr>
              <a:t>3</a:t>
            </a:r>
            <a:r>
              <a:rPr lang="en-US" b="1" dirty="0">
                <a:latin typeface="Twklausanne"/>
              </a:rPr>
              <a:t>0</a:t>
            </a:r>
            <a:r>
              <a:rPr lang="en-US" b="1" i="0" dirty="0">
                <a:effectLst/>
                <a:latin typeface="Twklausanne"/>
              </a:rPr>
              <a:t>-06-2026</a:t>
            </a:r>
            <a:r>
              <a:rPr lang="en-US" b="0" i="0" dirty="0">
                <a:effectLst/>
                <a:latin typeface="Twklausanne"/>
              </a:rPr>
              <a:t>:  </a:t>
            </a:r>
            <a:r>
              <a:rPr lang="en-US" b="0" i="0" dirty="0" err="1">
                <a:effectLst/>
                <a:latin typeface="Twklausanne"/>
              </a:rPr>
              <a:t>Sintesis</a:t>
            </a:r>
            <a:r>
              <a:rPr lang="en-US" b="0" i="0" dirty="0">
                <a:effectLst/>
                <a:latin typeface="Twklausanne"/>
              </a:rPr>
              <a:t> del modulo. </a:t>
            </a:r>
          </a:p>
          <a:p>
            <a:pPr algn="l">
              <a:buNone/>
            </a:pPr>
            <a:r>
              <a:rPr lang="en-US" dirty="0">
                <a:latin typeface="Twklausanne"/>
              </a:rPr>
              <a:t>                        -Presentación de la </a:t>
            </a:r>
            <a:r>
              <a:rPr lang="en-US" dirty="0" err="1">
                <a:latin typeface="Twklausanne"/>
              </a:rPr>
              <a:t>Evaluación</a:t>
            </a:r>
            <a:r>
              <a:rPr lang="en-US" dirty="0">
                <a:latin typeface="Twklausanne"/>
              </a:rPr>
              <a:t> 3 </a:t>
            </a:r>
            <a:r>
              <a:rPr lang="en-US" dirty="0" err="1">
                <a:latin typeface="Twklausanne"/>
              </a:rPr>
              <a:t>en</a:t>
            </a:r>
            <a:r>
              <a:rPr lang="en-US" dirty="0">
                <a:latin typeface="Twklausanne"/>
              </a:rPr>
              <a:t> la Plataforma.</a:t>
            </a:r>
            <a:r>
              <a:rPr lang="en-US" b="0" i="0" dirty="0">
                <a:effectLst/>
                <a:latin typeface="Twklausanne"/>
              </a:rPr>
              <a:t> </a:t>
            </a:r>
          </a:p>
        </p:txBody>
      </p:sp>
      <p:sp>
        <p:nvSpPr>
          <p:cNvPr id="8" name="CuadroTexto 7">
            <a:extLst>
              <a:ext uri="{FF2B5EF4-FFF2-40B4-BE49-F238E27FC236}">
                <a16:creationId xmlns:a16="http://schemas.microsoft.com/office/drawing/2014/main" id="{2721913B-D9BE-E528-9C04-BFC1BB3BFB00}"/>
              </a:ext>
            </a:extLst>
          </p:cNvPr>
          <p:cNvSpPr txBox="1"/>
          <p:nvPr/>
        </p:nvSpPr>
        <p:spPr>
          <a:xfrm>
            <a:off x="1309033" y="4337021"/>
            <a:ext cx="8899989" cy="646331"/>
          </a:xfrm>
          <a:prstGeom prst="rect">
            <a:avLst/>
          </a:prstGeom>
          <a:noFill/>
        </p:spPr>
        <p:txBody>
          <a:bodyPr wrap="square">
            <a:spAutoFit/>
          </a:bodyPr>
          <a:lstStyle/>
          <a:p>
            <a:pPr algn="l">
              <a:buNone/>
            </a:pPr>
            <a:r>
              <a:rPr lang="en-US" b="1" dirty="0">
                <a:latin typeface="Twklausanne"/>
              </a:rPr>
              <a:t>07</a:t>
            </a:r>
            <a:r>
              <a:rPr lang="en-US" b="1" i="0" dirty="0">
                <a:effectLst/>
                <a:latin typeface="Twklausanne"/>
              </a:rPr>
              <a:t>-07-2026</a:t>
            </a:r>
            <a:r>
              <a:rPr lang="en-US" b="0" i="0" dirty="0">
                <a:effectLst/>
                <a:latin typeface="Twklausanne"/>
              </a:rPr>
              <a:t>: </a:t>
            </a:r>
            <a:r>
              <a:rPr lang="en-US" dirty="0">
                <a:latin typeface="Twklausanne"/>
              </a:rPr>
              <a:t>Presentación del Examen Final, </a:t>
            </a:r>
            <a:r>
              <a:rPr lang="en-US" dirty="0" err="1">
                <a:latin typeface="Twklausanne"/>
              </a:rPr>
              <a:t>donde</a:t>
            </a:r>
            <a:r>
              <a:rPr lang="en-US" dirty="0">
                <a:latin typeface="Twklausanne"/>
              </a:rPr>
              <a:t> </a:t>
            </a:r>
            <a:r>
              <a:rPr lang="en-US" dirty="0" err="1">
                <a:latin typeface="Twklausanne"/>
              </a:rPr>
              <a:t>cada</a:t>
            </a:r>
            <a:r>
              <a:rPr lang="en-US" dirty="0">
                <a:latin typeface="Twklausanne"/>
              </a:rPr>
              <a:t> </a:t>
            </a:r>
            <a:r>
              <a:rPr lang="en-US" dirty="0" err="1">
                <a:latin typeface="Twklausanne"/>
              </a:rPr>
              <a:t>grupo</a:t>
            </a:r>
            <a:r>
              <a:rPr lang="en-US" dirty="0">
                <a:latin typeface="Twklausanne"/>
              </a:rPr>
              <a:t> entre 5 a 10 </a:t>
            </a:r>
            <a:r>
              <a:rPr lang="en-US" dirty="0" err="1">
                <a:latin typeface="Twklausanne"/>
              </a:rPr>
              <a:t>minutos</a:t>
            </a:r>
            <a:r>
              <a:rPr lang="en-US" dirty="0">
                <a:latin typeface="Twklausanne"/>
              </a:rPr>
              <a:t> para </a:t>
            </a:r>
            <a:r>
              <a:rPr lang="en-US" dirty="0" err="1">
                <a:latin typeface="Twklausanne"/>
              </a:rPr>
              <a:t>su</a:t>
            </a:r>
            <a:r>
              <a:rPr lang="en-US" dirty="0">
                <a:latin typeface="Twklausanne"/>
              </a:rPr>
              <a:t> </a:t>
            </a:r>
            <a:r>
              <a:rPr lang="en-US" dirty="0" err="1">
                <a:latin typeface="Twklausanne"/>
              </a:rPr>
              <a:t>presentación</a:t>
            </a:r>
            <a:r>
              <a:rPr lang="en-US" dirty="0">
                <a:latin typeface="Twklausanne"/>
              </a:rPr>
              <a:t>.</a:t>
            </a:r>
            <a:endParaRPr lang="en-US" b="0" i="0" dirty="0">
              <a:effectLst/>
              <a:latin typeface="Twklausanne"/>
            </a:endParaRPr>
          </a:p>
        </p:txBody>
      </p:sp>
    </p:spTree>
    <p:extLst>
      <p:ext uri="{BB962C8B-B14F-4D97-AF65-F5344CB8AC3E}">
        <p14:creationId xmlns:p14="http://schemas.microsoft.com/office/powerpoint/2010/main" val="1723543105"/>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3492</TotalTime>
  <Words>2865</Words>
  <Application>Microsoft Office PowerPoint</Application>
  <PresentationFormat>Panorámica</PresentationFormat>
  <Paragraphs>66</Paragraphs>
  <Slides>7</Slides>
  <Notes>7</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7</vt:i4>
      </vt:variant>
    </vt:vector>
  </HeadingPairs>
  <TitlesOfParts>
    <vt:vector size="12" baseType="lpstr">
      <vt:lpstr>Arial</vt:lpstr>
      <vt:lpstr>Calibri</vt:lpstr>
      <vt:lpstr>Calibri Light</vt:lpstr>
      <vt:lpstr>Twklausanne</vt:lpstr>
      <vt:lpstr>Tema de Office</vt:lpstr>
      <vt:lpstr>Ingeniería de soluciones con AI</vt:lpstr>
      <vt:lpstr> LangSmith Engine: “Los agentes se ajustan solos”</vt:lpstr>
      <vt:lpstr> LangSmith Engine: ¿Cuáles son los patrones?</vt:lpstr>
      <vt:lpstr> LangSmith Engine: ¿Cómo realmente luce?</vt:lpstr>
      <vt:lpstr> LangSmith Engine: El ciclo se cierra.</vt:lpstr>
      <vt:lpstr>Cuesta al menos 50 dólares …</vt:lpstr>
      <vt:lpstr>Etapa final: Las próximas actividades del semestre.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Lenovo</dc:creator>
  <cp:lastModifiedBy>Lenovo</cp:lastModifiedBy>
  <cp:revision>33</cp:revision>
  <dcterms:created xsi:type="dcterms:W3CDTF">2026-03-06T13:35:57Z</dcterms:created>
  <dcterms:modified xsi:type="dcterms:W3CDTF">2026-06-16T19:15:49Z</dcterms:modified>
</cp:coreProperties>
</file>