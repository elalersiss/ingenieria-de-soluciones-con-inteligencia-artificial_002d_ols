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329" r:id="rId3"/>
    <p:sldId id="330" r:id="rId4"/>
    <p:sldId id="331" r:id="rId5"/>
    <p:sldId id="332" r:id="rId6"/>
    <p:sldId id="333" r:id="rId7"/>
    <p:sldId id="334" r:id="rId8"/>
    <p:sldId id="335" r:id="rId9"/>
    <p:sldId id="336" r:id="rId10"/>
    <p:sldId id="337" r:id="rId11"/>
    <p:sldId id="338" r:id="rId12"/>
    <p:sldId id="339" r:id="rId13"/>
    <p:sldId id="340" r:id="rId14"/>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92236" autoAdjust="0"/>
  </p:normalViewPr>
  <p:slideViewPr>
    <p:cSldViewPr snapToGrid="0">
      <p:cViewPr varScale="1">
        <p:scale>
          <a:sx n="62" d="100"/>
          <a:sy n="62" d="100"/>
        </p:scale>
        <p:origin x="38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DCB0C-69E9-4911-980B-989A824EA717}" type="datetimeFigureOut">
              <a:rPr lang="es-CL" smtClean="0"/>
              <a:t>21-06-2026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7F482-7FF7-4DD4-AE91-ACA70D5B43D5}" type="slidenum">
              <a:rPr lang="es-CL" smtClean="0"/>
              <a:t>‹Nº›</a:t>
            </a:fld>
            <a:endParaRPr lang="es-CL"/>
          </a:p>
        </p:txBody>
      </p:sp>
    </p:spTree>
    <p:extLst>
      <p:ext uri="{BB962C8B-B14F-4D97-AF65-F5344CB8AC3E}">
        <p14:creationId xmlns:p14="http://schemas.microsoft.com/office/powerpoint/2010/main" val="2209796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3.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9.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L"/>
          </a:p>
        </p:txBody>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2107F482-7FF7-4DD4-AE91-ACA70D5B43D5}" type="slidenum">
              <a:rPr lang="es-CL" smtClean="0"/>
              <a:t>1</a:t>
            </a:fld>
            <a:endParaRPr lang="es-CL"/>
          </a:p>
        </p:txBody>
      </p:sp>
    </p:spTree>
    <p:extLst>
      <p:ext uri="{BB962C8B-B14F-4D97-AF65-F5344CB8AC3E}">
        <p14:creationId xmlns:p14="http://schemas.microsoft.com/office/powerpoint/2010/main" val="3642135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E99D-1871-0F35-B1DA-8F946AFC66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967999-0166-C84E-263B-AC9DD4F21590}"/>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D80FD80E-89F6-7102-E28A-48E000849C3B}"/>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F1354CB5-EA5E-3686-3A33-1F54A77BFDBC}"/>
              </a:ext>
            </a:extLst>
          </p:cNvPr>
          <p:cNvSpPr>
            <a:spLocks noGrp="1"/>
          </p:cNvSpPr>
          <p:nvPr>
            <p:ph type="sldNum" sz="quarter" idx="5"/>
          </p:nvPr>
        </p:nvSpPr>
        <p:spPr/>
        <p:txBody>
          <a:bodyPr/>
          <a:lstStyle/>
          <a:p>
            <a:fld id="{2107F482-7FF7-4DD4-AE91-ACA70D5B43D5}" type="slidenum">
              <a:rPr lang="es-CL" smtClean="0"/>
              <a:t>2</a:t>
            </a:fld>
            <a:endParaRPr lang="es-CL"/>
          </a:p>
        </p:txBody>
      </p:sp>
    </p:spTree>
    <p:extLst>
      <p:ext uri="{BB962C8B-B14F-4D97-AF65-F5344CB8AC3E}">
        <p14:creationId xmlns:p14="http://schemas.microsoft.com/office/powerpoint/2010/main" val="105317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0E411-E0BC-FB13-9CC3-D5FF8DB255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A2FA56-8019-B11B-8313-95396F3CEA34}"/>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2769A539-396A-3A28-8F7C-A8756388B8C5}"/>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B307A933-62E8-6E94-82CF-B034B1329233}"/>
              </a:ext>
            </a:extLst>
          </p:cNvPr>
          <p:cNvSpPr>
            <a:spLocks noGrp="1"/>
          </p:cNvSpPr>
          <p:nvPr>
            <p:ph type="sldNum" sz="quarter" idx="5"/>
          </p:nvPr>
        </p:nvSpPr>
        <p:spPr/>
        <p:txBody>
          <a:bodyPr/>
          <a:lstStyle/>
          <a:p>
            <a:fld id="{2107F482-7FF7-4DD4-AE91-ACA70D5B43D5}" type="slidenum">
              <a:rPr lang="es-CL" smtClean="0"/>
              <a:t>3</a:t>
            </a:fld>
            <a:endParaRPr lang="es-CL"/>
          </a:p>
        </p:txBody>
      </p:sp>
    </p:spTree>
    <p:extLst>
      <p:ext uri="{BB962C8B-B14F-4D97-AF65-F5344CB8AC3E}">
        <p14:creationId xmlns:p14="http://schemas.microsoft.com/office/powerpoint/2010/main" val="2192188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67742-5447-F56D-058C-D27CF110E7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3B1FF6-583D-C6BA-D318-3A3A68BD1AF0}"/>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B3B8C4FF-7CBC-E12F-9357-566B15FEF191}"/>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027E62F5-B9A6-4B49-6D11-9EABA1D2F95C}"/>
              </a:ext>
            </a:extLst>
          </p:cNvPr>
          <p:cNvSpPr>
            <a:spLocks noGrp="1"/>
          </p:cNvSpPr>
          <p:nvPr>
            <p:ph type="sldNum" sz="quarter" idx="5"/>
          </p:nvPr>
        </p:nvSpPr>
        <p:spPr/>
        <p:txBody>
          <a:bodyPr/>
          <a:lstStyle/>
          <a:p>
            <a:fld id="{2107F482-7FF7-4DD4-AE91-ACA70D5B43D5}" type="slidenum">
              <a:rPr lang="es-CL" smtClean="0"/>
              <a:t>4</a:t>
            </a:fld>
            <a:endParaRPr lang="es-CL"/>
          </a:p>
        </p:txBody>
      </p:sp>
    </p:spTree>
    <p:extLst>
      <p:ext uri="{BB962C8B-B14F-4D97-AF65-F5344CB8AC3E}">
        <p14:creationId xmlns:p14="http://schemas.microsoft.com/office/powerpoint/2010/main" val="1771163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AB67F-F8C6-7062-4FFA-AEC8C977EDA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C65DFC2-09E8-39AB-0AA0-C777F0C737AC}"/>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85AED568-BC8D-425E-C65B-D7E74E77BF3F}"/>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9A1D03C9-EA31-FC46-FD06-22EAA3A8CFD5}"/>
              </a:ext>
            </a:extLst>
          </p:cNvPr>
          <p:cNvSpPr>
            <a:spLocks noGrp="1"/>
          </p:cNvSpPr>
          <p:nvPr>
            <p:ph type="sldNum" sz="quarter" idx="5"/>
          </p:nvPr>
        </p:nvSpPr>
        <p:spPr/>
        <p:txBody>
          <a:bodyPr/>
          <a:lstStyle/>
          <a:p>
            <a:fld id="{2107F482-7FF7-4DD4-AE91-ACA70D5B43D5}" type="slidenum">
              <a:rPr lang="es-CL" smtClean="0"/>
              <a:t>5</a:t>
            </a:fld>
            <a:endParaRPr lang="es-CL"/>
          </a:p>
        </p:txBody>
      </p:sp>
    </p:spTree>
    <p:extLst>
      <p:ext uri="{BB962C8B-B14F-4D97-AF65-F5344CB8AC3E}">
        <p14:creationId xmlns:p14="http://schemas.microsoft.com/office/powerpoint/2010/main" val="4177361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D7F3-70D5-869E-E853-1F6A42DE327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3B28EB9-7726-EE75-A34E-8C1F44E8FFA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DDD8F8F0-BF62-E164-289D-38F09BD3DDC8}"/>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57771D93-CA9E-5076-9427-FA2AA407A8F8}"/>
              </a:ext>
            </a:extLst>
          </p:cNvPr>
          <p:cNvSpPr>
            <a:spLocks noGrp="1"/>
          </p:cNvSpPr>
          <p:nvPr>
            <p:ph type="sldNum" sz="quarter" idx="5"/>
          </p:nvPr>
        </p:nvSpPr>
        <p:spPr/>
        <p:txBody>
          <a:bodyPr/>
          <a:lstStyle/>
          <a:p>
            <a:fld id="{2107F482-7FF7-4DD4-AE91-ACA70D5B43D5}" type="slidenum">
              <a:rPr lang="es-CL" smtClean="0"/>
              <a:t>6</a:t>
            </a:fld>
            <a:endParaRPr lang="es-CL"/>
          </a:p>
        </p:txBody>
      </p:sp>
    </p:spTree>
    <p:extLst>
      <p:ext uri="{BB962C8B-B14F-4D97-AF65-F5344CB8AC3E}">
        <p14:creationId xmlns:p14="http://schemas.microsoft.com/office/powerpoint/2010/main" val="3583814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A6BAF-D84D-73B3-03BA-AEA7213EF2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634A68-230D-CBB5-A4F5-547375122426}"/>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B14AB365-3DFC-C510-6BA6-2CCCBDFFA4BB}"/>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C9BBC541-1DD9-33F9-AD03-8D638835DD60}"/>
              </a:ext>
            </a:extLst>
          </p:cNvPr>
          <p:cNvSpPr>
            <a:spLocks noGrp="1"/>
          </p:cNvSpPr>
          <p:nvPr>
            <p:ph type="sldNum" sz="quarter" idx="5"/>
          </p:nvPr>
        </p:nvSpPr>
        <p:spPr/>
        <p:txBody>
          <a:bodyPr/>
          <a:lstStyle/>
          <a:p>
            <a:fld id="{2107F482-7FF7-4DD4-AE91-ACA70D5B43D5}" type="slidenum">
              <a:rPr lang="es-CL" smtClean="0"/>
              <a:t>7</a:t>
            </a:fld>
            <a:endParaRPr lang="es-CL"/>
          </a:p>
        </p:txBody>
      </p:sp>
    </p:spTree>
    <p:extLst>
      <p:ext uri="{BB962C8B-B14F-4D97-AF65-F5344CB8AC3E}">
        <p14:creationId xmlns:p14="http://schemas.microsoft.com/office/powerpoint/2010/main" val="1401813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CB3D8-8CAF-CED9-8E80-C8D02C9DE5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0DF15F4-E19B-974D-7ED2-8D1F01DBE571}"/>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3CE1C121-7A03-D455-0038-FD896BE98599}"/>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581F129D-2D8F-9BE4-CC0F-AA2A82703463}"/>
              </a:ext>
            </a:extLst>
          </p:cNvPr>
          <p:cNvSpPr>
            <a:spLocks noGrp="1"/>
          </p:cNvSpPr>
          <p:nvPr>
            <p:ph type="sldNum" sz="quarter" idx="5"/>
          </p:nvPr>
        </p:nvSpPr>
        <p:spPr/>
        <p:txBody>
          <a:bodyPr/>
          <a:lstStyle/>
          <a:p>
            <a:fld id="{2107F482-7FF7-4DD4-AE91-ACA70D5B43D5}" type="slidenum">
              <a:rPr lang="es-CL" smtClean="0"/>
              <a:t>8</a:t>
            </a:fld>
            <a:endParaRPr lang="es-CL"/>
          </a:p>
        </p:txBody>
      </p:sp>
    </p:spTree>
    <p:extLst>
      <p:ext uri="{BB962C8B-B14F-4D97-AF65-F5344CB8AC3E}">
        <p14:creationId xmlns:p14="http://schemas.microsoft.com/office/powerpoint/2010/main" val="1519369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47CF-3D29-5CF4-BC96-C095C52B7D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2EB912-E1DE-2A93-56E2-CC5A5ACE66EB}"/>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54A0F42D-781E-F83D-FCFF-78F03B25F977}"/>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F0245159-8E67-DE26-5F1E-39E187C35D1D}"/>
              </a:ext>
            </a:extLst>
          </p:cNvPr>
          <p:cNvSpPr>
            <a:spLocks noGrp="1"/>
          </p:cNvSpPr>
          <p:nvPr>
            <p:ph type="sldNum" sz="quarter" idx="5"/>
          </p:nvPr>
        </p:nvSpPr>
        <p:spPr/>
        <p:txBody>
          <a:bodyPr/>
          <a:lstStyle/>
          <a:p>
            <a:fld id="{2107F482-7FF7-4DD4-AE91-ACA70D5B43D5}" type="slidenum">
              <a:rPr lang="es-CL" smtClean="0"/>
              <a:t>9</a:t>
            </a:fld>
            <a:endParaRPr lang="es-CL"/>
          </a:p>
        </p:txBody>
      </p:sp>
    </p:spTree>
    <p:extLst>
      <p:ext uri="{BB962C8B-B14F-4D97-AF65-F5344CB8AC3E}">
        <p14:creationId xmlns:p14="http://schemas.microsoft.com/office/powerpoint/2010/main" val="69627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67B3D-B406-D37C-E7D0-AC259C4A9E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CF476E-1C3B-7A88-59BC-0FD01C6D8EC3}"/>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0B9003C5-ED7A-856E-B297-A37D0125B87C}"/>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B9CF0B0D-BC58-1250-54E3-343F42D7944E}"/>
              </a:ext>
            </a:extLst>
          </p:cNvPr>
          <p:cNvSpPr>
            <a:spLocks noGrp="1"/>
          </p:cNvSpPr>
          <p:nvPr>
            <p:ph type="sldNum" sz="quarter" idx="5"/>
          </p:nvPr>
        </p:nvSpPr>
        <p:spPr/>
        <p:txBody>
          <a:bodyPr/>
          <a:lstStyle/>
          <a:p>
            <a:fld id="{2107F482-7FF7-4DD4-AE91-ACA70D5B43D5}" type="slidenum">
              <a:rPr lang="es-CL" smtClean="0"/>
              <a:t>10</a:t>
            </a:fld>
            <a:endParaRPr lang="es-CL"/>
          </a:p>
        </p:txBody>
      </p:sp>
    </p:spTree>
    <p:extLst>
      <p:ext uri="{BB962C8B-B14F-4D97-AF65-F5344CB8AC3E}">
        <p14:creationId xmlns:p14="http://schemas.microsoft.com/office/powerpoint/2010/main" val="2002123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DDE7B-E2A7-E45C-601D-5A1701B23C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B71729-FE32-1999-9E55-418058A9DAF4}"/>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F4821803-2850-8237-0766-D2F91576AAA5}"/>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72A43C74-48C6-8165-8DEC-0138EAA13B49}"/>
              </a:ext>
            </a:extLst>
          </p:cNvPr>
          <p:cNvSpPr>
            <a:spLocks noGrp="1"/>
          </p:cNvSpPr>
          <p:nvPr>
            <p:ph type="sldNum" sz="quarter" idx="5"/>
          </p:nvPr>
        </p:nvSpPr>
        <p:spPr/>
        <p:txBody>
          <a:bodyPr/>
          <a:lstStyle/>
          <a:p>
            <a:fld id="{2107F482-7FF7-4DD4-AE91-ACA70D5B43D5}" type="slidenum">
              <a:rPr lang="es-CL" smtClean="0"/>
              <a:t>11</a:t>
            </a:fld>
            <a:endParaRPr lang="es-CL"/>
          </a:p>
        </p:txBody>
      </p:sp>
    </p:spTree>
    <p:extLst>
      <p:ext uri="{BB962C8B-B14F-4D97-AF65-F5344CB8AC3E}">
        <p14:creationId xmlns:p14="http://schemas.microsoft.com/office/powerpoint/2010/main" val="3090799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8D2A5-911A-49BC-F477-1277A9DD66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D8E273-B5C8-EB71-7AFC-FEF2B9CBE16D}"/>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C81366A6-BAEB-3806-3C89-BB9462D7561D}"/>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A2BC4B0D-C087-8150-9162-82862D048EF9}"/>
              </a:ext>
            </a:extLst>
          </p:cNvPr>
          <p:cNvSpPr>
            <a:spLocks noGrp="1"/>
          </p:cNvSpPr>
          <p:nvPr>
            <p:ph type="sldNum" sz="quarter" idx="5"/>
          </p:nvPr>
        </p:nvSpPr>
        <p:spPr/>
        <p:txBody>
          <a:bodyPr/>
          <a:lstStyle/>
          <a:p>
            <a:fld id="{2107F482-7FF7-4DD4-AE91-ACA70D5B43D5}" type="slidenum">
              <a:rPr lang="es-CL" smtClean="0"/>
              <a:t>12</a:t>
            </a:fld>
            <a:endParaRPr lang="es-CL"/>
          </a:p>
        </p:txBody>
      </p:sp>
    </p:spTree>
    <p:extLst>
      <p:ext uri="{BB962C8B-B14F-4D97-AF65-F5344CB8AC3E}">
        <p14:creationId xmlns:p14="http://schemas.microsoft.com/office/powerpoint/2010/main" val="2185989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7D3AD-A706-F105-FBAD-B6080356E42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64C62E7-DCEA-4E5A-1866-98523E044094}"/>
              </a:ext>
            </a:extLst>
          </p:cNvPr>
          <p:cNvSpPr>
            <a:spLocks noGrp="1" noRot="1" noChangeAspect="1"/>
          </p:cNvSpPr>
          <p:nvPr>
            <p:ph type="sldImg"/>
          </p:nvPr>
        </p:nvSpPr>
        <p:spPr/>
        <p:txBody>
          <a:bodyPr/>
          <a:lstStyle/>
          <a:p>
            <a:endParaRPr lang="es-CL"/>
          </a:p>
        </p:txBody>
      </p:sp>
      <p:sp>
        <p:nvSpPr>
          <p:cNvPr id="3" name="Marcador de notas 2">
            <a:extLst>
              <a:ext uri="{FF2B5EF4-FFF2-40B4-BE49-F238E27FC236}">
                <a16:creationId xmlns:a16="http://schemas.microsoft.com/office/drawing/2014/main" id="{2CA7E202-AC89-EBDB-5DDA-33522862A384}"/>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E7F4E6C3-1722-43DA-23B9-CD1D3CEF279C}"/>
              </a:ext>
            </a:extLst>
          </p:cNvPr>
          <p:cNvSpPr>
            <a:spLocks noGrp="1"/>
          </p:cNvSpPr>
          <p:nvPr>
            <p:ph type="sldNum" sz="quarter" idx="5"/>
          </p:nvPr>
        </p:nvSpPr>
        <p:spPr/>
        <p:txBody>
          <a:bodyPr/>
          <a:lstStyle/>
          <a:p>
            <a:fld id="{2107F482-7FF7-4DD4-AE91-ACA70D5B43D5}" type="slidenum">
              <a:rPr lang="es-CL" smtClean="0"/>
              <a:t>13</a:t>
            </a:fld>
            <a:endParaRPr lang="es-CL"/>
          </a:p>
        </p:txBody>
      </p:sp>
    </p:spTree>
    <p:extLst>
      <p:ext uri="{BB962C8B-B14F-4D97-AF65-F5344CB8AC3E}">
        <p14:creationId xmlns:p14="http://schemas.microsoft.com/office/powerpoint/2010/main" val="2861539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1CEB3-5675-98F6-5555-EE13E992A56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07ADF84-13F9-5B39-43F1-14E7D8EA0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49FA3DF8-0758-BF8A-9304-ECC31709A5D7}"/>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5" name="Marcador de pie de página 4">
            <a:extLst>
              <a:ext uri="{FF2B5EF4-FFF2-40B4-BE49-F238E27FC236}">
                <a16:creationId xmlns:a16="http://schemas.microsoft.com/office/drawing/2014/main" id="{E7A8AD70-F127-7BA6-5921-BCF78459803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5809D2E-C8C8-DAE5-342D-7ACCCAC6D7F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404280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2BA7-F473-4377-62A9-34C365181649}"/>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2876B6C-F6ED-E8B4-6256-B671D382415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E376944-86DF-A06F-F26C-EEAE33302DCB}"/>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5" name="Marcador de pie de página 4">
            <a:extLst>
              <a:ext uri="{FF2B5EF4-FFF2-40B4-BE49-F238E27FC236}">
                <a16:creationId xmlns:a16="http://schemas.microsoft.com/office/drawing/2014/main" id="{8842D504-2579-A803-D017-38F414D8F92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44F6F1-3475-DF5A-171D-90C0A6361F33}"/>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71958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9EE0DC-FE41-207B-B5D4-12044E8D9B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65E523B-DBFD-D95C-BDA2-AF438B18FA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00A689A-2C60-C5ED-1F57-27748FB82FCF}"/>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5" name="Marcador de pie de página 4">
            <a:extLst>
              <a:ext uri="{FF2B5EF4-FFF2-40B4-BE49-F238E27FC236}">
                <a16:creationId xmlns:a16="http://schemas.microsoft.com/office/drawing/2014/main" id="{18E6A1D8-E528-4BB5-3D0E-DD599C20DD1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22BCB4D-49C6-4998-F409-6029A291DE8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04070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1A91A-3147-1537-3F76-79772FA4154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3C01651-05BC-1EC6-A58E-575D048EC2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55082018-B822-A183-DA4B-1C3D16A49C4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6F26C75-9BEB-D6DB-5431-6309AC889347}"/>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6" name="Marcador de pie de página 5">
            <a:extLst>
              <a:ext uri="{FF2B5EF4-FFF2-40B4-BE49-F238E27FC236}">
                <a16:creationId xmlns:a16="http://schemas.microsoft.com/office/drawing/2014/main" id="{D071B78F-8C40-BEB7-3CA1-D48366C1C4D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7D4D4F6-B884-C893-0AE7-0BD236FC0A3F}"/>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19688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28DA5D-9DAA-85F9-8663-3F4CFE4F13B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6CA55E1-B5F5-EAF9-B7FE-D45D79747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121A24-CF2D-161C-0F6E-E25010C9830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20F6704-DF9F-D96E-863C-22E02CAD6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8E114D-20FF-505F-3AC7-DFA59AC8F4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321214F7-5555-5155-7348-E210F99F0EF8}"/>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8" name="Marcador de pie de página 7">
            <a:extLst>
              <a:ext uri="{FF2B5EF4-FFF2-40B4-BE49-F238E27FC236}">
                <a16:creationId xmlns:a16="http://schemas.microsoft.com/office/drawing/2014/main" id="{C2C5D59F-5FAC-9631-CDC3-84D27C41472A}"/>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321995D8-D632-D10E-8AFF-26E5C8098BB9}"/>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7127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870B8-34B8-37DC-89DB-47FC09CC5D8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B0F1EB3-E9A9-3C8D-7E75-A95C59BF31B0}"/>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4" name="Marcador de pie de página 3">
            <a:extLst>
              <a:ext uri="{FF2B5EF4-FFF2-40B4-BE49-F238E27FC236}">
                <a16:creationId xmlns:a16="http://schemas.microsoft.com/office/drawing/2014/main" id="{6337F6A3-CB35-F37A-A6DA-88C9FF448C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C4C9290-251F-B1E0-AEAA-710A3CB53E84}"/>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971229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81B6F75-8539-FB15-F03B-E2523D1BB972}"/>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3" name="Marcador de pie de página 2">
            <a:extLst>
              <a:ext uri="{FF2B5EF4-FFF2-40B4-BE49-F238E27FC236}">
                <a16:creationId xmlns:a16="http://schemas.microsoft.com/office/drawing/2014/main" id="{F8725444-0A64-F2BF-CE6D-C96D6C2374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1A95120-3AD7-2633-1852-99868A08E105}"/>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9157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67FF6-55E8-496C-BCC4-4D7B40336D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28B327-F8C2-0B0D-FCA9-41E590A06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374743E-45A5-85D0-4052-5B42C3C07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AA9CE0-4EF9-BCF9-74C2-CFE7CCCA4E61}"/>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6" name="Marcador de pie de página 5">
            <a:extLst>
              <a:ext uri="{FF2B5EF4-FFF2-40B4-BE49-F238E27FC236}">
                <a16:creationId xmlns:a16="http://schemas.microsoft.com/office/drawing/2014/main" id="{31A8C77C-C8E9-8F00-1622-EC17987D85C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BA34C7-982A-2E74-0F17-C8063BB65B0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944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31788-80C1-18AA-49B2-00AA49AE72C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19EDF4D-E446-21A3-5193-EA3AA3FD2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C22F1C9E-17FA-6C7E-F214-0530F189A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1A0B5E-955F-3A5F-84DE-EE873021AD65}"/>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6" name="Marcador de pie de página 5">
            <a:extLst>
              <a:ext uri="{FF2B5EF4-FFF2-40B4-BE49-F238E27FC236}">
                <a16:creationId xmlns:a16="http://schemas.microsoft.com/office/drawing/2014/main" id="{82FDB288-42E2-730F-3EC2-75CDD0F0709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59CA278-6D6E-B2A8-B1E4-9F7DA302E9D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83164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56C15-EF0C-C8A8-41F6-840E0E4336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36D5AC-B824-2DA4-A083-1EEB7768DE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920E341-3C14-25A1-76F8-8BC7FE23FF28}"/>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5" name="Marcador de pie de página 4">
            <a:extLst>
              <a:ext uri="{FF2B5EF4-FFF2-40B4-BE49-F238E27FC236}">
                <a16:creationId xmlns:a16="http://schemas.microsoft.com/office/drawing/2014/main" id="{CEC9B56E-2B7B-8C60-811D-12FE70B468E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50FC0E-77B0-E187-7241-8BE9332FF16D}"/>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202914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00424F-3FDF-9896-F8DF-EBF93BEF4D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350F60B-440F-292F-888A-8EF62AA412C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116BF-3104-AF5D-C0A8-E063AF706A11}"/>
              </a:ext>
            </a:extLst>
          </p:cNvPr>
          <p:cNvSpPr>
            <a:spLocks noGrp="1"/>
          </p:cNvSpPr>
          <p:nvPr>
            <p:ph type="dt" sz="half" idx="10"/>
          </p:nvPr>
        </p:nvSpPr>
        <p:spPr/>
        <p:txBody>
          <a:bodyPr/>
          <a:lstStyle/>
          <a:p>
            <a:fld id="{E8BDA46D-A1A7-4D05-A86A-5A57D57622A5}" type="datetimeFigureOut">
              <a:rPr lang="es-CL" smtClean="0"/>
              <a:t>21-06-2026</a:t>
            </a:fld>
            <a:endParaRPr lang="es-CL"/>
          </a:p>
        </p:txBody>
      </p:sp>
      <p:sp>
        <p:nvSpPr>
          <p:cNvPr id="5" name="Marcador de pie de página 4">
            <a:extLst>
              <a:ext uri="{FF2B5EF4-FFF2-40B4-BE49-F238E27FC236}">
                <a16:creationId xmlns:a16="http://schemas.microsoft.com/office/drawing/2014/main" id="{2E8F5DAA-9632-8650-11D1-4852CB9F0A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1DD27B8-05BD-48E2-3B7C-2DF3A1DBBD5A}"/>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54673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E1D736-C504-F2D3-4D26-5C0C6D789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D32A4F1-8C91-29BD-B83A-D5ED13E399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7C91089-CE03-9300-C918-89BA1B7A9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DA46D-A1A7-4D05-A86A-5A57D57622A5}" type="datetimeFigureOut">
              <a:rPr lang="es-CL" smtClean="0"/>
              <a:t>21-06-2026</a:t>
            </a:fld>
            <a:endParaRPr lang="es-CL"/>
          </a:p>
        </p:txBody>
      </p:sp>
      <p:sp>
        <p:nvSpPr>
          <p:cNvPr id="5" name="Marcador de pie de página 4">
            <a:extLst>
              <a:ext uri="{FF2B5EF4-FFF2-40B4-BE49-F238E27FC236}">
                <a16:creationId xmlns:a16="http://schemas.microsoft.com/office/drawing/2014/main" id="{FEE5FFC7-CC22-AA3D-8561-D011B9400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462EE7A9-3E52-92C2-1A3E-C180FB6A61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2DCD1-67CD-4B9C-AF7C-A4846B367CA8}" type="slidenum">
              <a:rPr lang="es-CL" smtClean="0"/>
              <a:t>‹Nº›</a:t>
            </a:fld>
            <a:endParaRPr lang="es-CL"/>
          </a:p>
        </p:txBody>
      </p:sp>
    </p:spTree>
    <p:extLst>
      <p:ext uri="{BB962C8B-B14F-4D97-AF65-F5344CB8AC3E}">
        <p14:creationId xmlns:p14="http://schemas.microsoft.com/office/powerpoint/2010/main" val="2365602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C5055-DE28-A84E-9FB5-12A3C43AF46E}"/>
              </a:ext>
            </a:extLst>
          </p:cNvPr>
          <p:cNvSpPr>
            <a:spLocks noGrp="1"/>
          </p:cNvSpPr>
          <p:nvPr>
            <p:ph type="ctrTitle"/>
          </p:nvPr>
        </p:nvSpPr>
        <p:spPr>
          <a:xfrm>
            <a:off x="1524000" y="1569403"/>
            <a:ext cx="9144000" cy="2387600"/>
          </a:xfrm>
        </p:spPr>
        <p:txBody>
          <a:bodyPr/>
          <a:lstStyle/>
          <a:p>
            <a:r>
              <a:rPr lang="es-MX" i="1" dirty="0"/>
              <a:t>Ingeniería de soluciones con AI</a:t>
            </a:r>
            <a:endParaRPr lang="es-CL" i="1" dirty="0"/>
          </a:p>
        </p:txBody>
      </p:sp>
      <p:sp>
        <p:nvSpPr>
          <p:cNvPr id="3" name="Subtítulo 2">
            <a:extLst>
              <a:ext uri="{FF2B5EF4-FFF2-40B4-BE49-F238E27FC236}">
                <a16:creationId xmlns:a16="http://schemas.microsoft.com/office/drawing/2014/main" id="{9C898086-6830-28E7-5F70-A1C13B3A9DBB}"/>
              </a:ext>
            </a:extLst>
          </p:cNvPr>
          <p:cNvSpPr>
            <a:spLocks noGrp="1"/>
          </p:cNvSpPr>
          <p:nvPr>
            <p:ph type="subTitle" idx="1"/>
          </p:nvPr>
        </p:nvSpPr>
        <p:spPr>
          <a:xfrm>
            <a:off x="9763760" y="5788758"/>
            <a:ext cx="2585194" cy="675639"/>
          </a:xfrm>
        </p:spPr>
        <p:txBody>
          <a:bodyPr>
            <a:normAutofit lnSpcReduction="10000"/>
          </a:bodyPr>
          <a:lstStyle/>
          <a:p>
            <a:pPr algn="l"/>
            <a:r>
              <a:rPr lang="es-MX" sz="1800" b="1" i="1" dirty="0"/>
              <a:t>Docente:</a:t>
            </a:r>
          </a:p>
          <a:p>
            <a:pPr algn="l"/>
            <a:r>
              <a:rPr lang="es-MX" sz="1800" i="1" dirty="0"/>
              <a:t>Francisco Macaya</a:t>
            </a:r>
            <a:endParaRPr lang="es-CL" sz="1800" i="1" dirty="0"/>
          </a:p>
        </p:txBody>
      </p:sp>
      <p:pic>
        <p:nvPicPr>
          <p:cNvPr id="1026" name="Picture 2" descr="Duoc UC - Learn Chile">
            <a:extLst>
              <a:ext uri="{FF2B5EF4-FFF2-40B4-BE49-F238E27FC236}">
                <a16:creationId xmlns:a16="http://schemas.microsoft.com/office/drawing/2014/main" id="{EFAFD388-37C4-B6E5-0BD9-719436329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4" name="Subtítulo 2">
            <a:extLst>
              <a:ext uri="{FF2B5EF4-FFF2-40B4-BE49-F238E27FC236}">
                <a16:creationId xmlns:a16="http://schemas.microsoft.com/office/drawing/2014/main" id="{289FDFC1-9135-D283-EA5A-9264421DCA54}"/>
              </a:ext>
            </a:extLst>
          </p:cNvPr>
          <p:cNvSpPr txBox="1">
            <a:spLocks/>
          </p:cNvSpPr>
          <p:nvPr/>
        </p:nvSpPr>
        <p:spPr>
          <a:xfrm>
            <a:off x="5345302" y="5971981"/>
            <a:ext cx="2585194" cy="6756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i="1" dirty="0"/>
              <a:t>Semestre 2026-1</a:t>
            </a:r>
            <a:endParaRPr lang="es-CL" sz="1800" i="1" dirty="0"/>
          </a:p>
        </p:txBody>
      </p:sp>
    </p:spTree>
    <p:extLst>
      <p:ext uri="{BB962C8B-B14F-4D97-AF65-F5344CB8AC3E}">
        <p14:creationId xmlns:p14="http://schemas.microsoft.com/office/powerpoint/2010/main" val="2817793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B9C1B-8EF6-B55A-EE5E-6D59A8FDE4BA}"/>
            </a:ext>
          </a:extLst>
        </p:cNvPr>
        <p:cNvGrpSpPr/>
        <p:nvPr/>
      </p:nvGrpSpPr>
      <p:grpSpPr>
        <a:xfrm>
          <a:off x="0" y="0"/>
          <a:ext cx="0" cy="0"/>
          <a:chOff x="0" y="0"/>
          <a:chExt cx="0" cy="0"/>
        </a:xfrm>
      </p:grpSpPr>
      <p:pic>
        <p:nvPicPr>
          <p:cNvPr id="4" name="Picture 2" descr="Duoc UC - Learn Chile">
            <a:extLst>
              <a:ext uri="{FF2B5EF4-FFF2-40B4-BE49-F238E27FC236}">
                <a16:creationId xmlns:a16="http://schemas.microsoft.com/office/drawing/2014/main" id="{8399B515-A3A5-91B5-F9FA-7557AB18BD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4BB7EA74-5569-428A-C3E8-89A637365715}"/>
              </a:ext>
            </a:extLst>
          </p:cNvPr>
          <p:cNvSpPr txBox="1"/>
          <p:nvPr/>
        </p:nvSpPr>
        <p:spPr>
          <a:xfrm>
            <a:off x="335833" y="6318774"/>
            <a:ext cx="7019818" cy="369332"/>
          </a:xfrm>
          <a:prstGeom prst="rect">
            <a:avLst/>
          </a:prstGeom>
          <a:noFill/>
        </p:spPr>
        <p:txBody>
          <a:bodyPr wrap="square">
            <a:spAutoFit/>
          </a:bodyPr>
          <a:lstStyle/>
          <a:p>
            <a:r>
              <a:rPr lang="es-CL" b="1" dirty="0"/>
              <a:t>Notas: </a:t>
            </a:r>
            <a:r>
              <a:rPr lang="es-CL" dirty="0"/>
              <a:t>https://code.claude.com/docs/en/best-practices</a:t>
            </a:r>
          </a:p>
        </p:txBody>
      </p:sp>
      <p:sp>
        <p:nvSpPr>
          <p:cNvPr id="5" name="CuadroTexto 4">
            <a:extLst>
              <a:ext uri="{FF2B5EF4-FFF2-40B4-BE49-F238E27FC236}">
                <a16:creationId xmlns:a16="http://schemas.microsoft.com/office/drawing/2014/main" id="{EA56468C-196C-459B-BF97-34EAC1AE29EA}"/>
              </a:ext>
            </a:extLst>
          </p:cNvPr>
          <p:cNvSpPr txBox="1"/>
          <p:nvPr/>
        </p:nvSpPr>
        <p:spPr>
          <a:xfrm>
            <a:off x="2345932" y="2795485"/>
            <a:ext cx="7500135" cy="2732925"/>
          </a:xfrm>
          <a:prstGeom prst="rect">
            <a:avLst/>
          </a:prstGeom>
          <a:noFill/>
        </p:spPr>
        <p:txBody>
          <a:bodyPr wrap="square">
            <a:spAutoFit/>
          </a:bodyPr>
          <a:lstStyle/>
          <a:p>
            <a:pPr marL="0" indent="0" algn="ctr">
              <a:buNone/>
            </a:pPr>
            <a:r>
              <a:rPr lang="en-US" sz="2800" b="1" i="1" dirty="0"/>
              <a:t>Claude Code </a:t>
            </a:r>
            <a:r>
              <a:rPr lang="en-US" sz="2800" i="1" dirty="0"/>
              <a:t>es </a:t>
            </a:r>
            <a:r>
              <a:rPr lang="en-US" sz="2800" i="1" dirty="0" err="1"/>
              <a:t>una</a:t>
            </a:r>
            <a:r>
              <a:rPr lang="en-US" sz="2800" i="1" dirty="0"/>
              <a:t> </a:t>
            </a:r>
            <a:r>
              <a:rPr lang="en-US" sz="2800" i="1" dirty="0" err="1"/>
              <a:t>herramienta</a:t>
            </a:r>
            <a:r>
              <a:rPr lang="en-US" sz="2800" i="1" dirty="0"/>
              <a:t> de </a:t>
            </a:r>
            <a:r>
              <a:rPr lang="en-US" sz="2800" i="1" dirty="0" err="1"/>
              <a:t>linea</a:t>
            </a:r>
            <a:r>
              <a:rPr lang="en-US" sz="2800" i="1" dirty="0"/>
              <a:t> de </a:t>
            </a:r>
            <a:r>
              <a:rPr lang="en-US" sz="2800" i="1" dirty="0" err="1"/>
              <a:t>comandos</a:t>
            </a:r>
            <a:r>
              <a:rPr lang="en-US" sz="2800" i="1" dirty="0"/>
              <a:t> que </a:t>
            </a:r>
            <a:r>
              <a:rPr lang="en-US" sz="2800" i="1" dirty="0" err="1"/>
              <a:t>convierte</a:t>
            </a:r>
            <a:r>
              <a:rPr lang="en-US" sz="2800" i="1" dirty="0"/>
              <a:t> a Claude </a:t>
            </a:r>
            <a:r>
              <a:rPr lang="en-US" sz="2800" i="1" dirty="0" err="1"/>
              <a:t>en</a:t>
            </a:r>
            <a:r>
              <a:rPr lang="en-US" sz="2800" i="1" dirty="0"/>
              <a:t> un </a:t>
            </a:r>
            <a:r>
              <a:rPr lang="en-US" sz="2800" i="1" dirty="0" err="1"/>
              <a:t>agente</a:t>
            </a:r>
            <a:r>
              <a:rPr lang="en-US" sz="2800" i="1" dirty="0"/>
              <a:t> de coding </a:t>
            </a:r>
            <a:r>
              <a:rPr lang="en-US" sz="2800" i="1" dirty="0" err="1"/>
              <a:t>autonomo</a:t>
            </a:r>
            <a:r>
              <a:rPr lang="en-US" sz="2800" i="1" dirty="0"/>
              <a:t>. Puede leer y </a:t>
            </a:r>
            <a:r>
              <a:rPr lang="en-US" sz="2800" i="1" dirty="0" err="1"/>
              <a:t>editar</a:t>
            </a:r>
            <a:r>
              <a:rPr lang="en-US" sz="2800" i="1" dirty="0"/>
              <a:t> </a:t>
            </a:r>
            <a:r>
              <a:rPr lang="en-US" sz="2800" i="1" dirty="0" err="1"/>
              <a:t>archivos</a:t>
            </a:r>
            <a:r>
              <a:rPr lang="en-US" sz="2800" i="1" dirty="0"/>
              <a:t>, </a:t>
            </a:r>
            <a:r>
              <a:rPr lang="en-US" sz="2800" i="1" dirty="0" err="1"/>
              <a:t>ejecutar</a:t>
            </a:r>
            <a:r>
              <a:rPr lang="en-US" sz="2800" i="1" dirty="0"/>
              <a:t> </a:t>
            </a:r>
            <a:r>
              <a:rPr lang="en-US" sz="2800" i="1" dirty="0" err="1"/>
              <a:t>comandos</a:t>
            </a:r>
            <a:r>
              <a:rPr lang="en-US" sz="2800" i="1" dirty="0"/>
              <a:t>, </a:t>
            </a:r>
            <a:r>
              <a:rPr lang="en-US" sz="2800" i="1" dirty="0" err="1"/>
              <a:t>explorar</a:t>
            </a:r>
            <a:r>
              <a:rPr lang="en-US" sz="2800" i="1" dirty="0"/>
              <a:t> </a:t>
            </a:r>
            <a:r>
              <a:rPr lang="en-US" sz="2800" i="1" dirty="0" err="1"/>
              <a:t>tu</a:t>
            </a:r>
            <a:r>
              <a:rPr lang="en-US" sz="2800" i="1" dirty="0"/>
              <a:t> codebase </a:t>
            </a:r>
            <a:r>
              <a:rPr lang="en-US" sz="2800" i="1" dirty="0" err="1"/>
              <a:t>completo</a:t>
            </a:r>
            <a:r>
              <a:rPr lang="en-US" sz="2800" i="1" dirty="0"/>
              <a:t> y </a:t>
            </a:r>
            <a:r>
              <a:rPr lang="en-US" sz="2800" i="1" dirty="0" err="1"/>
              <a:t>completar</a:t>
            </a:r>
            <a:r>
              <a:rPr lang="en-US" sz="2800" i="1" dirty="0"/>
              <a:t> </a:t>
            </a:r>
            <a:r>
              <a:rPr lang="en-US" sz="2800" i="1" dirty="0" err="1"/>
              <a:t>tareas</a:t>
            </a:r>
            <a:r>
              <a:rPr lang="en-US" sz="2800" i="1" dirty="0"/>
              <a:t> </a:t>
            </a:r>
            <a:r>
              <a:rPr lang="en-US" sz="2800" i="1" dirty="0" err="1"/>
              <a:t>complejas</a:t>
            </a:r>
            <a:r>
              <a:rPr lang="en-US" sz="2800" i="1" dirty="0"/>
              <a:t> de principio a fin.</a:t>
            </a:r>
          </a:p>
        </p:txBody>
      </p:sp>
      <p:pic>
        <p:nvPicPr>
          <p:cNvPr id="1026" name="Picture 2" descr="Anthropic Icon &amp; Logo | Dashboard Icons &amp; Logos">
            <a:extLst>
              <a:ext uri="{FF2B5EF4-FFF2-40B4-BE49-F238E27FC236}">
                <a16:creationId xmlns:a16="http://schemas.microsoft.com/office/drawing/2014/main" id="{63B8E5C0-0B35-E8EA-DB46-0137FD1930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1677" y="1031752"/>
            <a:ext cx="1268643" cy="1268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875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2BE1C-6237-35AA-9E8F-6B5E276261F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BA295C6-A1AF-F785-A6A8-38DC466CA4DC}"/>
              </a:ext>
            </a:extLst>
          </p:cNvPr>
          <p:cNvSpPr>
            <a:spLocks noGrp="1"/>
          </p:cNvSpPr>
          <p:nvPr>
            <p:ph type="title"/>
          </p:nvPr>
        </p:nvSpPr>
        <p:spPr>
          <a:xfrm>
            <a:off x="335833" y="67153"/>
            <a:ext cx="10846393" cy="1577458"/>
          </a:xfrm>
        </p:spPr>
        <p:txBody>
          <a:bodyPr>
            <a:normAutofit/>
          </a:bodyPr>
          <a:lstStyle/>
          <a:p>
            <a:r>
              <a:rPr lang="es-MX" sz="3200" b="1" i="1" dirty="0"/>
              <a:t>Claude </a:t>
            </a:r>
            <a:r>
              <a:rPr lang="es-MX" sz="3200" b="1" i="1" dirty="0" err="1"/>
              <a:t>Code</a:t>
            </a:r>
            <a:r>
              <a:rPr lang="es-MX" sz="3200" i="1" dirty="0"/>
              <a:t>: “La mejor manera de programar en el mercado”</a:t>
            </a:r>
            <a:endParaRPr lang="es-CL" sz="3200" i="1" dirty="0"/>
          </a:p>
        </p:txBody>
      </p:sp>
      <p:pic>
        <p:nvPicPr>
          <p:cNvPr id="4" name="Picture 2" descr="Duoc UC - Learn Chile">
            <a:extLst>
              <a:ext uri="{FF2B5EF4-FFF2-40B4-BE49-F238E27FC236}">
                <a16:creationId xmlns:a16="http://schemas.microsoft.com/office/drawing/2014/main" id="{89F60316-AFCF-FA62-A8EE-66D20E08EA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407F7C75-555F-5B9C-398F-9101056EDE68}"/>
              </a:ext>
            </a:extLst>
          </p:cNvPr>
          <p:cNvSpPr txBox="1"/>
          <p:nvPr/>
        </p:nvSpPr>
        <p:spPr>
          <a:xfrm>
            <a:off x="335833" y="6318774"/>
            <a:ext cx="7019818" cy="369332"/>
          </a:xfrm>
          <a:prstGeom prst="rect">
            <a:avLst/>
          </a:prstGeom>
          <a:noFill/>
        </p:spPr>
        <p:txBody>
          <a:bodyPr wrap="square">
            <a:spAutoFit/>
          </a:bodyPr>
          <a:lstStyle/>
          <a:p>
            <a:r>
              <a:rPr lang="es-CL" b="1" dirty="0"/>
              <a:t>Notas: </a:t>
            </a:r>
            <a:r>
              <a:rPr lang="es-CL" dirty="0"/>
              <a:t>https://code.claude.com/docs/en/best-practices</a:t>
            </a:r>
          </a:p>
        </p:txBody>
      </p:sp>
      <p:sp>
        <p:nvSpPr>
          <p:cNvPr id="5" name="CuadroTexto 4">
            <a:extLst>
              <a:ext uri="{FF2B5EF4-FFF2-40B4-BE49-F238E27FC236}">
                <a16:creationId xmlns:a16="http://schemas.microsoft.com/office/drawing/2014/main" id="{D09E28C3-7FCC-52AB-68D1-3FF0C219453E}"/>
              </a:ext>
            </a:extLst>
          </p:cNvPr>
          <p:cNvSpPr txBox="1"/>
          <p:nvPr/>
        </p:nvSpPr>
        <p:spPr>
          <a:xfrm>
            <a:off x="2345932" y="2795485"/>
            <a:ext cx="7500135" cy="2732925"/>
          </a:xfrm>
          <a:prstGeom prst="rect">
            <a:avLst/>
          </a:prstGeom>
          <a:noFill/>
        </p:spPr>
        <p:txBody>
          <a:bodyPr wrap="square">
            <a:spAutoFit/>
          </a:bodyPr>
          <a:lstStyle/>
          <a:p>
            <a:pPr marL="0" indent="0" algn="ctr">
              <a:buNone/>
            </a:pPr>
            <a:r>
              <a:rPr lang="en-US" sz="2800" i="1" dirty="0"/>
              <a:t>Claude Code es </a:t>
            </a:r>
            <a:r>
              <a:rPr lang="en-US" sz="2800" i="1" dirty="0" err="1"/>
              <a:t>una</a:t>
            </a:r>
            <a:r>
              <a:rPr lang="en-US" sz="2800" i="1" dirty="0"/>
              <a:t> </a:t>
            </a:r>
            <a:r>
              <a:rPr lang="en-US" sz="2800" i="1" dirty="0" err="1"/>
              <a:t>herramienta</a:t>
            </a:r>
            <a:r>
              <a:rPr lang="en-US" sz="2800" i="1" dirty="0"/>
              <a:t> de </a:t>
            </a:r>
            <a:r>
              <a:rPr lang="en-US" sz="2800" i="1" dirty="0" err="1"/>
              <a:t>linea</a:t>
            </a:r>
            <a:r>
              <a:rPr lang="en-US" sz="2800" i="1" dirty="0"/>
              <a:t> de </a:t>
            </a:r>
            <a:r>
              <a:rPr lang="en-US" sz="2800" i="1" dirty="0" err="1"/>
              <a:t>comandos</a:t>
            </a:r>
            <a:r>
              <a:rPr lang="en-US" sz="2800" i="1" dirty="0"/>
              <a:t> que </a:t>
            </a:r>
            <a:r>
              <a:rPr lang="en-US" sz="2800" i="1" dirty="0" err="1"/>
              <a:t>convierte</a:t>
            </a:r>
            <a:r>
              <a:rPr lang="en-US" sz="2800" i="1" dirty="0"/>
              <a:t> a Claude </a:t>
            </a:r>
            <a:r>
              <a:rPr lang="en-US" sz="2800" i="1" dirty="0" err="1"/>
              <a:t>en</a:t>
            </a:r>
            <a:r>
              <a:rPr lang="en-US" sz="2800" i="1" dirty="0"/>
              <a:t> un </a:t>
            </a:r>
            <a:r>
              <a:rPr lang="en-US" sz="2800" i="1" dirty="0" err="1"/>
              <a:t>agente</a:t>
            </a:r>
            <a:r>
              <a:rPr lang="en-US" sz="2800" i="1" dirty="0"/>
              <a:t> de coding </a:t>
            </a:r>
            <a:r>
              <a:rPr lang="en-US" sz="2800" i="1" dirty="0" err="1"/>
              <a:t>autonomo</a:t>
            </a:r>
            <a:r>
              <a:rPr lang="en-US" sz="2800" i="1" dirty="0"/>
              <a:t>. Puede leer y </a:t>
            </a:r>
            <a:r>
              <a:rPr lang="en-US" sz="2800" i="1" dirty="0" err="1"/>
              <a:t>editar</a:t>
            </a:r>
            <a:r>
              <a:rPr lang="en-US" sz="2800" i="1" dirty="0"/>
              <a:t> </a:t>
            </a:r>
            <a:r>
              <a:rPr lang="en-US" sz="2800" i="1" dirty="0" err="1"/>
              <a:t>archivos</a:t>
            </a:r>
            <a:r>
              <a:rPr lang="en-US" sz="2800" i="1" dirty="0"/>
              <a:t>, </a:t>
            </a:r>
            <a:r>
              <a:rPr lang="en-US" sz="2800" i="1" dirty="0" err="1"/>
              <a:t>ejecutar</a:t>
            </a:r>
            <a:r>
              <a:rPr lang="en-US" sz="2800" i="1" dirty="0"/>
              <a:t> </a:t>
            </a:r>
            <a:r>
              <a:rPr lang="en-US" sz="2800" i="1" dirty="0" err="1"/>
              <a:t>comandos</a:t>
            </a:r>
            <a:r>
              <a:rPr lang="en-US" sz="2800" i="1" dirty="0"/>
              <a:t>, </a:t>
            </a:r>
            <a:r>
              <a:rPr lang="en-US" sz="2800" i="1" dirty="0" err="1"/>
              <a:t>explorar</a:t>
            </a:r>
            <a:r>
              <a:rPr lang="en-US" sz="2800" i="1" dirty="0"/>
              <a:t> </a:t>
            </a:r>
            <a:r>
              <a:rPr lang="en-US" sz="2800" i="1" dirty="0" err="1"/>
              <a:t>tu</a:t>
            </a:r>
            <a:r>
              <a:rPr lang="en-US" sz="2800" i="1" dirty="0"/>
              <a:t> codebase </a:t>
            </a:r>
            <a:r>
              <a:rPr lang="en-US" sz="2800" i="1" dirty="0" err="1"/>
              <a:t>completo</a:t>
            </a:r>
            <a:r>
              <a:rPr lang="en-US" sz="2800" i="1" dirty="0"/>
              <a:t> y </a:t>
            </a:r>
            <a:r>
              <a:rPr lang="en-US" sz="2800" i="1" dirty="0" err="1"/>
              <a:t>completar</a:t>
            </a:r>
            <a:r>
              <a:rPr lang="en-US" sz="2800" i="1" dirty="0"/>
              <a:t> </a:t>
            </a:r>
            <a:r>
              <a:rPr lang="en-US" sz="2800" i="1" dirty="0" err="1"/>
              <a:t>tareas</a:t>
            </a:r>
            <a:r>
              <a:rPr lang="en-US" sz="2800" i="1" dirty="0"/>
              <a:t> </a:t>
            </a:r>
            <a:r>
              <a:rPr lang="en-US" sz="2800" i="1" dirty="0" err="1"/>
              <a:t>complejas</a:t>
            </a:r>
            <a:r>
              <a:rPr lang="en-US" sz="2800" i="1" dirty="0"/>
              <a:t> de principio a fin.</a:t>
            </a:r>
          </a:p>
        </p:txBody>
      </p:sp>
      <p:pic>
        <p:nvPicPr>
          <p:cNvPr id="1026" name="Picture 2" descr="Anthropic Icon &amp; Logo | Dashboard Icons &amp; Logos">
            <a:extLst>
              <a:ext uri="{FF2B5EF4-FFF2-40B4-BE49-F238E27FC236}">
                <a16:creationId xmlns:a16="http://schemas.microsoft.com/office/drawing/2014/main" id="{70935515-8DDF-0A11-563D-AFD29E1A85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1677" y="1370799"/>
            <a:ext cx="1268643" cy="126864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7E40E309-1953-63B1-B01A-A0FDA17B57F4}"/>
              </a:ext>
            </a:extLst>
          </p:cNvPr>
          <p:cNvPicPr>
            <a:picLocks noChangeAspect="1"/>
          </p:cNvPicPr>
          <p:nvPr/>
        </p:nvPicPr>
        <p:blipFill>
          <a:blip r:embed="rId5"/>
          <a:stretch>
            <a:fillRect/>
          </a:stretch>
        </p:blipFill>
        <p:spPr>
          <a:xfrm>
            <a:off x="0" y="0"/>
            <a:ext cx="12192000" cy="6847725"/>
          </a:xfrm>
          <a:prstGeom prst="rect">
            <a:avLst/>
          </a:prstGeom>
        </p:spPr>
      </p:pic>
      <p:sp>
        <p:nvSpPr>
          <p:cNvPr id="9" name="CuadroTexto 8">
            <a:extLst>
              <a:ext uri="{FF2B5EF4-FFF2-40B4-BE49-F238E27FC236}">
                <a16:creationId xmlns:a16="http://schemas.microsoft.com/office/drawing/2014/main" id="{17CC174E-447A-A218-26A5-6E5472983EB2}"/>
              </a:ext>
            </a:extLst>
          </p:cNvPr>
          <p:cNvSpPr txBox="1"/>
          <p:nvPr/>
        </p:nvSpPr>
        <p:spPr>
          <a:xfrm>
            <a:off x="3131049" y="1508266"/>
            <a:ext cx="6097712" cy="584775"/>
          </a:xfrm>
          <a:prstGeom prst="rect">
            <a:avLst/>
          </a:prstGeom>
          <a:noFill/>
        </p:spPr>
        <p:txBody>
          <a:bodyPr wrap="square">
            <a:spAutoFit/>
          </a:bodyPr>
          <a:lstStyle/>
          <a:p>
            <a:r>
              <a:rPr lang="es-CL" sz="3200" b="1" i="1" dirty="0"/>
              <a:t>https://www.anthropic.com/</a:t>
            </a:r>
          </a:p>
        </p:txBody>
      </p:sp>
      <p:sp>
        <p:nvSpPr>
          <p:cNvPr id="10" name="CuadroTexto 9">
            <a:extLst>
              <a:ext uri="{FF2B5EF4-FFF2-40B4-BE49-F238E27FC236}">
                <a16:creationId xmlns:a16="http://schemas.microsoft.com/office/drawing/2014/main" id="{3E80EE44-11C1-417C-4850-2FD97686D77E}"/>
              </a:ext>
            </a:extLst>
          </p:cNvPr>
          <p:cNvSpPr txBox="1"/>
          <p:nvPr/>
        </p:nvSpPr>
        <p:spPr>
          <a:xfrm>
            <a:off x="4002640" y="900017"/>
            <a:ext cx="6097712" cy="584775"/>
          </a:xfrm>
          <a:prstGeom prst="rect">
            <a:avLst/>
          </a:prstGeom>
          <a:noFill/>
        </p:spPr>
        <p:txBody>
          <a:bodyPr wrap="square">
            <a:spAutoFit/>
          </a:bodyPr>
          <a:lstStyle/>
          <a:p>
            <a:r>
              <a:rPr lang="es-MX" sz="3200" b="1" i="1" dirty="0">
                <a:solidFill>
                  <a:srgbClr val="C00000"/>
                </a:solidFill>
              </a:rPr>
              <a:t>¿Dónde aprender?</a:t>
            </a:r>
            <a:endParaRPr lang="es-CL" sz="3200" b="1" i="1" dirty="0">
              <a:solidFill>
                <a:srgbClr val="C00000"/>
              </a:solidFill>
            </a:endParaRPr>
          </a:p>
        </p:txBody>
      </p:sp>
    </p:spTree>
    <p:extLst>
      <p:ext uri="{BB962C8B-B14F-4D97-AF65-F5344CB8AC3E}">
        <p14:creationId xmlns:p14="http://schemas.microsoft.com/office/powerpoint/2010/main" val="2979904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2B217-0E3E-F6DE-EE09-DEDE84C868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A4B0D0-19B7-7EFF-F72A-D1690BEACF41}"/>
              </a:ext>
            </a:extLst>
          </p:cNvPr>
          <p:cNvSpPr>
            <a:spLocks noGrp="1"/>
          </p:cNvSpPr>
          <p:nvPr>
            <p:ph type="title"/>
          </p:nvPr>
        </p:nvSpPr>
        <p:spPr>
          <a:xfrm>
            <a:off x="212543" y="-128056"/>
            <a:ext cx="10846393" cy="1577458"/>
          </a:xfrm>
        </p:spPr>
        <p:txBody>
          <a:bodyPr>
            <a:normAutofit/>
          </a:bodyPr>
          <a:lstStyle/>
          <a:p>
            <a:r>
              <a:rPr lang="es-MX" sz="2400" b="1" i="1" dirty="0"/>
              <a:t>¿Cómo empezar?: </a:t>
            </a:r>
            <a:r>
              <a:rPr lang="es-MX" sz="2400" i="1" dirty="0"/>
              <a:t>Es gratis, pero si quieres usar los modelos de </a:t>
            </a:r>
            <a:r>
              <a:rPr lang="es-CL" sz="2400" i="1" dirty="0" err="1"/>
              <a:t>Anthropic</a:t>
            </a:r>
            <a:r>
              <a:rPr lang="es-MX" sz="2400" i="1" dirty="0"/>
              <a:t>, debes pagar al menos USD 17</a:t>
            </a:r>
            <a:r>
              <a:rPr lang="es-MX" sz="3200" i="1" dirty="0"/>
              <a:t>. </a:t>
            </a:r>
            <a:endParaRPr lang="es-CL" sz="3200" i="1" dirty="0"/>
          </a:p>
        </p:txBody>
      </p:sp>
      <p:pic>
        <p:nvPicPr>
          <p:cNvPr id="4" name="Picture 2" descr="Duoc UC - Learn Chile">
            <a:extLst>
              <a:ext uri="{FF2B5EF4-FFF2-40B4-BE49-F238E27FC236}">
                <a16:creationId xmlns:a16="http://schemas.microsoft.com/office/drawing/2014/main" id="{1A98DFF8-F2BE-54B6-7BAF-DB8D298A0A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A273ED34-C99E-9C47-887F-4490C6CF47CC}"/>
              </a:ext>
            </a:extLst>
          </p:cNvPr>
          <p:cNvSpPr txBox="1"/>
          <p:nvPr/>
        </p:nvSpPr>
        <p:spPr>
          <a:xfrm>
            <a:off x="335833" y="6318774"/>
            <a:ext cx="7019818" cy="369332"/>
          </a:xfrm>
          <a:prstGeom prst="rect">
            <a:avLst/>
          </a:prstGeom>
          <a:noFill/>
        </p:spPr>
        <p:txBody>
          <a:bodyPr wrap="square">
            <a:spAutoFit/>
          </a:bodyPr>
          <a:lstStyle/>
          <a:p>
            <a:r>
              <a:rPr lang="es-CL" b="1" dirty="0"/>
              <a:t>Notas: </a:t>
            </a:r>
            <a:r>
              <a:rPr lang="es-CL" dirty="0"/>
              <a:t>https://claude.com/pricing</a:t>
            </a:r>
          </a:p>
        </p:txBody>
      </p:sp>
      <p:pic>
        <p:nvPicPr>
          <p:cNvPr id="1026" name="Picture 2" descr="Anthropic Icon &amp; Logo | Dashboard Icons &amp; Logos">
            <a:extLst>
              <a:ext uri="{FF2B5EF4-FFF2-40B4-BE49-F238E27FC236}">
                <a16:creationId xmlns:a16="http://schemas.microsoft.com/office/drawing/2014/main" id="{63B67094-6586-7E16-AA89-9C09316D1B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1677" y="1370799"/>
            <a:ext cx="1268643" cy="126864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95093A4C-CD00-E533-A334-39F54C2DBCB2}"/>
              </a:ext>
            </a:extLst>
          </p:cNvPr>
          <p:cNvPicPr>
            <a:picLocks noChangeAspect="1"/>
          </p:cNvPicPr>
          <p:nvPr/>
        </p:nvPicPr>
        <p:blipFill>
          <a:blip r:embed="rId5"/>
          <a:stretch>
            <a:fillRect/>
          </a:stretch>
        </p:blipFill>
        <p:spPr>
          <a:xfrm>
            <a:off x="1897934" y="1115855"/>
            <a:ext cx="8396127" cy="5202919"/>
          </a:xfrm>
          <a:prstGeom prst="rect">
            <a:avLst/>
          </a:prstGeom>
        </p:spPr>
      </p:pic>
    </p:spTree>
    <p:extLst>
      <p:ext uri="{BB962C8B-B14F-4D97-AF65-F5344CB8AC3E}">
        <p14:creationId xmlns:p14="http://schemas.microsoft.com/office/powerpoint/2010/main" val="1920892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8D7CD-C2FD-2FD9-334D-81EE3CC6FF6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43D8D0-6BBA-CEDA-DBF2-76A4CCEA7FEA}"/>
              </a:ext>
            </a:extLst>
          </p:cNvPr>
          <p:cNvSpPr>
            <a:spLocks noGrp="1"/>
          </p:cNvSpPr>
          <p:nvPr>
            <p:ph type="title"/>
          </p:nvPr>
        </p:nvSpPr>
        <p:spPr>
          <a:xfrm>
            <a:off x="212543" y="-128056"/>
            <a:ext cx="10846393" cy="1577458"/>
          </a:xfrm>
        </p:spPr>
        <p:txBody>
          <a:bodyPr>
            <a:normAutofit/>
          </a:bodyPr>
          <a:lstStyle/>
          <a:p>
            <a:r>
              <a:rPr lang="es-MX" sz="2400" b="1" i="1" dirty="0"/>
              <a:t>¿Cómo empezar?: </a:t>
            </a:r>
            <a:r>
              <a:rPr lang="es-MX" sz="2400" i="1" dirty="0" err="1"/>
              <a:t>From</a:t>
            </a:r>
            <a:r>
              <a:rPr lang="es-MX" sz="2400" i="1" dirty="0"/>
              <a:t> 0 </a:t>
            </a:r>
            <a:r>
              <a:rPr lang="es-MX" sz="2400" i="1" dirty="0" err="1"/>
              <a:t>To</a:t>
            </a:r>
            <a:r>
              <a:rPr lang="es-MX" sz="2400" i="1" dirty="0"/>
              <a:t> Hero.</a:t>
            </a:r>
            <a:endParaRPr lang="es-CL" sz="3200" i="1" dirty="0"/>
          </a:p>
        </p:txBody>
      </p:sp>
      <p:pic>
        <p:nvPicPr>
          <p:cNvPr id="4" name="Picture 2" descr="Duoc UC - Learn Chile">
            <a:extLst>
              <a:ext uri="{FF2B5EF4-FFF2-40B4-BE49-F238E27FC236}">
                <a16:creationId xmlns:a16="http://schemas.microsoft.com/office/drawing/2014/main" id="{B917BCD5-1CD2-D663-ABA4-2ABA6C863B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D964F847-6648-0877-821F-B2C5A11CFCF1}"/>
              </a:ext>
            </a:extLst>
          </p:cNvPr>
          <p:cNvSpPr txBox="1"/>
          <p:nvPr/>
        </p:nvSpPr>
        <p:spPr>
          <a:xfrm>
            <a:off x="2095923" y="1510957"/>
            <a:ext cx="7643973" cy="646331"/>
          </a:xfrm>
          <a:prstGeom prst="rect">
            <a:avLst/>
          </a:prstGeom>
          <a:noFill/>
        </p:spPr>
        <p:txBody>
          <a:bodyPr wrap="square" rtlCol="0">
            <a:spAutoFit/>
          </a:bodyPr>
          <a:lstStyle/>
          <a:p>
            <a:r>
              <a:rPr lang="es-MX" b="1" i="1" dirty="0"/>
              <a:t>Instalar Claude </a:t>
            </a:r>
            <a:r>
              <a:rPr lang="es-MX" b="1" i="1" dirty="0" err="1"/>
              <a:t>Code</a:t>
            </a:r>
            <a:r>
              <a:rPr lang="es-MX" i="1" dirty="0"/>
              <a:t>. </a:t>
            </a:r>
          </a:p>
          <a:p>
            <a:r>
              <a:rPr lang="es-MX" i="1" dirty="0" err="1"/>
              <a:t>Npm</a:t>
            </a:r>
            <a:r>
              <a:rPr lang="es-MX" i="1" dirty="0"/>
              <a:t> </a:t>
            </a:r>
            <a:r>
              <a:rPr lang="es-MX" i="1" dirty="0" err="1"/>
              <a:t>install</a:t>
            </a:r>
            <a:r>
              <a:rPr lang="es-MX" i="1" dirty="0"/>
              <a:t> –g @</a:t>
            </a:r>
            <a:r>
              <a:rPr lang="en-US" i="1" dirty="0"/>
              <a:t>anthropic-ai/</a:t>
            </a:r>
            <a:r>
              <a:rPr lang="en-US" i="1" dirty="0" err="1"/>
              <a:t>claude</a:t>
            </a:r>
            <a:r>
              <a:rPr lang="en-US" i="1" dirty="0"/>
              <a:t>-code</a:t>
            </a:r>
            <a:endParaRPr lang="es-CL" i="1" dirty="0"/>
          </a:p>
        </p:txBody>
      </p:sp>
      <p:sp>
        <p:nvSpPr>
          <p:cNvPr id="9" name="CuadroTexto 8">
            <a:extLst>
              <a:ext uri="{FF2B5EF4-FFF2-40B4-BE49-F238E27FC236}">
                <a16:creationId xmlns:a16="http://schemas.microsoft.com/office/drawing/2014/main" id="{F5F193C1-0E60-692C-A4E6-466C8E8944C6}"/>
              </a:ext>
            </a:extLst>
          </p:cNvPr>
          <p:cNvSpPr txBox="1"/>
          <p:nvPr/>
        </p:nvSpPr>
        <p:spPr>
          <a:xfrm>
            <a:off x="2106199" y="2756695"/>
            <a:ext cx="7643973" cy="646331"/>
          </a:xfrm>
          <a:prstGeom prst="rect">
            <a:avLst/>
          </a:prstGeom>
          <a:noFill/>
        </p:spPr>
        <p:txBody>
          <a:bodyPr wrap="square" rtlCol="0">
            <a:spAutoFit/>
          </a:bodyPr>
          <a:lstStyle/>
          <a:p>
            <a:r>
              <a:rPr lang="es-MX" b="1" i="1" dirty="0"/>
              <a:t>Iniciar Sesión</a:t>
            </a:r>
          </a:p>
          <a:p>
            <a:r>
              <a:rPr lang="es-MX" i="1" dirty="0" err="1"/>
              <a:t>claude</a:t>
            </a:r>
            <a:endParaRPr lang="es-CL" i="1" dirty="0"/>
          </a:p>
        </p:txBody>
      </p:sp>
      <p:sp>
        <p:nvSpPr>
          <p:cNvPr id="10" name="CuadroTexto 9">
            <a:extLst>
              <a:ext uri="{FF2B5EF4-FFF2-40B4-BE49-F238E27FC236}">
                <a16:creationId xmlns:a16="http://schemas.microsoft.com/office/drawing/2014/main" id="{C8426508-83D4-FF14-FBB6-509938468D91}"/>
              </a:ext>
            </a:extLst>
          </p:cNvPr>
          <p:cNvSpPr txBox="1"/>
          <p:nvPr/>
        </p:nvSpPr>
        <p:spPr>
          <a:xfrm>
            <a:off x="2095924" y="3591438"/>
            <a:ext cx="7643973" cy="646331"/>
          </a:xfrm>
          <a:prstGeom prst="rect">
            <a:avLst/>
          </a:prstGeom>
          <a:noFill/>
        </p:spPr>
        <p:txBody>
          <a:bodyPr wrap="square" rtlCol="0">
            <a:spAutoFit/>
          </a:bodyPr>
          <a:lstStyle/>
          <a:p>
            <a:r>
              <a:rPr lang="es-MX" b="1" i="1" dirty="0"/>
              <a:t>Abrir en tu proyecto</a:t>
            </a:r>
          </a:p>
          <a:p>
            <a:r>
              <a:rPr lang="es-MX" b="1" i="1" dirty="0"/>
              <a:t>-</a:t>
            </a:r>
            <a:r>
              <a:rPr lang="es-MX" i="1" dirty="0" err="1"/>
              <a:t>cdmiproyecto</a:t>
            </a:r>
            <a:endParaRPr lang="es-CL" i="1" dirty="0"/>
          </a:p>
        </p:txBody>
      </p:sp>
      <p:sp>
        <p:nvSpPr>
          <p:cNvPr id="11" name="CuadroTexto 10">
            <a:extLst>
              <a:ext uri="{FF2B5EF4-FFF2-40B4-BE49-F238E27FC236}">
                <a16:creationId xmlns:a16="http://schemas.microsoft.com/office/drawing/2014/main" id="{7EF4A8BE-A7B0-42F1-9621-CC01173540AD}"/>
              </a:ext>
            </a:extLst>
          </p:cNvPr>
          <p:cNvSpPr txBox="1"/>
          <p:nvPr/>
        </p:nvSpPr>
        <p:spPr>
          <a:xfrm>
            <a:off x="2106199" y="4747121"/>
            <a:ext cx="7643973" cy="646331"/>
          </a:xfrm>
          <a:prstGeom prst="rect">
            <a:avLst/>
          </a:prstGeom>
          <a:noFill/>
        </p:spPr>
        <p:txBody>
          <a:bodyPr wrap="square" rtlCol="0">
            <a:spAutoFit/>
          </a:bodyPr>
          <a:lstStyle/>
          <a:p>
            <a:r>
              <a:rPr lang="es-MX" b="1" i="1" dirty="0"/>
              <a:t>Primer </a:t>
            </a:r>
            <a:r>
              <a:rPr lang="es-MX" b="1" i="1" dirty="0" err="1"/>
              <a:t>prompt</a:t>
            </a:r>
            <a:endParaRPr lang="es-MX" b="1" i="1" dirty="0"/>
          </a:p>
          <a:p>
            <a:r>
              <a:rPr lang="es-MX" i="1" dirty="0"/>
              <a:t>Explícame la arquitectura del proyecto.</a:t>
            </a:r>
            <a:endParaRPr lang="es-CL" i="1" dirty="0"/>
          </a:p>
        </p:txBody>
      </p:sp>
      <p:sp>
        <p:nvSpPr>
          <p:cNvPr id="12" name="CuadroTexto 11">
            <a:extLst>
              <a:ext uri="{FF2B5EF4-FFF2-40B4-BE49-F238E27FC236}">
                <a16:creationId xmlns:a16="http://schemas.microsoft.com/office/drawing/2014/main" id="{F6B89F56-A301-52A4-3AA7-D421C96EBC54}"/>
              </a:ext>
            </a:extLst>
          </p:cNvPr>
          <p:cNvSpPr txBox="1"/>
          <p:nvPr/>
        </p:nvSpPr>
        <p:spPr>
          <a:xfrm>
            <a:off x="1529136" y="1449402"/>
            <a:ext cx="577064" cy="769441"/>
          </a:xfrm>
          <a:prstGeom prst="rect">
            <a:avLst/>
          </a:prstGeom>
          <a:noFill/>
        </p:spPr>
        <p:txBody>
          <a:bodyPr wrap="square" rtlCol="0">
            <a:spAutoFit/>
          </a:bodyPr>
          <a:lstStyle/>
          <a:p>
            <a:r>
              <a:rPr lang="es-MX" sz="4400" b="1" i="1" dirty="0">
                <a:solidFill>
                  <a:schemeClr val="accent2"/>
                </a:solidFill>
              </a:rPr>
              <a:t>1</a:t>
            </a:r>
            <a:endParaRPr lang="es-CL" sz="4400" b="1" i="1" dirty="0">
              <a:solidFill>
                <a:schemeClr val="accent2"/>
              </a:solidFill>
            </a:endParaRPr>
          </a:p>
        </p:txBody>
      </p:sp>
      <p:sp>
        <p:nvSpPr>
          <p:cNvPr id="13" name="CuadroTexto 12">
            <a:extLst>
              <a:ext uri="{FF2B5EF4-FFF2-40B4-BE49-F238E27FC236}">
                <a16:creationId xmlns:a16="http://schemas.microsoft.com/office/drawing/2014/main" id="{DE5281D7-B0EE-5DB8-6639-B255A877F15D}"/>
              </a:ext>
            </a:extLst>
          </p:cNvPr>
          <p:cNvSpPr txBox="1"/>
          <p:nvPr/>
        </p:nvSpPr>
        <p:spPr>
          <a:xfrm>
            <a:off x="1529136" y="2615300"/>
            <a:ext cx="566788" cy="769441"/>
          </a:xfrm>
          <a:prstGeom prst="rect">
            <a:avLst/>
          </a:prstGeom>
          <a:noFill/>
        </p:spPr>
        <p:txBody>
          <a:bodyPr wrap="square" rtlCol="0">
            <a:spAutoFit/>
          </a:bodyPr>
          <a:lstStyle/>
          <a:p>
            <a:r>
              <a:rPr lang="es-MX" sz="4400" b="1" i="1" dirty="0">
                <a:solidFill>
                  <a:schemeClr val="accent2"/>
                </a:solidFill>
              </a:rPr>
              <a:t>2</a:t>
            </a:r>
            <a:endParaRPr lang="es-CL" sz="4400" b="1" i="1" dirty="0">
              <a:solidFill>
                <a:schemeClr val="accent2"/>
              </a:solidFill>
            </a:endParaRPr>
          </a:p>
        </p:txBody>
      </p:sp>
      <p:sp>
        <p:nvSpPr>
          <p:cNvPr id="14" name="CuadroTexto 13">
            <a:extLst>
              <a:ext uri="{FF2B5EF4-FFF2-40B4-BE49-F238E27FC236}">
                <a16:creationId xmlns:a16="http://schemas.microsoft.com/office/drawing/2014/main" id="{04176A91-0380-3ADC-E444-CA1EBDFB4712}"/>
              </a:ext>
            </a:extLst>
          </p:cNvPr>
          <p:cNvSpPr txBox="1"/>
          <p:nvPr/>
        </p:nvSpPr>
        <p:spPr>
          <a:xfrm>
            <a:off x="1529135" y="3460663"/>
            <a:ext cx="577064" cy="769441"/>
          </a:xfrm>
          <a:prstGeom prst="rect">
            <a:avLst/>
          </a:prstGeom>
          <a:noFill/>
        </p:spPr>
        <p:txBody>
          <a:bodyPr wrap="square" rtlCol="0">
            <a:spAutoFit/>
          </a:bodyPr>
          <a:lstStyle/>
          <a:p>
            <a:r>
              <a:rPr lang="es-MX" sz="4400" b="1" i="1" dirty="0">
                <a:solidFill>
                  <a:schemeClr val="accent2"/>
                </a:solidFill>
              </a:rPr>
              <a:t>3</a:t>
            </a:r>
            <a:endParaRPr lang="es-CL" sz="4400" b="1" i="1" dirty="0">
              <a:solidFill>
                <a:schemeClr val="accent2"/>
              </a:solidFill>
            </a:endParaRPr>
          </a:p>
        </p:txBody>
      </p:sp>
      <p:sp>
        <p:nvSpPr>
          <p:cNvPr id="15" name="CuadroTexto 14">
            <a:extLst>
              <a:ext uri="{FF2B5EF4-FFF2-40B4-BE49-F238E27FC236}">
                <a16:creationId xmlns:a16="http://schemas.microsoft.com/office/drawing/2014/main" id="{38BCABE3-8C98-2C37-F53A-B18C586462ED}"/>
              </a:ext>
            </a:extLst>
          </p:cNvPr>
          <p:cNvSpPr txBox="1"/>
          <p:nvPr/>
        </p:nvSpPr>
        <p:spPr>
          <a:xfrm>
            <a:off x="1529133" y="4586651"/>
            <a:ext cx="669537" cy="769441"/>
          </a:xfrm>
          <a:prstGeom prst="rect">
            <a:avLst/>
          </a:prstGeom>
          <a:noFill/>
        </p:spPr>
        <p:txBody>
          <a:bodyPr wrap="square" rtlCol="0">
            <a:spAutoFit/>
          </a:bodyPr>
          <a:lstStyle/>
          <a:p>
            <a:r>
              <a:rPr lang="es-MX" sz="4400" b="1" i="1" dirty="0">
                <a:solidFill>
                  <a:schemeClr val="accent2"/>
                </a:solidFill>
              </a:rPr>
              <a:t>4</a:t>
            </a:r>
            <a:endParaRPr lang="es-CL" sz="4400" b="1" i="1" dirty="0">
              <a:solidFill>
                <a:schemeClr val="accent2"/>
              </a:solidFill>
            </a:endParaRPr>
          </a:p>
        </p:txBody>
      </p:sp>
    </p:spTree>
    <p:extLst>
      <p:ext uri="{BB962C8B-B14F-4D97-AF65-F5344CB8AC3E}">
        <p14:creationId xmlns:p14="http://schemas.microsoft.com/office/powerpoint/2010/main" val="1437005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29B8E-53AE-EA85-B5B2-A66434379C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2D3FDAA-AB0E-4118-3ADC-1184E1E2E800}"/>
              </a:ext>
            </a:extLst>
          </p:cNvPr>
          <p:cNvSpPr>
            <a:spLocks noGrp="1"/>
          </p:cNvSpPr>
          <p:nvPr>
            <p:ph type="title"/>
          </p:nvPr>
        </p:nvSpPr>
        <p:spPr>
          <a:xfrm>
            <a:off x="212543" y="-128056"/>
            <a:ext cx="10846393" cy="1577458"/>
          </a:xfrm>
        </p:spPr>
        <p:txBody>
          <a:bodyPr>
            <a:normAutofit/>
          </a:bodyPr>
          <a:lstStyle/>
          <a:p>
            <a:r>
              <a:rPr lang="es-MX" sz="2400" b="1" i="1" dirty="0"/>
              <a:t>¿Por qué es útil?: </a:t>
            </a:r>
            <a:r>
              <a:rPr lang="es-MX" sz="2400" i="1" dirty="0"/>
              <a:t>Muchos usos, poco problemas útiles.</a:t>
            </a:r>
            <a:endParaRPr lang="es-CL" sz="3200" i="1" dirty="0"/>
          </a:p>
        </p:txBody>
      </p:sp>
      <p:pic>
        <p:nvPicPr>
          <p:cNvPr id="4" name="Picture 2" descr="Duoc UC - Learn Chile">
            <a:extLst>
              <a:ext uri="{FF2B5EF4-FFF2-40B4-BE49-F238E27FC236}">
                <a16:creationId xmlns:a16="http://schemas.microsoft.com/office/drawing/2014/main" id="{2ED8A6D4-A061-4ED4-BAEF-AFE20D22D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E3DDF1B9-A713-3B73-EF2A-D423DABD2FC2}"/>
              </a:ext>
            </a:extLst>
          </p:cNvPr>
          <p:cNvSpPr txBox="1"/>
          <p:nvPr/>
        </p:nvSpPr>
        <p:spPr>
          <a:xfrm>
            <a:off x="2095923" y="1510957"/>
            <a:ext cx="7643973" cy="646331"/>
          </a:xfrm>
          <a:prstGeom prst="rect">
            <a:avLst/>
          </a:prstGeom>
          <a:noFill/>
        </p:spPr>
        <p:txBody>
          <a:bodyPr wrap="square" rtlCol="0">
            <a:spAutoFit/>
          </a:bodyPr>
          <a:lstStyle/>
          <a:p>
            <a:r>
              <a:rPr lang="es-MX" b="1" i="1" dirty="0"/>
              <a:t>Instalar Claude </a:t>
            </a:r>
            <a:r>
              <a:rPr lang="es-MX" b="1" i="1" dirty="0" err="1"/>
              <a:t>Code</a:t>
            </a:r>
            <a:r>
              <a:rPr lang="es-MX" i="1" dirty="0"/>
              <a:t>. </a:t>
            </a:r>
          </a:p>
          <a:p>
            <a:r>
              <a:rPr lang="es-MX" i="1" dirty="0" err="1"/>
              <a:t>Npm</a:t>
            </a:r>
            <a:r>
              <a:rPr lang="es-MX" i="1" dirty="0"/>
              <a:t> </a:t>
            </a:r>
            <a:r>
              <a:rPr lang="es-MX" i="1" dirty="0" err="1"/>
              <a:t>install</a:t>
            </a:r>
            <a:r>
              <a:rPr lang="es-MX" i="1" dirty="0"/>
              <a:t> –g @</a:t>
            </a:r>
            <a:r>
              <a:rPr lang="en-US" i="1" dirty="0"/>
              <a:t>anthropic-ai/</a:t>
            </a:r>
            <a:r>
              <a:rPr lang="en-US" i="1" dirty="0" err="1"/>
              <a:t>claude</a:t>
            </a:r>
            <a:r>
              <a:rPr lang="en-US" i="1" dirty="0"/>
              <a:t>-code</a:t>
            </a:r>
            <a:endParaRPr lang="es-CL" i="1" dirty="0"/>
          </a:p>
        </p:txBody>
      </p:sp>
      <p:sp>
        <p:nvSpPr>
          <p:cNvPr id="9" name="CuadroTexto 8">
            <a:extLst>
              <a:ext uri="{FF2B5EF4-FFF2-40B4-BE49-F238E27FC236}">
                <a16:creationId xmlns:a16="http://schemas.microsoft.com/office/drawing/2014/main" id="{33A48516-9500-4259-B69F-396AA1D5D266}"/>
              </a:ext>
            </a:extLst>
          </p:cNvPr>
          <p:cNvSpPr txBox="1"/>
          <p:nvPr/>
        </p:nvSpPr>
        <p:spPr>
          <a:xfrm>
            <a:off x="2106199" y="2756695"/>
            <a:ext cx="7643973" cy="646331"/>
          </a:xfrm>
          <a:prstGeom prst="rect">
            <a:avLst/>
          </a:prstGeom>
          <a:noFill/>
        </p:spPr>
        <p:txBody>
          <a:bodyPr wrap="square" rtlCol="0">
            <a:spAutoFit/>
          </a:bodyPr>
          <a:lstStyle/>
          <a:p>
            <a:r>
              <a:rPr lang="es-MX" b="1" i="1" dirty="0"/>
              <a:t>Iniciar Sesión</a:t>
            </a:r>
          </a:p>
          <a:p>
            <a:r>
              <a:rPr lang="es-MX" i="1" dirty="0" err="1"/>
              <a:t>claude</a:t>
            </a:r>
            <a:endParaRPr lang="es-CL" i="1" dirty="0"/>
          </a:p>
        </p:txBody>
      </p:sp>
      <p:sp>
        <p:nvSpPr>
          <p:cNvPr id="10" name="CuadroTexto 9">
            <a:extLst>
              <a:ext uri="{FF2B5EF4-FFF2-40B4-BE49-F238E27FC236}">
                <a16:creationId xmlns:a16="http://schemas.microsoft.com/office/drawing/2014/main" id="{84DA6BA2-6118-34EB-24C5-27F5B8201BB4}"/>
              </a:ext>
            </a:extLst>
          </p:cNvPr>
          <p:cNvSpPr txBox="1"/>
          <p:nvPr/>
        </p:nvSpPr>
        <p:spPr>
          <a:xfrm>
            <a:off x="2095924" y="3591438"/>
            <a:ext cx="7643973" cy="646331"/>
          </a:xfrm>
          <a:prstGeom prst="rect">
            <a:avLst/>
          </a:prstGeom>
          <a:noFill/>
        </p:spPr>
        <p:txBody>
          <a:bodyPr wrap="square" rtlCol="0">
            <a:spAutoFit/>
          </a:bodyPr>
          <a:lstStyle/>
          <a:p>
            <a:r>
              <a:rPr lang="es-MX" b="1" i="1" dirty="0"/>
              <a:t>Abrir en tu proyecto</a:t>
            </a:r>
          </a:p>
          <a:p>
            <a:r>
              <a:rPr lang="es-MX" b="1" i="1" dirty="0"/>
              <a:t>-</a:t>
            </a:r>
            <a:r>
              <a:rPr lang="es-MX" i="1" dirty="0" err="1"/>
              <a:t>cdmiproyecto</a:t>
            </a:r>
            <a:endParaRPr lang="es-CL" i="1" dirty="0"/>
          </a:p>
        </p:txBody>
      </p:sp>
      <p:sp>
        <p:nvSpPr>
          <p:cNvPr id="11" name="CuadroTexto 10">
            <a:extLst>
              <a:ext uri="{FF2B5EF4-FFF2-40B4-BE49-F238E27FC236}">
                <a16:creationId xmlns:a16="http://schemas.microsoft.com/office/drawing/2014/main" id="{9FEE930C-5321-1432-2C64-6F247D6F023A}"/>
              </a:ext>
            </a:extLst>
          </p:cNvPr>
          <p:cNvSpPr txBox="1"/>
          <p:nvPr/>
        </p:nvSpPr>
        <p:spPr>
          <a:xfrm>
            <a:off x="2106199" y="4747121"/>
            <a:ext cx="7643973" cy="646331"/>
          </a:xfrm>
          <a:prstGeom prst="rect">
            <a:avLst/>
          </a:prstGeom>
          <a:noFill/>
        </p:spPr>
        <p:txBody>
          <a:bodyPr wrap="square" rtlCol="0">
            <a:spAutoFit/>
          </a:bodyPr>
          <a:lstStyle/>
          <a:p>
            <a:r>
              <a:rPr lang="es-MX" b="1" i="1" dirty="0"/>
              <a:t>Primer </a:t>
            </a:r>
            <a:r>
              <a:rPr lang="es-MX" b="1" i="1" dirty="0" err="1"/>
              <a:t>prompt</a:t>
            </a:r>
            <a:endParaRPr lang="es-MX" b="1" i="1" dirty="0"/>
          </a:p>
          <a:p>
            <a:r>
              <a:rPr lang="es-MX" i="1" dirty="0"/>
              <a:t>Explícame la arquitectura del proyecto.</a:t>
            </a:r>
            <a:endParaRPr lang="es-CL" i="1" dirty="0"/>
          </a:p>
        </p:txBody>
      </p:sp>
      <p:sp>
        <p:nvSpPr>
          <p:cNvPr id="12" name="CuadroTexto 11">
            <a:extLst>
              <a:ext uri="{FF2B5EF4-FFF2-40B4-BE49-F238E27FC236}">
                <a16:creationId xmlns:a16="http://schemas.microsoft.com/office/drawing/2014/main" id="{FBABF22B-8681-46E0-E6CF-62CCD513F7B9}"/>
              </a:ext>
            </a:extLst>
          </p:cNvPr>
          <p:cNvSpPr txBox="1"/>
          <p:nvPr/>
        </p:nvSpPr>
        <p:spPr>
          <a:xfrm>
            <a:off x="1529136" y="1449402"/>
            <a:ext cx="577064" cy="769441"/>
          </a:xfrm>
          <a:prstGeom prst="rect">
            <a:avLst/>
          </a:prstGeom>
          <a:noFill/>
        </p:spPr>
        <p:txBody>
          <a:bodyPr wrap="square" rtlCol="0">
            <a:spAutoFit/>
          </a:bodyPr>
          <a:lstStyle/>
          <a:p>
            <a:r>
              <a:rPr lang="es-MX" sz="4400" b="1" i="1" dirty="0">
                <a:solidFill>
                  <a:schemeClr val="accent2"/>
                </a:solidFill>
              </a:rPr>
              <a:t>1</a:t>
            </a:r>
            <a:endParaRPr lang="es-CL" sz="4400" b="1" i="1" dirty="0">
              <a:solidFill>
                <a:schemeClr val="accent2"/>
              </a:solidFill>
            </a:endParaRPr>
          </a:p>
        </p:txBody>
      </p:sp>
      <p:sp>
        <p:nvSpPr>
          <p:cNvPr id="13" name="CuadroTexto 12">
            <a:extLst>
              <a:ext uri="{FF2B5EF4-FFF2-40B4-BE49-F238E27FC236}">
                <a16:creationId xmlns:a16="http://schemas.microsoft.com/office/drawing/2014/main" id="{A43EB987-EB97-40D8-CC22-40CCC19E3380}"/>
              </a:ext>
            </a:extLst>
          </p:cNvPr>
          <p:cNvSpPr txBox="1"/>
          <p:nvPr/>
        </p:nvSpPr>
        <p:spPr>
          <a:xfrm>
            <a:off x="1529136" y="2615300"/>
            <a:ext cx="566788" cy="769441"/>
          </a:xfrm>
          <a:prstGeom prst="rect">
            <a:avLst/>
          </a:prstGeom>
          <a:noFill/>
        </p:spPr>
        <p:txBody>
          <a:bodyPr wrap="square" rtlCol="0">
            <a:spAutoFit/>
          </a:bodyPr>
          <a:lstStyle/>
          <a:p>
            <a:r>
              <a:rPr lang="es-MX" sz="4400" b="1" i="1" dirty="0">
                <a:solidFill>
                  <a:schemeClr val="accent2"/>
                </a:solidFill>
              </a:rPr>
              <a:t>2</a:t>
            </a:r>
            <a:endParaRPr lang="es-CL" sz="4400" b="1" i="1" dirty="0">
              <a:solidFill>
                <a:schemeClr val="accent2"/>
              </a:solidFill>
            </a:endParaRPr>
          </a:p>
        </p:txBody>
      </p:sp>
      <p:sp>
        <p:nvSpPr>
          <p:cNvPr id="14" name="CuadroTexto 13">
            <a:extLst>
              <a:ext uri="{FF2B5EF4-FFF2-40B4-BE49-F238E27FC236}">
                <a16:creationId xmlns:a16="http://schemas.microsoft.com/office/drawing/2014/main" id="{E7DAFAB6-0AF5-77BD-328C-23F7E06F0B1F}"/>
              </a:ext>
            </a:extLst>
          </p:cNvPr>
          <p:cNvSpPr txBox="1"/>
          <p:nvPr/>
        </p:nvSpPr>
        <p:spPr>
          <a:xfrm>
            <a:off x="1529135" y="3460663"/>
            <a:ext cx="577064" cy="769441"/>
          </a:xfrm>
          <a:prstGeom prst="rect">
            <a:avLst/>
          </a:prstGeom>
          <a:noFill/>
        </p:spPr>
        <p:txBody>
          <a:bodyPr wrap="square" rtlCol="0">
            <a:spAutoFit/>
          </a:bodyPr>
          <a:lstStyle/>
          <a:p>
            <a:r>
              <a:rPr lang="es-MX" sz="4400" b="1" i="1" dirty="0">
                <a:solidFill>
                  <a:schemeClr val="accent2"/>
                </a:solidFill>
              </a:rPr>
              <a:t>3</a:t>
            </a:r>
            <a:endParaRPr lang="es-CL" sz="4400" b="1" i="1" dirty="0">
              <a:solidFill>
                <a:schemeClr val="accent2"/>
              </a:solidFill>
            </a:endParaRPr>
          </a:p>
        </p:txBody>
      </p:sp>
      <p:sp>
        <p:nvSpPr>
          <p:cNvPr id="15" name="CuadroTexto 14">
            <a:extLst>
              <a:ext uri="{FF2B5EF4-FFF2-40B4-BE49-F238E27FC236}">
                <a16:creationId xmlns:a16="http://schemas.microsoft.com/office/drawing/2014/main" id="{16ACC367-D715-AD99-0CA1-B77A9D647B0C}"/>
              </a:ext>
            </a:extLst>
          </p:cNvPr>
          <p:cNvSpPr txBox="1"/>
          <p:nvPr/>
        </p:nvSpPr>
        <p:spPr>
          <a:xfrm>
            <a:off x="1529133" y="4586651"/>
            <a:ext cx="669537" cy="769441"/>
          </a:xfrm>
          <a:prstGeom prst="rect">
            <a:avLst/>
          </a:prstGeom>
          <a:noFill/>
        </p:spPr>
        <p:txBody>
          <a:bodyPr wrap="square" rtlCol="0">
            <a:spAutoFit/>
          </a:bodyPr>
          <a:lstStyle/>
          <a:p>
            <a:r>
              <a:rPr lang="es-MX" sz="4400" b="1" i="1" dirty="0">
                <a:solidFill>
                  <a:schemeClr val="accent2"/>
                </a:solidFill>
              </a:rPr>
              <a:t>4</a:t>
            </a:r>
            <a:endParaRPr lang="es-CL" sz="4400" b="1" i="1" dirty="0">
              <a:solidFill>
                <a:schemeClr val="accent2"/>
              </a:solidFill>
            </a:endParaRPr>
          </a:p>
        </p:txBody>
      </p:sp>
      <p:sp>
        <p:nvSpPr>
          <p:cNvPr id="3" name="Rectángulo 2">
            <a:extLst>
              <a:ext uri="{FF2B5EF4-FFF2-40B4-BE49-F238E27FC236}">
                <a16:creationId xmlns:a16="http://schemas.microsoft.com/office/drawing/2014/main" id="{911D08A3-8C67-8A2E-FBB8-0CE7BC98B12E}"/>
              </a:ext>
            </a:extLst>
          </p:cNvPr>
          <p:cNvSpPr/>
          <p:nvPr/>
        </p:nvSpPr>
        <p:spPr>
          <a:xfrm>
            <a:off x="1345915" y="1118155"/>
            <a:ext cx="8887146" cy="4685016"/>
          </a:xfrm>
          <a:prstGeom prst="rect">
            <a:avLst/>
          </a:prstGeom>
          <a:solidFill>
            <a:schemeClr val="bg1"/>
          </a:solid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Rectángulo 4">
            <a:extLst>
              <a:ext uri="{FF2B5EF4-FFF2-40B4-BE49-F238E27FC236}">
                <a16:creationId xmlns:a16="http://schemas.microsoft.com/office/drawing/2014/main" id="{FC025FDF-5B5C-71BE-5E4D-6B49D9FB0008}"/>
              </a:ext>
            </a:extLst>
          </p:cNvPr>
          <p:cNvSpPr/>
          <p:nvPr/>
        </p:nvSpPr>
        <p:spPr>
          <a:xfrm>
            <a:off x="1356189" y="1136312"/>
            <a:ext cx="2327091" cy="1468714"/>
          </a:xfrm>
          <a:prstGeom prst="rect">
            <a:avLst/>
          </a:prstGeom>
          <a:solidFill>
            <a:schemeClr val="bg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i="1" dirty="0">
                <a:solidFill>
                  <a:schemeClr val="tx1"/>
                </a:solidFill>
              </a:rPr>
              <a:t>Flujo de bugs</a:t>
            </a:r>
            <a:endParaRPr lang="es-CL" b="1" i="1" dirty="0">
              <a:solidFill>
                <a:schemeClr val="tx1"/>
              </a:solidFill>
            </a:endParaRPr>
          </a:p>
        </p:txBody>
      </p:sp>
      <p:sp>
        <p:nvSpPr>
          <p:cNvPr id="6" name="Rectángulo 5">
            <a:extLst>
              <a:ext uri="{FF2B5EF4-FFF2-40B4-BE49-F238E27FC236}">
                <a16:creationId xmlns:a16="http://schemas.microsoft.com/office/drawing/2014/main" id="{CFE44EFF-3AF0-3FE4-461D-23B63890C632}"/>
              </a:ext>
            </a:extLst>
          </p:cNvPr>
          <p:cNvSpPr/>
          <p:nvPr/>
        </p:nvSpPr>
        <p:spPr>
          <a:xfrm>
            <a:off x="3683280" y="1126037"/>
            <a:ext cx="2984648" cy="4613807"/>
          </a:xfrm>
          <a:prstGeom prst="rect">
            <a:avLst/>
          </a:prstGeom>
          <a:solidFill>
            <a:schemeClr val="bg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i="1" dirty="0">
                <a:solidFill>
                  <a:schemeClr val="tx1"/>
                </a:solidFill>
              </a:rPr>
              <a:t>Construir </a:t>
            </a:r>
            <a:r>
              <a:rPr lang="es-MX" b="1" i="1" dirty="0" err="1">
                <a:solidFill>
                  <a:schemeClr val="tx1"/>
                </a:solidFill>
              </a:rPr>
              <a:t>Codebase</a:t>
            </a:r>
            <a:endParaRPr lang="es-CL" b="1" i="1" dirty="0">
              <a:solidFill>
                <a:schemeClr val="tx1"/>
              </a:solidFill>
            </a:endParaRPr>
          </a:p>
        </p:txBody>
      </p:sp>
      <p:sp>
        <p:nvSpPr>
          <p:cNvPr id="7" name="Rectángulo 6">
            <a:extLst>
              <a:ext uri="{FF2B5EF4-FFF2-40B4-BE49-F238E27FC236}">
                <a16:creationId xmlns:a16="http://schemas.microsoft.com/office/drawing/2014/main" id="{922964D9-BE89-7435-66B4-83871D6D62FC}"/>
              </a:ext>
            </a:extLst>
          </p:cNvPr>
          <p:cNvSpPr/>
          <p:nvPr/>
        </p:nvSpPr>
        <p:spPr>
          <a:xfrm>
            <a:off x="6679484" y="1136278"/>
            <a:ext cx="3542021" cy="4613807"/>
          </a:xfrm>
          <a:prstGeom prst="rect">
            <a:avLst/>
          </a:prstGeom>
          <a:solidFill>
            <a:schemeClr val="bg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2000" b="1" i="1" dirty="0" err="1">
                <a:solidFill>
                  <a:schemeClr val="tx1"/>
                </a:solidFill>
              </a:rPr>
              <a:t>Testing</a:t>
            </a:r>
            <a:endParaRPr lang="es-CL" sz="2000" b="1" i="1" dirty="0">
              <a:solidFill>
                <a:schemeClr val="tx1"/>
              </a:solidFill>
            </a:endParaRPr>
          </a:p>
        </p:txBody>
      </p:sp>
      <p:sp>
        <p:nvSpPr>
          <p:cNvPr id="16" name="Rectángulo 15">
            <a:extLst>
              <a:ext uri="{FF2B5EF4-FFF2-40B4-BE49-F238E27FC236}">
                <a16:creationId xmlns:a16="http://schemas.microsoft.com/office/drawing/2014/main" id="{12B3E927-F8E5-E6A7-F3C4-5E0B9DB3BB58}"/>
              </a:ext>
            </a:extLst>
          </p:cNvPr>
          <p:cNvSpPr/>
          <p:nvPr/>
        </p:nvSpPr>
        <p:spPr>
          <a:xfrm>
            <a:off x="1345915" y="2602404"/>
            <a:ext cx="2327091" cy="3147681"/>
          </a:xfrm>
          <a:prstGeom prst="rect">
            <a:avLst/>
          </a:prstGeom>
          <a:solidFill>
            <a:schemeClr val="bg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i="1" dirty="0" err="1">
                <a:solidFill>
                  <a:schemeClr val="tx1"/>
                </a:solidFill>
              </a:rPr>
              <a:t>Refactoring</a:t>
            </a:r>
            <a:endParaRPr lang="es-CL" b="1" i="1" dirty="0">
              <a:solidFill>
                <a:schemeClr val="tx1"/>
              </a:solidFill>
            </a:endParaRPr>
          </a:p>
        </p:txBody>
      </p:sp>
      <p:sp>
        <p:nvSpPr>
          <p:cNvPr id="17" name="Rectángulo 16">
            <a:extLst>
              <a:ext uri="{FF2B5EF4-FFF2-40B4-BE49-F238E27FC236}">
                <a16:creationId xmlns:a16="http://schemas.microsoft.com/office/drawing/2014/main" id="{4ECEC286-EC05-A579-3973-B399A3BD9E47}"/>
              </a:ext>
            </a:extLst>
          </p:cNvPr>
          <p:cNvSpPr/>
          <p:nvPr/>
        </p:nvSpPr>
        <p:spPr>
          <a:xfrm>
            <a:off x="6678202" y="4281371"/>
            <a:ext cx="3542021" cy="1468714"/>
          </a:xfrm>
          <a:prstGeom prst="rect">
            <a:avLst/>
          </a:prstGeom>
          <a:solidFill>
            <a:schemeClr val="bg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i="1" dirty="0">
                <a:solidFill>
                  <a:schemeClr val="tx1"/>
                </a:solidFill>
              </a:rPr>
              <a:t>Documentación</a:t>
            </a:r>
            <a:endParaRPr lang="es-CL" b="1" i="1" dirty="0">
              <a:solidFill>
                <a:schemeClr val="tx1"/>
              </a:solidFill>
            </a:endParaRPr>
          </a:p>
        </p:txBody>
      </p:sp>
    </p:spTree>
    <p:extLst>
      <p:ext uri="{BB962C8B-B14F-4D97-AF65-F5344CB8AC3E}">
        <p14:creationId xmlns:p14="http://schemas.microsoft.com/office/powerpoint/2010/main" val="3009239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96ACF-DCE8-6C8F-CD8B-812E7B8078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4613F1-243B-9A00-54E0-517813AFCD76}"/>
              </a:ext>
            </a:extLst>
          </p:cNvPr>
          <p:cNvSpPr>
            <a:spLocks noGrp="1"/>
          </p:cNvSpPr>
          <p:nvPr>
            <p:ph type="title"/>
          </p:nvPr>
        </p:nvSpPr>
        <p:spPr>
          <a:xfrm>
            <a:off x="212543" y="-128056"/>
            <a:ext cx="10846393" cy="1577458"/>
          </a:xfrm>
        </p:spPr>
        <p:txBody>
          <a:bodyPr>
            <a:normAutofit/>
          </a:bodyPr>
          <a:lstStyle/>
          <a:p>
            <a:r>
              <a:rPr lang="es-MX" sz="2400" b="1" i="1" dirty="0"/>
              <a:t>¿Comando?: </a:t>
            </a:r>
            <a:r>
              <a:rPr lang="es-MX" sz="2400" i="1" dirty="0"/>
              <a:t>Trucos fáciles para trabajar con Claude </a:t>
            </a:r>
            <a:r>
              <a:rPr lang="es-MX" sz="2400" i="1" dirty="0" err="1"/>
              <a:t>Code</a:t>
            </a:r>
            <a:r>
              <a:rPr lang="es-MX" sz="2400" i="1" dirty="0"/>
              <a:t>.</a:t>
            </a:r>
            <a:endParaRPr lang="es-CL" sz="3200" i="1" dirty="0"/>
          </a:p>
        </p:txBody>
      </p:sp>
      <p:pic>
        <p:nvPicPr>
          <p:cNvPr id="4" name="Picture 2" descr="Duoc UC - Learn Chile">
            <a:extLst>
              <a:ext uri="{FF2B5EF4-FFF2-40B4-BE49-F238E27FC236}">
                <a16:creationId xmlns:a16="http://schemas.microsoft.com/office/drawing/2014/main" id="{72196D50-3C0C-FA0B-A124-89368C6F28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18" name="CuadroTexto 17">
            <a:extLst>
              <a:ext uri="{FF2B5EF4-FFF2-40B4-BE49-F238E27FC236}">
                <a16:creationId xmlns:a16="http://schemas.microsoft.com/office/drawing/2014/main" id="{A324DDA4-3F7A-5E7E-9B90-FC1E13785EE4}"/>
              </a:ext>
            </a:extLst>
          </p:cNvPr>
          <p:cNvSpPr txBox="1"/>
          <p:nvPr/>
        </p:nvSpPr>
        <p:spPr>
          <a:xfrm>
            <a:off x="2710664" y="1387847"/>
            <a:ext cx="577064" cy="769441"/>
          </a:xfrm>
          <a:prstGeom prst="rect">
            <a:avLst/>
          </a:prstGeom>
          <a:noFill/>
        </p:spPr>
        <p:txBody>
          <a:bodyPr wrap="square" rtlCol="0">
            <a:spAutoFit/>
          </a:bodyPr>
          <a:lstStyle/>
          <a:p>
            <a:r>
              <a:rPr lang="es-MX" sz="4400" b="1" i="1" dirty="0">
                <a:solidFill>
                  <a:schemeClr val="accent2"/>
                </a:solidFill>
              </a:rPr>
              <a:t>1</a:t>
            </a:r>
            <a:endParaRPr lang="es-CL" sz="4400" b="1" i="1" dirty="0">
              <a:solidFill>
                <a:schemeClr val="accent2"/>
              </a:solidFill>
            </a:endParaRPr>
          </a:p>
        </p:txBody>
      </p:sp>
      <p:sp>
        <p:nvSpPr>
          <p:cNvPr id="19" name="CuadroTexto 18">
            <a:extLst>
              <a:ext uri="{FF2B5EF4-FFF2-40B4-BE49-F238E27FC236}">
                <a16:creationId xmlns:a16="http://schemas.microsoft.com/office/drawing/2014/main" id="{E51BA091-3422-0001-7BDC-F4A9FEDB72AC}"/>
              </a:ext>
            </a:extLst>
          </p:cNvPr>
          <p:cNvSpPr txBox="1"/>
          <p:nvPr/>
        </p:nvSpPr>
        <p:spPr>
          <a:xfrm>
            <a:off x="3277454" y="1449402"/>
            <a:ext cx="7643973" cy="646331"/>
          </a:xfrm>
          <a:prstGeom prst="rect">
            <a:avLst/>
          </a:prstGeom>
          <a:noFill/>
        </p:spPr>
        <p:txBody>
          <a:bodyPr wrap="square" rtlCol="0">
            <a:spAutoFit/>
          </a:bodyPr>
          <a:lstStyle/>
          <a:p>
            <a:r>
              <a:rPr lang="es-MX" b="1" i="1" dirty="0"/>
              <a:t>/</a:t>
            </a:r>
            <a:r>
              <a:rPr lang="es-MX" b="1" i="1" dirty="0" err="1"/>
              <a:t>help</a:t>
            </a:r>
            <a:endParaRPr lang="es-MX" b="1" i="1" dirty="0"/>
          </a:p>
          <a:p>
            <a:r>
              <a:rPr lang="es-MX" i="1" dirty="0"/>
              <a:t>Lista de todos los comando disponibles.</a:t>
            </a:r>
            <a:endParaRPr lang="es-CL" i="1" dirty="0"/>
          </a:p>
        </p:txBody>
      </p:sp>
      <p:sp>
        <p:nvSpPr>
          <p:cNvPr id="20" name="CuadroTexto 19">
            <a:extLst>
              <a:ext uri="{FF2B5EF4-FFF2-40B4-BE49-F238E27FC236}">
                <a16:creationId xmlns:a16="http://schemas.microsoft.com/office/drawing/2014/main" id="{5DC3B298-24F3-141A-2350-A4D070F3097A}"/>
              </a:ext>
            </a:extLst>
          </p:cNvPr>
          <p:cNvSpPr txBox="1"/>
          <p:nvPr/>
        </p:nvSpPr>
        <p:spPr>
          <a:xfrm>
            <a:off x="3277454" y="2218843"/>
            <a:ext cx="7643973" cy="646331"/>
          </a:xfrm>
          <a:prstGeom prst="rect">
            <a:avLst/>
          </a:prstGeom>
          <a:noFill/>
        </p:spPr>
        <p:txBody>
          <a:bodyPr wrap="square" rtlCol="0">
            <a:spAutoFit/>
          </a:bodyPr>
          <a:lstStyle/>
          <a:p>
            <a:r>
              <a:rPr lang="es-MX" b="1" i="1" dirty="0"/>
              <a:t>/</a:t>
            </a:r>
            <a:r>
              <a:rPr lang="es-MX" b="1" i="1" dirty="0" err="1"/>
              <a:t>clear</a:t>
            </a:r>
            <a:endParaRPr lang="es-MX" b="1" i="1" dirty="0"/>
          </a:p>
          <a:p>
            <a:r>
              <a:rPr lang="es-MX" i="1" dirty="0"/>
              <a:t>Limpia el historial de conversación</a:t>
            </a:r>
          </a:p>
        </p:txBody>
      </p:sp>
      <p:sp>
        <p:nvSpPr>
          <p:cNvPr id="21" name="CuadroTexto 20">
            <a:extLst>
              <a:ext uri="{FF2B5EF4-FFF2-40B4-BE49-F238E27FC236}">
                <a16:creationId xmlns:a16="http://schemas.microsoft.com/office/drawing/2014/main" id="{F82940B5-4C18-D116-D953-48AEAD07A1F7}"/>
              </a:ext>
            </a:extLst>
          </p:cNvPr>
          <p:cNvSpPr txBox="1"/>
          <p:nvPr/>
        </p:nvSpPr>
        <p:spPr>
          <a:xfrm>
            <a:off x="3277453" y="2988284"/>
            <a:ext cx="7643973" cy="646331"/>
          </a:xfrm>
          <a:prstGeom prst="rect">
            <a:avLst/>
          </a:prstGeom>
          <a:noFill/>
        </p:spPr>
        <p:txBody>
          <a:bodyPr wrap="square" rtlCol="0">
            <a:spAutoFit/>
          </a:bodyPr>
          <a:lstStyle/>
          <a:p>
            <a:r>
              <a:rPr lang="es-MX" b="1" i="1" dirty="0"/>
              <a:t>/compact</a:t>
            </a:r>
          </a:p>
          <a:p>
            <a:r>
              <a:rPr lang="es-MX" i="1" dirty="0"/>
              <a:t>Comprime el contexto para conversaciones largas</a:t>
            </a:r>
            <a:r>
              <a:rPr lang="es-MX" b="1" i="1" dirty="0"/>
              <a:t>.</a:t>
            </a:r>
          </a:p>
        </p:txBody>
      </p:sp>
      <p:sp>
        <p:nvSpPr>
          <p:cNvPr id="22" name="CuadroTexto 21">
            <a:extLst>
              <a:ext uri="{FF2B5EF4-FFF2-40B4-BE49-F238E27FC236}">
                <a16:creationId xmlns:a16="http://schemas.microsoft.com/office/drawing/2014/main" id="{AD436A5B-158B-0061-C8AC-37BA82E65D97}"/>
              </a:ext>
            </a:extLst>
          </p:cNvPr>
          <p:cNvSpPr txBox="1"/>
          <p:nvPr/>
        </p:nvSpPr>
        <p:spPr>
          <a:xfrm>
            <a:off x="3277452" y="3662821"/>
            <a:ext cx="7643973" cy="646331"/>
          </a:xfrm>
          <a:prstGeom prst="rect">
            <a:avLst/>
          </a:prstGeom>
          <a:noFill/>
        </p:spPr>
        <p:txBody>
          <a:bodyPr wrap="square" rtlCol="0">
            <a:spAutoFit/>
          </a:bodyPr>
          <a:lstStyle/>
          <a:p>
            <a:r>
              <a:rPr lang="es-MX" b="1" i="1" dirty="0"/>
              <a:t>/</a:t>
            </a:r>
            <a:r>
              <a:rPr lang="es-MX" b="1" i="1" dirty="0" err="1"/>
              <a:t>review</a:t>
            </a:r>
            <a:endParaRPr lang="es-MX" b="1" i="1" dirty="0"/>
          </a:p>
          <a:p>
            <a:r>
              <a:rPr lang="es-MX" i="1" dirty="0"/>
              <a:t>Revisa los cambios 	pendientes del repo</a:t>
            </a:r>
          </a:p>
        </p:txBody>
      </p:sp>
      <p:sp>
        <p:nvSpPr>
          <p:cNvPr id="23" name="CuadroTexto 22">
            <a:extLst>
              <a:ext uri="{FF2B5EF4-FFF2-40B4-BE49-F238E27FC236}">
                <a16:creationId xmlns:a16="http://schemas.microsoft.com/office/drawing/2014/main" id="{12C1F125-3C85-C67F-69F2-6E3BDF2F73CC}"/>
              </a:ext>
            </a:extLst>
          </p:cNvPr>
          <p:cNvSpPr txBox="1"/>
          <p:nvPr/>
        </p:nvSpPr>
        <p:spPr>
          <a:xfrm>
            <a:off x="3277451" y="4370707"/>
            <a:ext cx="7643973" cy="646331"/>
          </a:xfrm>
          <a:prstGeom prst="rect">
            <a:avLst/>
          </a:prstGeom>
          <a:noFill/>
        </p:spPr>
        <p:txBody>
          <a:bodyPr wrap="square" rtlCol="0">
            <a:spAutoFit/>
          </a:bodyPr>
          <a:lstStyle/>
          <a:p>
            <a:r>
              <a:rPr lang="es-MX" b="1" i="1" dirty="0"/>
              <a:t>/</a:t>
            </a:r>
            <a:r>
              <a:rPr lang="es-MX" b="1" i="1" dirty="0" err="1"/>
              <a:t>init</a:t>
            </a:r>
            <a:endParaRPr lang="es-MX" b="1" i="1" dirty="0"/>
          </a:p>
          <a:p>
            <a:r>
              <a:rPr lang="es-MX" i="1" dirty="0"/>
              <a:t>Crea Claude.md con </a:t>
            </a:r>
            <a:r>
              <a:rPr lang="es-MX" i="1" dirty="0" err="1"/>
              <a:t>docs</a:t>
            </a:r>
            <a:r>
              <a:rPr lang="es-MX" i="1" dirty="0"/>
              <a:t> del proyecto.</a:t>
            </a:r>
            <a:endParaRPr lang="es-CL" i="1" dirty="0"/>
          </a:p>
        </p:txBody>
      </p:sp>
      <p:sp>
        <p:nvSpPr>
          <p:cNvPr id="24" name="CuadroTexto 23">
            <a:extLst>
              <a:ext uri="{FF2B5EF4-FFF2-40B4-BE49-F238E27FC236}">
                <a16:creationId xmlns:a16="http://schemas.microsoft.com/office/drawing/2014/main" id="{271ABDD9-6D3C-39D2-B23E-1D56863D643E}"/>
              </a:ext>
            </a:extLst>
          </p:cNvPr>
          <p:cNvSpPr txBox="1"/>
          <p:nvPr/>
        </p:nvSpPr>
        <p:spPr>
          <a:xfrm>
            <a:off x="3277450" y="5078593"/>
            <a:ext cx="7643973" cy="646331"/>
          </a:xfrm>
          <a:prstGeom prst="rect">
            <a:avLst/>
          </a:prstGeom>
          <a:noFill/>
        </p:spPr>
        <p:txBody>
          <a:bodyPr wrap="square" rtlCol="0">
            <a:spAutoFit/>
          </a:bodyPr>
          <a:lstStyle/>
          <a:p>
            <a:r>
              <a:rPr lang="es-MX" b="1" i="1" dirty="0"/>
              <a:t>/</a:t>
            </a:r>
            <a:r>
              <a:rPr lang="es-MX" b="1" i="1" dirty="0" err="1"/>
              <a:t>memory</a:t>
            </a:r>
            <a:endParaRPr lang="es-MX" b="1" i="1" dirty="0"/>
          </a:p>
          <a:p>
            <a:r>
              <a:rPr lang="es-MX" i="1" dirty="0"/>
              <a:t>Gestiona los archivos de memoria.</a:t>
            </a:r>
            <a:endParaRPr lang="es-CL" i="1" dirty="0"/>
          </a:p>
        </p:txBody>
      </p:sp>
      <p:sp>
        <p:nvSpPr>
          <p:cNvPr id="25" name="CuadroTexto 24">
            <a:extLst>
              <a:ext uri="{FF2B5EF4-FFF2-40B4-BE49-F238E27FC236}">
                <a16:creationId xmlns:a16="http://schemas.microsoft.com/office/drawing/2014/main" id="{D1D3A03F-9BBB-C02C-F837-18DB893CE5D2}"/>
              </a:ext>
            </a:extLst>
          </p:cNvPr>
          <p:cNvSpPr txBox="1"/>
          <p:nvPr/>
        </p:nvSpPr>
        <p:spPr>
          <a:xfrm>
            <a:off x="3277449" y="5724924"/>
            <a:ext cx="7643973" cy="646331"/>
          </a:xfrm>
          <a:prstGeom prst="rect">
            <a:avLst/>
          </a:prstGeom>
          <a:noFill/>
        </p:spPr>
        <p:txBody>
          <a:bodyPr wrap="square" rtlCol="0">
            <a:spAutoFit/>
          </a:bodyPr>
          <a:lstStyle/>
          <a:p>
            <a:r>
              <a:rPr lang="es-MX" b="1" i="1" dirty="0"/>
              <a:t>/doctor</a:t>
            </a:r>
          </a:p>
          <a:p>
            <a:r>
              <a:rPr lang="es-MX" i="1" dirty="0"/>
              <a:t>Verifica si el entorno esta bien configurado.</a:t>
            </a:r>
          </a:p>
        </p:txBody>
      </p:sp>
      <p:sp>
        <p:nvSpPr>
          <p:cNvPr id="26" name="CuadroTexto 25">
            <a:extLst>
              <a:ext uri="{FF2B5EF4-FFF2-40B4-BE49-F238E27FC236}">
                <a16:creationId xmlns:a16="http://schemas.microsoft.com/office/drawing/2014/main" id="{302A0147-A614-E5D8-A71D-31AD15AEF6FF}"/>
              </a:ext>
            </a:extLst>
          </p:cNvPr>
          <p:cNvSpPr txBox="1"/>
          <p:nvPr/>
        </p:nvSpPr>
        <p:spPr>
          <a:xfrm>
            <a:off x="2710664" y="2109836"/>
            <a:ext cx="565932" cy="769441"/>
          </a:xfrm>
          <a:prstGeom prst="rect">
            <a:avLst/>
          </a:prstGeom>
          <a:noFill/>
        </p:spPr>
        <p:txBody>
          <a:bodyPr wrap="square" rtlCol="0">
            <a:spAutoFit/>
          </a:bodyPr>
          <a:lstStyle/>
          <a:p>
            <a:r>
              <a:rPr lang="es-MX" sz="4400" b="1" i="1" dirty="0">
                <a:solidFill>
                  <a:schemeClr val="accent2"/>
                </a:solidFill>
              </a:rPr>
              <a:t>2</a:t>
            </a:r>
            <a:endParaRPr lang="es-CL" sz="4400" b="1" i="1" dirty="0">
              <a:solidFill>
                <a:schemeClr val="accent2"/>
              </a:solidFill>
            </a:endParaRPr>
          </a:p>
        </p:txBody>
      </p:sp>
      <p:sp>
        <p:nvSpPr>
          <p:cNvPr id="27" name="CuadroTexto 26">
            <a:extLst>
              <a:ext uri="{FF2B5EF4-FFF2-40B4-BE49-F238E27FC236}">
                <a16:creationId xmlns:a16="http://schemas.microsoft.com/office/drawing/2014/main" id="{FFF4D08D-4247-5AAA-64C1-887511F9FA96}"/>
              </a:ext>
            </a:extLst>
          </p:cNvPr>
          <p:cNvSpPr txBox="1"/>
          <p:nvPr/>
        </p:nvSpPr>
        <p:spPr>
          <a:xfrm>
            <a:off x="2710664" y="2845928"/>
            <a:ext cx="577064" cy="769441"/>
          </a:xfrm>
          <a:prstGeom prst="rect">
            <a:avLst/>
          </a:prstGeom>
          <a:noFill/>
        </p:spPr>
        <p:txBody>
          <a:bodyPr wrap="square" rtlCol="0">
            <a:spAutoFit/>
          </a:bodyPr>
          <a:lstStyle/>
          <a:p>
            <a:r>
              <a:rPr lang="es-MX" sz="4400" b="1" i="1" dirty="0">
                <a:solidFill>
                  <a:schemeClr val="accent2"/>
                </a:solidFill>
              </a:rPr>
              <a:t>3</a:t>
            </a:r>
            <a:endParaRPr lang="es-CL" sz="4400" b="1" i="1" dirty="0">
              <a:solidFill>
                <a:schemeClr val="accent2"/>
              </a:solidFill>
            </a:endParaRPr>
          </a:p>
        </p:txBody>
      </p:sp>
      <p:sp>
        <p:nvSpPr>
          <p:cNvPr id="28" name="CuadroTexto 27">
            <a:extLst>
              <a:ext uri="{FF2B5EF4-FFF2-40B4-BE49-F238E27FC236}">
                <a16:creationId xmlns:a16="http://schemas.microsoft.com/office/drawing/2014/main" id="{2E075F68-5B87-F4CA-F9A8-2955994ABB73}"/>
              </a:ext>
            </a:extLst>
          </p:cNvPr>
          <p:cNvSpPr txBox="1"/>
          <p:nvPr/>
        </p:nvSpPr>
        <p:spPr>
          <a:xfrm>
            <a:off x="2714514" y="3598695"/>
            <a:ext cx="577064" cy="769441"/>
          </a:xfrm>
          <a:prstGeom prst="rect">
            <a:avLst/>
          </a:prstGeom>
          <a:noFill/>
        </p:spPr>
        <p:txBody>
          <a:bodyPr wrap="square" rtlCol="0">
            <a:spAutoFit/>
          </a:bodyPr>
          <a:lstStyle/>
          <a:p>
            <a:r>
              <a:rPr lang="es-MX" sz="4400" b="1" i="1" dirty="0">
                <a:solidFill>
                  <a:schemeClr val="accent2"/>
                </a:solidFill>
              </a:rPr>
              <a:t>4</a:t>
            </a:r>
            <a:endParaRPr lang="es-CL" sz="4400" b="1" i="1" dirty="0">
              <a:solidFill>
                <a:schemeClr val="accent2"/>
              </a:solidFill>
            </a:endParaRPr>
          </a:p>
        </p:txBody>
      </p:sp>
      <p:sp>
        <p:nvSpPr>
          <p:cNvPr id="29" name="CuadroTexto 28">
            <a:extLst>
              <a:ext uri="{FF2B5EF4-FFF2-40B4-BE49-F238E27FC236}">
                <a16:creationId xmlns:a16="http://schemas.microsoft.com/office/drawing/2014/main" id="{7BD68EAE-2CBB-9978-947A-6BD6B46F2BB6}"/>
              </a:ext>
            </a:extLst>
          </p:cNvPr>
          <p:cNvSpPr txBox="1"/>
          <p:nvPr/>
        </p:nvSpPr>
        <p:spPr>
          <a:xfrm>
            <a:off x="2681976" y="4351462"/>
            <a:ext cx="577064" cy="769441"/>
          </a:xfrm>
          <a:prstGeom prst="rect">
            <a:avLst/>
          </a:prstGeom>
          <a:noFill/>
        </p:spPr>
        <p:txBody>
          <a:bodyPr wrap="square" rtlCol="0">
            <a:spAutoFit/>
          </a:bodyPr>
          <a:lstStyle/>
          <a:p>
            <a:r>
              <a:rPr lang="es-MX" sz="4400" b="1" i="1" dirty="0">
                <a:solidFill>
                  <a:schemeClr val="accent2"/>
                </a:solidFill>
              </a:rPr>
              <a:t>5</a:t>
            </a:r>
            <a:endParaRPr lang="es-CL" sz="4400" b="1" i="1" dirty="0">
              <a:solidFill>
                <a:schemeClr val="accent2"/>
              </a:solidFill>
            </a:endParaRPr>
          </a:p>
        </p:txBody>
      </p:sp>
      <p:sp>
        <p:nvSpPr>
          <p:cNvPr id="30" name="CuadroTexto 29">
            <a:extLst>
              <a:ext uri="{FF2B5EF4-FFF2-40B4-BE49-F238E27FC236}">
                <a16:creationId xmlns:a16="http://schemas.microsoft.com/office/drawing/2014/main" id="{89DBE57A-7F76-910C-E865-CE28715A9D6F}"/>
              </a:ext>
            </a:extLst>
          </p:cNvPr>
          <p:cNvSpPr txBox="1"/>
          <p:nvPr/>
        </p:nvSpPr>
        <p:spPr>
          <a:xfrm>
            <a:off x="2649438" y="5017038"/>
            <a:ext cx="577064" cy="769441"/>
          </a:xfrm>
          <a:prstGeom prst="rect">
            <a:avLst/>
          </a:prstGeom>
          <a:noFill/>
        </p:spPr>
        <p:txBody>
          <a:bodyPr wrap="square" rtlCol="0">
            <a:spAutoFit/>
          </a:bodyPr>
          <a:lstStyle/>
          <a:p>
            <a:r>
              <a:rPr lang="es-MX" sz="4400" b="1" i="1" dirty="0">
                <a:solidFill>
                  <a:schemeClr val="accent2"/>
                </a:solidFill>
              </a:rPr>
              <a:t>6</a:t>
            </a:r>
            <a:endParaRPr lang="es-CL" sz="4400" b="1" i="1" dirty="0">
              <a:solidFill>
                <a:schemeClr val="accent2"/>
              </a:solidFill>
            </a:endParaRPr>
          </a:p>
        </p:txBody>
      </p:sp>
      <p:sp>
        <p:nvSpPr>
          <p:cNvPr id="31" name="CuadroTexto 30">
            <a:extLst>
              <a:ext uri="{FF2B5EF4-FFF2-40B4-BE49-F238E27FC236}">
                <a16:creationId xmlns:a16="http://schemas.microsoft.com/office/drawing/2014/main" id="{EB9464BB-A681-FFB7-2AEE-AABE78E35958}"/>
              </a:ext>
            </a:extLst>
          </p:cNvPr>
          <p:cNvSpPr txBox="1"/>
          <p:nvPr/>
        </p:nvSpPr>
        <p:spPr>
          <a:xfrm>
            <a:off x="2616900" y="5665940"/>
            <a:ext cx="577064" cy="769441"/>
          </a:xfrm>
          <a:prstGeom prst="rect">
            <a:avLst/>
          </a:prstGeom>
          <a:noFill/>
        </p:spPr>
        <p:txBody>
          <a:bodyPr wrap="square" rtlCol="0">
            <a:spAutoFit/>
          </a:bodyPr>
          <a:lstStyle/>
          <a:p>
            <a:r>
              <a:rPr lang="es-MX" sz="4400" b="1" i="1" dirty="0">
                <a:solidFill>
                  <a:schemeClr val="accent2"/>
                </a:solidFill>
              </a:rPr>
              <a:t>7</a:t>
            </a:r>
            <a:endParaRPr lang="es-CL" sz="4400" b="1" i="1" dirty="0">
              <a:solidFill>
                <a:schemeClr val="accent2"/>
              </a:solidFill>
            </a:endParaRPr>
          </a:p>
        </p:txBody>
      </p:sp>
    </p:spTree>
    <p:extLst>
      <p:ext uri="{BB962C8B-B14F-4D97-AF65-F5344CB8AC3E}">
        <p14:creationId xmlns:p14="http://schemas.microsoft.com/office/powerpoint/2010/main" val="2495139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472A3-3F1F-C226-39C0-BB5DDCB554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5E190A-E7CC-47D8-B75F-67ADFD52F138}"/>
              </a:ext>
            </a:extLst>
          </p:cNvPr>
          <p:cNvSpPr>
            <a:spLocks noGrp="1"/>
          </p:cNvSpPr>
          <p:nvPr>
            <p:ph type="title"/>
          </p:nvPr>
        </p:nvSpPr>
        <p:spPr>
          <a:xfrm>
            <a:off x="414076" y="0"/>
            <a:ext cx="10846393" cy="1577458"/>
          </a:xfrm>
        </p:spPr>
        <p:txBody>
          <a:bodyPr>
            <a:normAutofit/>
          </a:bodyPr>
          <a:lstStyle/>
          <a:p>
            <a:r>
              <a:rPr lang="es-MX" sz="2400" b="1" i="1" dirty="0"/>
              <a:t>MCP: </a:t>
            </a:r>
            <a:r>
              <a:rPr lang="es-MX" sz="2400" i="1" dirty="0" err="1"/>
              <a:t>Model</a:t>
            </a:r>
            <a:r>
              <a:rPr lang="es-MX" sz="2400" i="1" dirty="0"/>
              <a:t> </a:t>
            </a:r>
            <a:r>
              <a:rPr lang="es-MX" sz="2400" i="1" dirty="0" err="1"/>
              <a:t>Context</a:t>
            </a:r>
            <a:r>
              <a:rPr lang="es-MX" sz="2400" i="1" dirty="0"/>
              <a:t> </a:t>
            </a:r>
            <a:r>
              <a:rPr lang="es-MX" sz="2400" i="1" dirty="0" err="1"/>
              <a:t>Protocol</a:t>
            </a:r>
            <a:endParaRPr lang="es-CL" sz="3200" i="1" dirty="0"/>
          </a:p>
        </p:txBody>
      </p:sp>
      <p:pic>
        <p:nvPicPr>
          <p:cNvPr id="4" name="Picture 2" descr="Duoc UC - Learn Chile">
            <a:extLst>
              <a:ext uri="{FF2B5EF4-FFF2-40B4-BE49-F238E27FC236}">
                <a16:creationId xmlns:a16="http://schemas.microsoft.com/office/drawing/2014/main" id="{94065E06-EE03-9346-B5AD-B7ADDDF0B0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EFBC006B-B30D-9907-D918-83CBA31A6C3D}"/>
              </a:ext>
            </a:extLst>
          </p:cNvPr>
          <p:cNvSpPr txBox="1"/>
          <p:nvPr/>
        </p:nvSpPr>
        <p:spPr>
          <a:xfrm>
            <a:off x="404117" y="1653602"/>
            <a:ext cx="6274086" cy="1815882"/>
          </a:xfrm>
          <a:prstGeom prst="rect">
            <a:avLst/>
          </a:prstGeom>
          <a:noFill/>
        </p:spPr>
        <p:txBody>
          <a:bodyPr wrap="square">
            <a:spAutoFit/>
          </a:bodyPr>
          <a:lstStyle/>
          <a:p>
            <a:pPr algn="ctr"/>
            <a:r>
              <a:rPr lang="en-US" sz="2800" i="1" dirty="0"/>
              <a:t>MCP es un </a:t>
            </a:r>
            <a:r>
              <a:rPr lang="en-US" sz="2800" i="1" dirty="0" err="1"/>
              <a:t>protocolo</a:t>
            </a:r>
            <a:r>
              <a:rPr lang="en-US" sz="2800" i="1" dirty="0"/>
              <a:t> que </a:t>
            </a:r>
            <a:r>
              <a:rPr lang="en-US" sz="2800" i="1" dirty="0" err="1"/>
              <a:t>permite</a:t>
            </a:r>
            <a:r>
              <a:rPr lang="en-US" sz="2800" i="1" dirty="0"/>
              <a:t> a Claude </a:t>
            </a:r>
            <a:r>
              <a:rPr lang="en-US" sz="2800" i="1" dirty="0" err="1"/>
              <a:t>conectarse</a:t>
            </a:r>
            <a:r>
              <a:rPr lang="en-US" sz="2800" i="1" dirty="0"/>
              <a:t> con </a:t>
            </a:r>
            <a:r>
              <a:rPr lang="en-US" sz="2800" i="1" dirty="0" err="1"/>
              <a:t>herramientas</a:t>
            </a:r>
            <a:r>
              <a:rPr lang="en-US" sz="2800" i="1" dirty="0"/>
              <a:t> y </a:t>
            </a:r>
            <a:r>
              <a:rPr lang="en-US" sz="2800" i="1" dirty="0" err="1"/>
              <a:t>datos</a:t>
            </a:r>
            <a:r>
              <a:rPr lang="en-US" sz="2800" i="1" dirty="0"/>
              <a:t> </a:t>
            </a:r>
            <a:r>
              <a:rPr lang="en-US" sz="2800" i="1" dirty="0" err="1"/>
              <a:t>externos</a:t>
            </a:r>
            <a:r>
              <a:rPr lang="en-US" sz="2800" i="1" dirty="0"/>
              <a:t>: bases de </a:t>
            </a:r>
            <a:r>
              <a:rPr lang="en-US" sz="2800" i="1" dirty="0" err="1"/>
              <a:t>datos</a:t>
            </a:r>
            <a:r>
              <a:rPr lang="en-US" sz="2800" i="1" dirty="0"/>
              <a:t>, APIs, Slack, GitHub y mas.</a:t>
            </a:r>
          </a:p>
        </p:txBody>
      </p:sp>
      <p:sp>
        <p:nvSpPr>
          <p:cNvPr id="5" name="CuadroTexto 4">
            <a:extLst>
              <a:ext uri="{FF2B5EF4-FFF2-40B4-BE49-F238E27FC236}">
                <a16:creationId xmlns:a16="http://schemas.microsoft.com/office/drawing/2014/main" id="{CE0DF5B4-5F49-7044-3C5A-FAA087F3980C}"/>
              </a:ext>
            </a:extLst>
          </p:cNvPr>
          <p:cNvSpPr txBox="1"/>
          <p:nvPr/>
        </p:nvSpPr>
        <p:spPr>
          <a:xfrm>
            <a:off x="7575394" y="1853657"/>
            <a:ext cx="7643973" cy="646331"/>
          </a:xfrm>
          <a:prstGeom prst="rect">
            <a:avLst/>
          </a:prstGeom>
          <a:noFill/>
        </p:spPr>
        <p:txBody>
          <a:bodyPr wrap="square" rtlCol="0">
            <a:spAutoFit/>
          </a:bodyPr>
          <a:lstStyle/>
          <a:p>
            <a:r>
              <a:rPr lang="es-MX" b="1" i="1" dirty="0" err="1"/>
              <a:t>Github</a:t>
            </a:r>
            <a:r>
              <a:rPr lang="es-MX" b="1" i="1" dirty="0"/>
              <a:t> MCP</a:t>
            </a:r>
          </a:p>
          <a:p>
            <a:r>
              <a:rPr lang="es-MX" i="1" dirty="0"/>
              <a:t>Repos, </a:t>
            </a:r>
            <a:r>
              <a:rPr lang="es-MX" i="1" dirty="0" err="1"/>
              <a:t>PRs</a:t>
            </a:r>
            <a:r>
              <a:rPr lang="es-MX" i="1" dirty="0"/>
              <a:t>, Issues, 	</a:t>
            </a:r>
            <a:r>
              <a:rPr lang="es-MX" i="1" dirty="0" err="1"/>
              <a:t>commits</a:t>
            </a:r>
            <a:r>
              <a:rPr lang="es-MX" i="1" dirty="0"/>
              <a:t>.</a:t>
            </a:r>
          </a:p>
        </p:txBody>
      </p:sp>
      <p:sp>
        <p:nvSpPr>
          <p:cNvPr id="6" name="CuadroTexto 5">
            <a:extLst>
              <a:ext uri="{FF2B5EF4-FFF2-40B4-BE49-F238E27FC236}">
                <a16:creationId xmlns:a16="http://schemas.microsoft.com/office/drawing/2014/main" id="{FACEE77B-36BB-7A51-0FAF-E1E11763697D}"/>
              </a:ext>
            </a:extLst>
          </p:cNvPr>
          <p:cNvSpPr txBox="1"/>
          <p:nvPr/>
        </p:nvSpPr>
        <p:spPr>
          <a:xfrm>
            <a:off x="7008607" y="1792102"/>
            <a:ext cx="577064" cy="769441"/>
          </a:xfrm>
          <a:prstGeom prst="rect">
            <a:avLst/>
          </a:prstGeom>
          <a:noFill/>
        </p:spPr>
        <p:txBody>
          <a:bodyPr wrap="square" rtlCol="0">
            <a:spAutoFit/>
          </a:bodyPr>
          <a:lstStyle/>
          <a:p>
            <a:r>
              <a:rPr lang="es-MX" sz="4400" b="1" i="1" dirty="0">
                <a:solidFill>
                  <a:schemeClr val="accent2"/>
                </a:solidFill>
              </a:rPr>
              <a:t>1</a:t>
            </a:r>
            <a:endParaRPr lang="es-CL" sz="4400" b="1" i="1" dirty="0">
              <a:solidFill>
                <a:schemeClr val="accent2"/>
              </a:solidFill>
            </a:endParaRPr>
          </a:p>
        </p:txBody>
      </p:sp>
      <p:sp>
        <p:nvSpPr>
          <p:cNvPr id="7" name="CuadroTexto 6">
            <a:extLst>
              <a:ext uri="{FF2B5EF4-FFF2-40B4-BE49-F238E27FC236}">
                <a16:creationId xmlns:a16="http://schemas.microsoft.com/office/drawing/2014/main" id="{E28EC326-79B2-3579-59AD-3F72A7567F2E}"/>
              </a:ext>
            </a:extLst>
          </p:cNvPr>
          <p:cNvSpPr txBox="1"/>
          <p:nvPr/>
        </p:nvSpPr>
        <p:spPr>
          <a:xfrm>
            <a:off x="7532511" y="2642632"/>
            <a:ext cx="7643973" cy="646331"/>
          </a:xfrm>
          <a:prstGeom prst="rect">
            <a:avLst/>
          </a:prstGeom>
          <a:noFill/>
        </p:spPr>
        <p:txBody>
          <a:bodyPr wrap="square" rtlCol="0">
            <a:spAutoFit/>
          </a:bodyPr>
          <a:lstStyle/>
          <a:p>
            <a:r>
              <a:rPr lang="es-MX" b="1" i="1" dirty="0" err="1"/>
              <a:t>Slack</a:t>
            </a:r>
            <a:r>
              <a:rPr lang="es-MX" b="1" i="1" dirty="0"/>
              <a:t> MCP</a:t>
            </a:r>
          </a:p>
          <a:p>
            <a:r>
              <a:rPr lang="en-US" i="1" dirty="0" err="1"/>
              <a:t>Mensajes</a:t>
            </a:r>
            <a:r>
              <a:rPr lang="en-US" i="1" dirty="0"/>
              <a:t>, canales, </a:t>
            </a:r>
            <a:r>
              <a:rPr lang="en-US" i="1" dirty="0" err="1"/>
              <a:t>usuarios</a:t>
            </a:r>
            <a:endParaRPr lang="en-US" i="1" dirty="0"/>
          </a:p>
        </p:txBody>
      </p:sp>
      <p:sp>
        <p:nvSpPr>
          <p:cNvPr id="9" name="CuadroTexto 8">
            <a:extLst>
              <a:ext uri="{FF2B5EF4-FFF2-40B4-BE49-F238E27FC236}">
                <a16:creationId xmlns:a16="http://schemas.microsoft.com/office/drawing/2014/main" id="{E0F454ED-7A93-1AEA-885E-38AFCD21F790}"/>
              </a:ext>
            </a:extLst>
          </p:cNvPr>
          <p:cNvSpPr txBox="1"/>
          <p:nvPr/>
        </p:nvSpPr>
        <p:spPr>
          <a:xfrm>
            <a:off x="7008607" y="2623098"/>
            <a:ext cx="577064" cy="769441"/>
          </a:xfrm>
          <a:prstGeom prst="rect">
            <a:avLst/>
          </a:prstGeom>
          <a:noFill/>
        </p:spPr>
        <p:txBody>
          <a:bodyPr wrap="square" rtlCol="0">
            <a:spAutoFit/>
          </a:bodyPr>
          <a:lstStyle/>
          <a:p>
            <a:r>
              <a:rPr lang="es-MX" sz="4400" b="1" i="1" dirty="0">
                <a:solidFill>
                  <a:schemeClr val="accent2"/>
                </a:solidFill>
              </a:rPr>
              <a:t>2</a:t>
            </a:r>
            <a:endParaRPr lang="es-CL" sz="4400" b="1" i="1" dirty="0">
              <a:solidFill>
                <a:schemeClr val="accent2"/>
              </a:solidFill>
            </a:endParaRPr>
          </a:p>
        </p:txBody>
      </p:sp>
      <p:sp>
        <p:nvSpPr>
          <p:cNvPr id="10" name="CuadroTexto 9">
            <a:extLst>
              <a:ext uri="{FF2B5EF4-FFF2-40B4-BE49-F238E27FC236}">
                <a16:creationId xmlns:a16="http://schemas.microsoft.com/office/drawing/2014/main" id="{092E49B1-55DD-B370-5EB9-765BBDD264C6}"/>
              </a:ext>
            </a:extLst>
          </p:cNvPr>
          <p:cNvSpPr txBox="1"/>
          <p:nvPr/>
        </p:nvSpPr>
        <p:spPr>
          <a:xfrm>
            <a:off x="7532506" y="3569038"/>
            <a:ext cx="7643973" cy="646331"/>
          </a:xfrm>
          <a:prstGeom prst="rect">
            <a:avLst/>
          </a:prstGeom>
          <a:noFill/>
        </p:spPr>
        <p:txBody>
          <a:bodyPr wrap="square" rtlCol="0">
            <a:spAutoFit/>
          </a:bodyPr>
          <a:lstStyle/>
          <a:p>
            <a:r>
              <a:rPr lang="es-MX" b="1" i="1" dirty="0" err="1"/>
              <a:t>PostgresSQL</a:t>
            </a:r>
            <a:r>
              <a:rPr lang="es-MX" b="1" i="1" dirty="0"/>
              <a:t> MCP</a:t>
            </a:r>
          </a:p>
          <a:p>
            <a:r>
              <a:rPr lang="en-US" i="1" dirty="0"/>
              <a:t>Queries </a:t>
            </a:r>
            <a:r>
              <a:rPr lang="en-US" i="1" dirty="0" err="1"/>
              <a:t>directo</a:t>
            </a:r>
            <a:r>
              <a:rPr lang="en-US" i="1" dirty="0"/>
              <a:t> </a:t>
            </a:r>
            <a:r>
              <a:rPr lang="en-US" i="1" dirty="0" err="1"/>
              <a:t>desde</a:t>
            </a:r>
            <a:r>
              <a:rPr lang="en-US" i="1" dirty="0"/>
              <a:t> Claude</a:t>
            </a:r>
            <a:r>
              <a:rPr lang="es-MX" i="1" dirty="0"/>
              <a:t>.</a:t>
            </a:r>
          </a:p>
        </p:txBody>
      </p:sp>
      <p:sp>
        <p:nvSpPr>
          <p:cNvPr id="11" name="CuadroTexto 10">
            <a:extLst>
              <a:ext uri="{FF2B5EF4-FFF2-40B4-BE49-F238E27FC236}">
                <a16:creationId xmlns:a16="http://schemas.microsoft.com/office/drawing/2014/main" id="{21B20859-1661-CAF1-85B8-369D846A7C86}"/>
              </a:ext>
            </a:extLst>
          </p:cNvPr>
          <p:cNvSpPr txBox="1"/>
          <p:nvPr/>
        </p:nvSpPr>
        <p:spPr>
          <a:xfrm>
            <a:off x="6998330" y="3535183"/>
            <a:ext cx="577064" cy="769441"/>
          </a:xfrm>
          <a:prstGeom prst="rect">
            <a:avLst/>
          </a:prstGeom>
          <a:noFill/>
        </p:spPr>
        <p:txBody>
          <a:bodyPr wrap="square" rtlCol="0">
            <a:spAutoFit/>
          </a:bodyPr>
          <a:lstStyle/>
          <a:p>
            <a:r>
              <a:rPr lang="es-MX" sz="4400" b="1" i="1" dirty="0">
                <a:solidFill>
                  <a:schemeClr val="accent2"/>
                </a:solidFill>
              </a:rPr>
              <a:t>3</a:t>
            </a:r>
            <a:endParaRPr lang="es-CL" sz="4400" b="1" i="1" dirty="0">
              <a:solidFill>
                <a:schemeClr val="accent2"/>
              </a:solidFill>
            </a:endParaRPr>
          </a:p>
        </p:txBody>
      </p:sp>
      <p:sp>
        <p:nvSpPr>
          <p:cNvPr id="12" name="CuadroTexto 11">
            <a:extLst>
              <a:ext uri="{FF2B5EF4-FFF2-40B4-BE49-F238E27FC236}">
                <a16:creationId xmlns:a16="http://schemas.microsoft.com/office/drawing/2014/main" id="{49019276-617C-68D6-D61B-3132072E448D}"/>
              </a:ext>
            </a:extLst>
          </p:cNvPr>
          <p:cNvSpPr txBox="1"/>
          <p:nvPr/>
        </p:nvSpPr>
        <p:spPr>
          <a:xfrm>
            <a:off x="7008607" y="4385712"/>
            <a:ext cx="577064" cy="769441"/>
          </a:xfrm>
          <a:prstGeom prst="rect">
            <a:avLst/>
          </a:prstGeom>
          <a:noFill/>
        </p:spPr>
        <p:txBody>
          <a:bodyPr wrap="square" rtlCol="0">
            <a:spAutoFit/>
          </a:bodyPr>
          <a:lstStyle/>
          <a:p>
            <a:r>
              <a:rPr lang="es-MX" sz="4400" b="1" i="1" dirty="0">
                <a:solidFill>
                  <a:schemeClr val="accent2"/>
                </a:solidFill>
              </a:rPr>
              <a:t>4</a:t>
            </a:r>
            <a:endParaRPr lang="es-CL" sz="4400" b="1" i="1" dirty="0">
              <a:solidFill>
                <a:schemeClr val="accent2"/>
              </a:solidFill>
            </a:endParaRPr>
          </a:p>
        </p:txBody>
      </p:sp>
      <p:sp>
        <p:nvSpPr>
          <p:cNvPr id="13" name="CuadroTexto 12">
            <a:extLst>
              <a:ext uri="{FF2B5EF4-FFF2-40B4-BE49-F238E27FC236}">
                <a16:creationId xmlns:a16="http://schemas.microsoft.com/office/drawing/2014/main" id="{36F2C3A9-11FC-E77B-3A5B-4715163736B1}"/>
              </a:ext>
            </a:extLst>
          </p:cNvPr>
          <p:cNvSpPr txBox="1"/>
          <p:nvPr/>
        </p:nvSpPr>
        <p:spPr>
          <a:xfrm>
            <a:off x="7532506" y="4447268"/>
            <a:ext cx="7643973" cy="646331"/>
          </a:xfrm>
          <a:prstGeom prst="rect">
            <a:avLst/>
          </a:prstGeom>
          <a:noFill/>
        </p:spPr>
        <p:txBody>
          <a:bodyPr wrap="square" rtlCol="0">
            <a:spAutoFit/>
          </a:bodyPr>
          <a:lstStyle/>
          <a:p>
            <a:r>
              <a:rPr lang="es-MX" b="1" i="1" dirty="0" err="1"/>
              <a:t>FileSystem</a:t>
            </a:r>
            <a:r>
              <a:rPr lang="es-MX" b="1" i="1" dirty="0"/>
              <a:t> MCP</a:t>
            </a:r>
          </a:p>
          <a:p>
            <a:r>
              <a:rPr lang="es-MX" i="1" dirty="0"/>
              <a:t>Acceso a archivos locales.</a:t>
            </a:r>
          </a:p>
        </p:txBody>
      </p:sp>
      <p:sp>
        <p:nvSpPr>
          <p:cNvPr id="14" name="CuadroTexto 13">
            <a:extLst>
              <a:ext uri="{FF2B5EF4-FFF2-40B4-BE49-F238E27FC236}">
                <a16:creationId xmlns:a16="http://schemas.microsoft.com/office/drawing/2014/main" id="{469B1202-EABF-05AA-8046-501F61F60A9A}"/>
              </a:ext>
            </a:extLst>
          </p:cNvPr>
          <p:cNvSpPr txBox="1"/>
          <p:nvPr/>
        </p:nvSpPr>
        <p:spPr>
          <a:xfrm>
            <a:off x="7008607" y="5155153"/>
            <a:ext cx="577064" cy="769441"/>
          </a:xfrm>
          <a:prstGeom prst="rect">
            <a:avLst/>
          </a:prstGeom>
          <a:noFill/>
        </p:spPr>
        <p:txBody>
          <a:bodyPr wrap="square" rtlCol="0">
            <a:spAutoFit/>
          </a:bodyPr>
          <a:lstStyle/>
          <a:p>
            <a:r>
              <a:rPr lang="es-MX" sz="4400" b="1" i="1" dirty="0">
                <a:solidFill>
                  <a:schemeClr val="accent2"/>
                </a:solidFill>
              </a:rPr>
              <a:t>5</a:t>
            </a:r>
            <a:endParaRPr lang="es-CL" sz="4400" b="1" i="1" dirty="0">
              <a:solidFill>
                <a:schemeClr val="accent2"/>
              </a:solidFill>
            </a:endParaRPr>
          </a:p>
        </p:txBody>
      </p:sp>
      <p:sp>
        <p:nvSpPr>
          <p:cNvPr id="15" name="CuadroTexto 14">
            <a:extLst>
              <a:ext uri="{FF2B5EF4-FFF2-40B4-BE49-F238E27FC236}">
                <a16:creationId xmlns:a16="http://schemas.microsoft.com/office/drawing/2014/main" id="{07F7EC1C-7B8D-6947-2490-158E4A7E3225}"/>
              </a:ext>
            </a:extLst>
          </p:cNvPr>
          <p:cNvSpPr txBox="1"/>
          <p:nvPr/>
        </p:nvSpPr>
        <p:spPr>
          <a:xfrm>
            <a:off x="7532506" y="5236241"/>
            <a:ext cx="7643973" cy="646331"/>
          </a:xfrm>
          <a:prstGeom prst="rect">
            <a:avLst/>
          </a:prstGeom>
          <a:noFill/>
        </p:spPr>
        <p:txBody>
          <a:bodyPr wrap="square" rtlCol="0">
            <a:spAutoFit/>
          </a:bodyPr>
          <a:lstStyle/>
          <a:p>
            <a:r>
              <a:rPr lang="es-MX" b="1" i="1" dirty="0" err="1"/>
              <a:t>CopyWriting</a:t>
            </a:r>
            <a:r>
              <a:rPr lang="es-MX" b="1" i="1" dirty="0"/>
              <a:t> MCP</a:t>
            </a:r>
          </a:p>
          <a:p>
            <a:r>
              <a:rPr lang="es-MX" i="1" dirty="0"/>
              <a:t>Acceso al </a:t>
            </a:r>
            <a:r>
              <a:rPr lang="es-MX" i="1" dirty="0" err="1"/>
              <a:t>browers</a:t>
            </a:r>
            <a:r>
              <a:rPr lang="es-MX" i="1" dirty="0"/>
              <a:t>.</a:t>
            </a:r>
          </a:p>
        </p:txBody>
      </p:sp>
      <p:sp>
        <p:nvSpPr>
          <p:cNvPr id="17" name="Shape 12">
            <a:extLst>
              <a:ext uri="{FF2B5EF4-FFF2-40B4-BE49-F238E27FC236}">
                <a16:creationId xmlns:a16="http://schemas.microsoft.com/office/drawing/2014/main" id="{283E83C1-4B2B-6D6C-DDBD-6B922196C106}"/>
              </a:ext>
            </a:extLst>
          </p:cNvPr>
          <p:cNvSpPr/>
          <p:nvPr/>
        </p:nvSpPr>
        <p:spPr>
          <a:xfrm>
            <a:off x="1341828" y="4004163"/>
            <a:ext cx="4495445" cy="1089436"/>
          </a:xfrm>
          <a:prstGeom prst="rect">
            <a:avLst/>
          </a:prstGeom>
          <a:solidFill>
            <a:srgbClr val="010409"/>
          </a:solidFill>
          <a:ln/>
        </p:spPr>
        <p:txBody>
          <a:bodyPr/>
          <a:lstStyle/>
          <a:p>
            <a:endParaRPr lang="es-CL" dirty="0"/>
          </a:p>
        </p:txBody>
      </p:sp>
      <p:sp>
        <p:nvSpPr>
          <p:cNvPr id="32" name="Text 13">
            <a:extLst>
              <a:ext uri="{FF2B5EF4-FFF2-40B4-BE49-F238E27FC236}">
                <a16:creationId xmlns:a16="http://schemas.microsoft.com/office/drawing/2014/main" id="{DC5B6D44-FC1C-C15E-D755-488F917F6D2D}"/>
              </a:ext>
            </a:extLst>
          </p:cNvPr>
          <p:cNvSpPr/>
          <p:nvPr/>
        </p:nvSpPr>
        <p:spPr>
          <a:xfrm>
            <a:off x="1478775" y="4251701"/>
            <a:ext cx="3383280" cy="594360"/>
          </a:xfrm>
          <a:prstGeom prst="rect">
            <a:avLst/>
          </a:prstGeom>
          <a:noFill/>
          <a:ln/>
        </p:spPr>
        <p:txBody>
          <a:bodyPr wrap="square" lIns="0" tIns="0" rIns="0" bIns="0" rtlCol="0" anchor="ctr"/>
          <a:lstStyle/>
          <a:p>
            <a:pPr marL="0" indent="0">
              <a:buNone/>
            </a:pPr>
            <a:r>
              <a:rPr lang="en-US" dirty="0">
                <a:solidFill>
                  <a:srgbClr val="00D4AA"/>
                </a:solidFill>
                <a:latin typeface="Consolas" pitchFamily="34" charset="0"/>
                <a:ea typeface="Consolas" pitchFamily="34" charset="-122"/>
                <a:cs typeface="Consolas" pitchFamily="34" charset="-120"/>
              </a:rPr>
              <a:t>claude mcp add my-server \</a:t>
            </a:r>
            <a:endParaRPr lang="en-US" dirty="0"/>
          </a:p>
          <a:p>
            <a:pPr marL="0" indent="0">
              <a:buNone/>
            </a:pPr>
            <a:r>
              <a:rPr lang="en-US" dirty="0">
                <a:solidFill>
                  <a:srgbClr val="00D4AA"/>
                </a:solidFill>
                <a:latin typeface="Consolas" pitchFamily="34" charset="0"/>
                <a:ea typeface="Consolas" pitchFamily="34" charset="-122"/>
                <a:cs typeface="Consolas" pitchFamily="34" charset="-120"/>
              </a:rPr>
              <a:t>  -e API_KEY=xxx \</a:t>
            </a:r>
            <a:endParaRPr lang="en-US" dirty="0"/>
          </a:p>
          <a:p>
            <a:pPr marL="0" indent="0">
              <a:buNone/>
            </a:pPr>
            <a:r>
              <a:rPr lang="en-US" dirty="0">
                <a:solidFill>
                  <a:srgbClr val="00D4AA"/>
                </a:solidFill>
                <a:latin typeface="Consolas" pitchFamily="34" charset="0"/>
                <a:ea typeface="Consolas" pitchFamily="34" charset="-122"/>
                <a:cs typeface="Consolas" pitchFamily="34" charset="-120"/>
              </a:rPr>
              <a:t>  -- npx server-package</a:t>
            </a:r>
            <a:endParaRPr lang="en-US" dirty="0"/>
          </a:p>
        </p:txBody>
      </p:sp>
    </p:spTree>
    <p:extLst>
      <p:ext uri="{BB962C8B-B14F-4D97-AF65-F5344CB8AC3E}">
        <p14:creationId xmlns:p14="http://schemas.microsoft.com/office/powerpoint/2010/main" val="2238515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7D15A-F2CE-86E2-5067-C530EE51C0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4C0891-F71E-25A1-7861-1E43C0F75A89}"/>
              </a:ext>
            </a:extLst>
          </p:cNvPr>
          <p:cNvSpPr>
            <a:spLocks noGrp="1"/>
          </p:cNvSpPr>
          <p:nvPr>
            <p:ph type="title"/>
          </p:nvPr>
        </p:nvSpPr>
        <p:spPr>
          <a:xfrm>
            <a:off x="414076" y="0"/>
            <a:ext cx="10846393" cy="1577458"/>
          </a:xfrm>
        </p:spPr>
        <p:txBody>
          <a:bodyPr>
            <a:normAutofit/>
          </a:bodyPr>
          <a:lstStyle/>
          <a:p>
            <a:r>
              <a:rPr lang="es-MX" sz="2400" b="1" i="1" dirty="0" err="1"/>
              <a:t>Hooks</a:t>
            </a:r>
            <a:r>
              <a:rPr lang="es-MX" sz="2400" b="1" i="1" dirty="0"/>
              <a:t>: </a:t>
            </a:r>
            <a:r>
              <a:rPr lang="es-MX" sz="2400" i="1" dirty="0"/>
              <a:t>Automatización con Control</a:t>
            </a:r>
            <a:endParaRPr lang="es-CL" sz="3200" i="1" dirty="0"/>
          </a:p>
        </p:txBody>
      </p:sp>
      <p:pic>
        <p:nvPicPr>
          <p:cNvPr id="4" name="Picture 2" descr="Duoc UC - Learn Chile">
            <a:extLst>
              <a:ext uri="{FF2B5EF4-FFF2-40B4-BE49-F238E27FC236}">
                <a16:creationId xmlns:a16="http://schemas.microsoft.com/office/drawing/2014/main" id="{15B55520-0ED0-217F-419D-FBF32400DD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D42E964D-9D21-388A-3B4F-B9EF48F1B4CE}"/>
              </a:ext>
            </a:extLst>
          </p:cNvPr>
          <p:cNvSpPr txBox="1"/>
          <p:nvPr/>
        </p:nvSpPr>
        <p:spPr>
          <a:xfrm>
            <a:off x="462292" y="2269154"/>
            <a:ext cx="6274086" cy="2246769"/>
          </a:xfrm>
          <a:prstGeom prst="rect">
            <a:avLst/>
          </a:prstGeom>
          <a:noFill/>
        </p:spPr>
        <p:txBody>
          <a:bodyPr wrap="square">
            <a:spAutoFit/>
          </a:bodyPr>
          <a:lstStyle/>
          <a:p>
            <a:pPr algn="ctr"/>
            <a:r>
              <a:rPr lang="en-US" sz="2800" i="1" dirty="0"/>
              <a:t>Los Hooks son scripts que se </a:t>
            </a:r>
            <a:r>
              <a:rPr lang="en-US" sz="2800" i="1" dirty="0" err="1"/>
              <a:t>ejecutan</a:t>
            </a:r>
            <a:r>
              <a:rPr lang="en-US" sz="2800" i="1" dirty="0"/>
              <a:t> </a:t>
            </a:r>
            <a:r>
              <a:rPr lang="en-US" sz="2800" i="1" dirty="0" err="1"/>
              <a:t>automaticamente</a:t>
            </a:r>
            <a:r>
              <a:rPr lang="en-US" sz="2800" i="1" dirty="0"/>
              <a:t> antes o </a:t>
            </a:r>
            <a:r>
              <a:rPr lang="en-US" sz="2800" i="1" dirty="0" err="1"/>
              <a:t>despues</a:t>
            </a:r>
            <a:r>
              <a:rPr lang="en-US" sz="2800" i="1" dirty="0"/>
              <a:t> de </a:t>
            </a:r>
            <a:r>
              <a:rPr lang="en-US" sz="2800" i="1" dirty="0" err="1"/>
              <a:t>acciones</a:t>
            </a:r>
            <a:r>
              <a:rPr lang="en-US" sz="2800" i="1" dirty="0"/>
              <a:t> de Claude Code. Dan control </a:t>
            </a:r>
            <a:r>
              <a:rPr lang="en-US" sz="2800" i="1" dirty="0" err="1"/>
              <a:t>deterministico</a:t>
            </a:r>
            <a:r>
              <a:rPr lang="en-US" sz="2800" i="1" dirty="0"/>
              <a:t> </a:t>
            </a:r>
            <a:r>
              <a:rPr lang="en-US" sz="2800" i="1" dirty="0" err="1"/>
              <a:t>sobre</a:t>
            </a:r>
            <a:r>
              <a:rPr lang="en-US" sz="2800" i="1" dirty="0"/>
              <a:t> </a:t>
            </a:r>
            <a:r>
              <a:rPr lang="en-US" sz="2800" i="1" dirty="0" err="1"/>
              <a:t>el</a:t>
            </a:r>
            <a:r>
              <a:rPr lang="en-US" sz="2800" i="1" dirty="0"/>
              <a:t> </a:t>
            </a:r>
            <a:r>
              <a:rPr lang="en-US" sz="2800" i="1" dirty="0" err="1"/>
              <a:t>comportamiento</a:t>
            </a:r>
            <a:r>
              <a:rPr lang="en-US" sz="2800" i="1" dirty="0"/>
              <a:t> del </a:t>
            </a:r>
            <a:r>
              <a:rPr lang="en-US" sz="2800" i="1" dirty="0" err="1"/>
              <a:t>agente</a:t>
            </a:r>
            <a:r>
              <a:rPr lang="en-US" sz="2800" i="1" dirty="0"/>
              <a:t>.</a:t>
            </a:r>
          </a:p>
        </p:txBody>
      </p:sp>
      <p:sp>
        <p:nvSpPr>
          <p:cNvPr id="5" name="CuadroTexto 4">
            <a:extLst>
              <a:ext uri="{FF2B5EF4-FFF2-40B4-BE49-F238E27FC236}">
                <a16:creationId xmlns:a16="http://schemas.microsoft.com/office/drawing/2014/main" id="{426CC556-CBD9-6F04-4972-07CC76006405}"/>
              </a:ext>
            </a:extLst>
          </p:cNvPr>
          <p:cNvSpPr txBox="1"/>
          <p:nvPr/>
        </p:nvSpPr>
        <p:spPr>
          <a:xfrm>
            <a:off x="7575394" y="1853657"/>
            <a:ext cx="7643973" cy="584775"/>
          </a:xfrm>
          <a:prstGeom prst="rect">
            <a:avLst/>
          </a:prstGeom>
          <a:noFill/>
        </p:spPr>
        <p:txBody>
          <a:bodyPr wrap="square" rtlCol="0">
            <a:spAutoFit/>
          </a:bodyPr>
          <a:lstStyle/>
          <a:p>
            <a:r>
              <a:rPr lang="en-US" b="1" dirty="0" err="1">
                <a:latin typeface="Consolas" pitchFamily="34" charset="0"/>
                <a:ea typeface="Consolas" pitchFamily="34" charset="-122"/>
                <a:cs typeface="Consolas" pitchFamily="34" charset="-120"/>
              </a:rPr>
              <a:t>PreToolUse</a:t>
            </a:r>
            <a:endParaRPr lang="en-US" b="1" dirty="0">
              <a:latin typeface="Consolas" pitchFamily="34" charset="0"/>
              <a:ea typeface="Consolas" pitchFamily="34" charset="-122"/>
              <a:cs typeface="Consolas" pitchFamily="34" charset="-120"/>
            </a:endParaRPr>
          </a:p>
          <a:p>
            <a:r>
              <a:rPr lang="en-US" sz="1400" i="1" dirty="0">
                <a:latin typeface="Consolas" pitchFamily="34" charset="0"/>
              </a:rPr>
              <a:t>Antes de </a:t>
            </a:r>
            <a:r>
              <a:rPr lang="en-US" sz="1400" i="1" dirty="0" err="1">
                <a:latin typeface="Consolas" pitchFamily="34" charset="0"/>
              </a:rPr>
              <a:t>ejecutar</a:t>
            </a:r>
            <a:r>
              <a:rPr lang="en-US" sz="1400" i="1" dirty="0">
                <a:latin typeface="Consolas" pitchFamily="34" charset="0"/>
              </a:rPr>
              <a:t> </a:t>
            </a:r>
            <a:r>
              <a:rPr lang="en-US" sz="1400" i="1" dirty="0" err="1">
                <a:latin typeface="Consolas" pitchFamily="34" charset="0"/>
              </a:rPr>
              <a:t>una</a:t>
            </a:r>
            <a:r>
              <a:rPr lang="en-US" sz="1400" i="1" dirty="0">
                <a:latin typeface="Consolas" pitchFamily="34" charset="0"/>
              </a:rPr>
              <a:t> </a:t>
            </a:r>
            <a:r>
              <a:rPr lang="en-US" sz="1400" i="1" dirty="0" err="1">
                <a:latin typeface="Consolas" pitchFamily="34" charset="0"/>
              </a:rPr>
              <a:t>herramienta</a:t>
            </a:r>
            <a:r>
              <a:rPr lang="en-US" sz="1400" i="1" dirty="0">
                <a:latin typeface="Consolas" pitchFamily="34" charset="0"/>
              </a:rPr>
              <a:t>.</a:t>
            </a:r>
            <a:endParaRPr lang="es-MX" sz="1400" i="1" dirty="0"/>
          </a:p>
        </p:txBody>
      </p:sp>
      <p:sp>
        <p:nvSpPr>
          <p:cNvPr id="6" name="CuadroTexto 5">
            <a:extLst>
              <a:ext uri="{FF2B5EF4-FFF2-40B4-BE49-F238E27FC236}">
                <a16:creationId xmlns:a16="http://schemas.microsoft.com/office/drawing/2014/main" id="{20467A13-5ED0-EE0D-A07B-839300E8F584}"/>
              </a:ext>
            </a:extLst>
          </p:cNvPr>
          <p:cNvSpPr txBox="1"/>
          <p:nvPr/>
        </p:nvSpPr>
        <p:spPr>
          <a:xfrm>
            <a:off x="7008607" y="1792102"/>
            <a:ext cx="577064" cy="769441"/>
          </a:xfrm>
          <a:prstGeom prst="rect">
            <a:avLst/>
          </a:prstGeom>
          <a:noFill/>
        </p:spPr>
        <p:txBody>
          <a:bodyPr wrap="square" rtlCol="0">
            <a:spAutoFit/>
          </a:bodyPr>
          <a:lstStyle/>
          <a:p>
            <a:r>
              <a:rPr lang="es-MX" sz="4400" b="1" i="1" dirty="0">
                <a:solidFill>
                  <a:schemeClr val="accent2"/>
                </a:solidFill>
              </a:rPr>
              <a:t>1</a:t>
            </a:r>
            <a:endParaRPr lang="es-CL" sz="4400" b="1" i="1" dirty="0">
              <a:solidFill>
                <a:schemeClr val="accent2"/>
              </a:solidFill>
            </a:endParaRPr>
          </a:p>
        </p:txBody>
      </p:sp>
      <p:sp>
        <p:nvSpPr>
          <p:cNvPr id="7" name="CuadroTexto 6">
            <a:extLst>
              <a:ext uri="{FF2B5EF4-FFF2-40B4-BE49-F238E27FC236}">
                <a16:creationId xmlns:a16="http://schemas.microsoft.com/office/drawing/2014/main" id="{004299FE-FE59-4122-DC5E-58FB4B57AC04}"/>
              </a:ext>
            </a:extLst>
          </p:cNvPr>
          <p:cNvSpPr txBox="1"/>
          <p:nvPr/>
        </p:nvSpPr>
        <p:spPr>
          <a:xfrm>
            <a:off x="7532511" y="2642632"/>
            <a:ext cx="7643973" cy="615553"/>
          </a:xfrm>
          <a:prstGeom prst="rect">
            <a:avLst/>
          </a:prstGeom>
          <a:noFill/>
        </p:spPr>
        <p:txBody>
          <a:bodyPr wrap="square" rtlCol="0">
            <a:spAutoFit/>
          </a:bodyPr>
          <a:lstStyle/>
          <a:p>
            <a:r>
              <a:rPr lang="en-US" b="1" dirty="0" err="1">
                <a:latin typeface="Consolas" pitchFamily="34" charset="0"/>
                <a:ea typeface="Consolas" pitchFamily="34" charset="-122"/>
                <a:cs typeface="Consolas" pitchFamily="34" charset="-120"/>
              </a:rPr>
              <a:t>PostToolUse</a:t>
            </a:r>
            <a:endParaRPr lang="en-US" b="1" dirty="0">
              <a:latin typeface="Consolas" pitchFamily="34" charset="0"/>
              <a:ea typeface="Consolas" pitchFamily="34" charset="-122"/>
              <a:cs typeface="Consolas" pitchFamily="34" charset="-120"/>
            </a:endParaRPr>
          </a:p>
          <a:p>
            <a:r>
              <a:rPr lang="en-US" sz="1600" i="1" dirty="0">
                <a:latin typeface="Consolas" pitchFamily="34" charset="0"/>
              </a:rPr>
              <a:t>Despues de </a:t>
            </a:r>
            <a:r>
              <a:rPr lang="en-US" sz="1600" i="1" dirty="0" err="1">
                <a:latin typeface="Consolas" pitchFamily="34" charset="0"/>
              </a:rPr>
              <a:t>ejecutar</a:t>
            </a:r>
            <a:r>
              <a:rPr lang="en-US" sz="1600" i="1" dirty="0">
                <a:latin typeface="Consolas" pitchFamily="34" charset="0"/>
              </a:rPr>
              <a:t>.</a:t>
            </a:r>
            <a:endParaRPr lang="en-US" sz="1600" i="1" dirty="0"/>
          </a:p>
        </p:txBody>
      </p:sp>
      <p:sp>
        <p:nvSpPr>
          <p:cNvPr id="9" name="CuadroTexto 8">
            <a:extLst>
              <a:ext uri="{FF2B5EF4-FFF2-40B4-BE49-F238E27FC236}">
                <a16:creationId xmlns:a16="http://schemas.microsoft.com/office/drawing/2014/main" id="{10EBD3A8-74F0-5F44-CB18-B331B43DFFF9}"/>
              </a:ext>
            </a:extLst>
          </p:cNvPr>
          <p:cNvSpPr txBox="1"/>
          <p:nvPr/>
        </p:nvSpPr>
        <p:spPr>
          <a:xfrm>
            <a:off x="7008607" y="2623098"/>
            <a:ext cx="577064" cy="769441"/>
          </a:xfrm>
          <a:prstGeom prst="rect">
            <a:avLst/>
          </a:prstGeom>
          <a:noFill/>
        </p:spPr>
        <p:txBody>
          <a:bodyPr wrap="square" rtlCol="0">
            <a:spAutoFit/>
          </a:bodyPr>
          <a:lstStyle/>
          <a:p>
            <a:r>
              <a:rPr lang="es-MX" sz="4400" b="1" i="1" dirty="0">
                <a:solidFill>
                  <a:schemeClr val="accent2"/>
                </a:solidFill>
              </a:rPr>
              <a:t>2</a:t>
            </a:r>
            <a:endParaRPr lang="es-CL" sz="4400" b="1" i="1" dirty="0">
              <a:solidFill>
                <a:schemeClr val="accent2"/>
              </a:solidFill>
            </a:endParaRPr>
          </a:p>
        </p:txBody>
      </p:sp>
      <p:sp>
        <p:nvSpPr>
          <p:cNvPr id="10" name="CuadroTexto 9">
            <a:extLst>
              <a:ext uri="{FF2B5EF4-FFF2-40B4-BE49-F238E27FC236}">
                <a16:creationId xmlns:a16="http://schemas.microsoft.com/office/drawing/2014/main" id="{97168BA1-335F-BA8F-1B99-B48995F166DC}"/>
              </a:ext>
            </a:extLst>
          </p:cNvPr>
          <p:cNvSpPr txBox="1"/>
          <p:nvPr/>
        </p:nvSpPr>
        <p:spPr>
          <a:xfrm>
            <a:off x="7532506" y="3569038"/>
            <a:ext cx="7643973" cy="646331"/>
          </a:xfrm>
          <a:prstGeom prst="rect">
            <a:avLst/>
          </a:prstGeom>
          <a:noFill/>
        </p:spPr>
        <p:txBody>
          <a:bodyPr wrap="square" rtlCol="0">
            <a:spAutoFit/>
          </a:bodyPr>
          <a:lstStyle/>
          <a:p>
            <a:r>
              <a:rPr lang="en-US" b="1" dirty="0">
                <a:latin typeface="Consolas" pitchFamily="34" charset="0"/>
                <a:ea typeface="Consolas" pitchFamily="34" charset="-122"/>
                <a:cs typeface="Consolas" pitchFamily="34" charset="-120"/>
              </a:rPr>
              <a:t>Stop</a:t>
            </a:r>
          </a:p>
          <a:p>
            <a:r>
              <a:rPr lang="es-MX" i="1" dirty="0"/>
              <a:t>Cuando Claude termina de responder.</a:t>
            </a:r>
          </a:p>
        </p:txBody>
      </p:sp>
      <p:sp>
        <p:nvSpPr>
          <p:cNvPr id="11" name="CuadroTexto 10">
            <a:extLst>
              <a:ext uri="{FF2B5EF4-FFF2-40B4-BE49-F238E27FC236}">
                <a16:creationId xmlns:a16="http://schemas.microsoft.com/office/drawing/2014/main" id="{5155E885-9EF9-EA47-B974-D0ACBCB5579A}"/>
              </a:ext>
            </a:extLst>
          </p:cNvPr>
          <p:cNvSpPr txBox="1"/>
          <p:nvPr/>
        </p:nvSpPr>
        <p:spPr>
          <a:xfrm>
            <a:off x="6998330" y="3535183"/>
            <a:ext cx="577064" cy="769441"/>
          </a:xfrm>
          <a:prstGeom prst="rect">
            <a:avLst/>
          </a:prstGeom>
          <a:noFill/>
        </p:spPr>
        <p:txBody>
          <a:bodyPr wrap="square" rtlCol="0">
            <a:spAutoFit/>
          </a:bodyPr>
          <a:lstStyle/>
          <a:p>
            <a:r>
              <a:rPr lang="es-MX" sz="4400" b="1" i="1" dirty="0">
                <a:solidFill>
                  <a:schemeClr val="accent2"/>
                </a:solidFill>
              </a:rPr>
              <a:t>3</a:t>
            </a:r>
            <a:endParaRPr lang="es-CL" sz="4400" b="1" i="1" dirty="0">
              <a:solidFill>
                <a:schemeClr val="accent2"/>
              </a:solidFill>
            </a:endParaRPr>
          </a:p>
        </p:txBody>
      </p:sp>
      <p:sp>
        <p:nvSpPr>
          <p:cNvPr id="12" name="CuadroTexto 11">
            <a:extLst>
              <a:ext uri="{FF2B5EF4-FFF2-40B4-BE49-F238E27FC236}">
                <a16:creationId xmlns:a16="http://schemas.microsoft.com/office/drawing/2014/main" id="{D426EE25-577B-9333-A8F0-0B1BDB783483}"/>
              </a:ext>
            </a:extLst>
          </p:cNvPr>
          <p:cNvSpPr txBox="1"/>
          <p:nvPr/>
        </p:nvSpPr>
        <p:spPr>
          <a:xfrm>
            <a:off x="7008607" y="4385712"/>
            <a:ext cx="577064" cy="769441"/>
          </a:xfrm>
          <a:prstGeom prst="rect">
            <a:avLst/>
          </a:prstGeom>
          <a:noFill/>
        </p:spPr>
        <p:txBody>
          <a:bodyPr wrap="square" rtlCol="0">
            <a:spAutoFit/>
          </a:bodyPr>
          <a:lstStyle/>
          <a:p>
            <a:r>
              <a:rPr lang="es-MX" sz="4400" b="1" i="1" dirty="0">
                <a:solidFill>
                  <a:schemeClr val="accent2"/>
                </a:solidFill>
              </a:rPr>
              <a:t>4</a:t>
            </a:r>
            <a:endParaRPr lang="es-CL" sz="4400" b="1" i="1" dirty="0">
              <a:solidFill>
                <a:schemeClr val="accent2"/>
              </a:solidFill>
            </a:endParaRPr>
          </a:p>
        </p:txBody>
      </p:sp>
      <p:sp>
        <p:nvSpPr>
          <p:cNvPr id="13" name="CuadroTexto 12">
            <a:extLst>
              <a:ext uri="{FF2B5EF4-FFF2-40B4-BE49-F238E27FC236}">
                <a16:creationId xmlns:a16="http://schemas.microsoft.com/office/drawing/2014/main" id="{4481BA43-7AF0-C57E-8B52-6ED9D3ACAB01}"/>
              </a:ext>
            </a:extLst>
          </p:cNvPr>
          <p:cNvSpPr txBox="1"/>
          <p:nvPr/>
        </p:nvSpPr>
        <p:spPr>
          <a:xfrm>
            <a:off x="7532506" y="4447268"/>
            <a:ext cx="7643973" cy="923330"/>
          </a:xfrm>
          <a:prstGeom prst="rect">
            <a:avLst/>
          </a:prstGeom>
          <a:noFill/>
        </p:spPr>
        <p:txBody>
          <a:bodyPr wrap="square" rtlCol="0">
            <a:spAutoFit/>
          </a:bodyPr>
          <a:lstStyle/>
          <a:p>
            <a:r>
              <a:rPr lang="en-US" b="1" dirty="0">
                <a:latin typeface="Consolas" pitchFamily="34" charset="0"/>
                <a:ea typeface="Consolas" pitchFamily="34" charset="-122"/>
                <a:cs typeface="Consolas" pitchFamily="34" charset="-120"/>
              </a:rPr>
              <a:t>Notification</a:t>
            </a:r>
            <a:endParaRPr lang="es-MX" b="1" i="1" dirty="0"/>
          </a:p>
          <a:p>
            <a:r>
              <a:rPr lang="es-MX" i="1" dirty="0"/>
              <a:t>Cuando Claude envía una notificación </a:t>
            </a:r>
          </a:p>
          <a:p>
            <a:r>
              <a:rPr lang="es-MX" i="1" dirty="0"/>
              <a:t>al usuario.</a:t>
            </a:r>
          </a:p>
        </p:txBody>
      </p:sp>
    </p:spTree>
    <p:extLst>
      <p:ext uri="{BB962C8B-B14F-4D97-AF65-F5344CB8AC3E}">
        <p14:creationId xmlns:p14="http://schemas.microsoft.com/office/powerpoint/2010/main" val="2176629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98FF4-BCFD-A3EA-D5D4-FDFDBC863B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EEB659B-2CEE-A44D-E2E8-7B5E13529722}"/>
              </a:ext>
            </a:extLst>
          </p:cNvPr>
          <p:cNvSpPr>
            <a:spLocks noGrp="1"/>
          </p:cNvSpPr>
          <p:nvPr>
            <p:ph type="title"/>
          </p:nvPr>
        </p:nvSpPr>
        <p:spPr>
          <a:xfrm>
            <a:off x="414076" y="0"/>
            <a:ext cx="10846393" cy="1577458"/>
          </a:xfrm>
        </p:spPr>
        <p:txBody>
          <a:bodyPr>
            <a:normAutofit/>
          </a:bodyPr>
          <a:lstStyle/>
          <a:p>
            <a:r>
              <a:rPr lang="es-MX" sz="2400" b="1" i="1" dirty="0" err="1"/>
              <a:t>Skills</a:t>
            </a:r>
            <a:r>
              <a:rPr lang="es-MX" sz="2400" b="1" i="1" dirty="0"/>
              <a:t>:  </a:t>
            </a:r>
            <a:r>
              <a:rPr lang="es-MX" sz="2400" i="1" dirty="0"/>
              <a:t>Instrucciones Reutilizables.</a:t>
            </a:r>
            <a:endParaRPr lang="es-CL" sz="3200" i="1" dirty="0"/>
          </a:p>
        </p:txBody>
      </p:sp>
      <p:pic>
        <p:nvPicPr>
          <p:cNvPr id="4" name="Picture 2" descr="Duoc UC - Learn Chile">
            <a:extLst>
              <a:ext uri="{FF2B5EF4-FFF2-40B4-BE49-F238E27FC236}">
                <a16:creationId xmlns:a16="http://schemas.microsoft.com/office/drawing/2014/main" id="{8D563ACF-49D6-EF5B-E29F-1A41DB412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975BAAB6-2701-23AB-24F9-49CB29AF438A}"/>
              </a:ext>
            </a:extLst>
          </p:cNvPr>
          <p:cNvSpPr txBox="1"/>
          <p:nvPr/>
        </p:nvSpPr>
        <p:spPr>
          <a:xfrm>
            <a:off x="440851" y="1438158"/>
            <a:ext cx="6274086" cy="2246769"/>
          </a:xfrm>
          <a:prstGeom prst="rect">
            <a:avLst/>
          </a:prstGeom>
          <a:noFill/>
        </p:spPr>
        <p:txBody>
          <a:bodyPr wrap="square">
            <a:spAutoFit/>
          </a:bodyPr>
          <a:lstStyle/>
          <a:p>
            <a:pPr algn="ctr"/>
            <a:r>
              <a:rPr lang="en-US" sz="2800" i="1" dirty="0"/>
              <a:t>Un Skill es un </a:t>
            </a:r>
            <a:r>
              <a:rPr lang="en-US" sz="2800" i="1" dirty="0" err="1"/>
              <a:t>archivo</a:t>
            </a:r>
            <a:r>
              <a:rPr lang="en-US" sz="2800" i="1" dirty="0"/>
              <a:t> Markdown con </a:t>
            </a:r>
            <a:r>
              <a:rPr lang="en-US" sz="2800" i="1" dirty="0" err="1"/>
              <a:t>instrucciones</a:t>
            </a:r>
            <a:r>
              <a:rPr lang="en-US" sz="2800" i="1" dirty="0"/>
              <a:t> que Claude </a:t>
            </a:r>
            <a:r>
              <a:rPr lang="en-US" sz="2800" i="1" dirty="0" err="1"/>
              <a:t>aplica</a:t>
            </a:r>
            <a:r>
              <a:rPr lang="en-US" sz="2800" i="1" dirty="0"/>
              <a:t> </a:t>
            </a:r>
            <a:r>
              <a:rPr lang="en-US" sz="2800" i="1" dirty="0" err="1"/>
              <a:t>automaticamente</a:t>
            </a:r>
            <a:r>
              <a:rPr lang="en-US" sz="2800" i="1" dirty="0"/>
              <a:t> </a:t>
            </a:r>
            <a:r>
              <a:rPr lang="en-US" sz="2800" i="1" dirty="0" err="1"/>
              <a:t>cuando</a:t>
            </a:r>
            <a:r>
              <a:rPr lang="en-US" sz="2800" i="1" dirty="0"/>
              <a:t> la </a:t>
            </a:r>
            <a:r>
              <a:rPr lang="en-US" sz="2800" i="1" dirty="0" err="1"/>
              <a:t>tarea</a:t>
            </a:r>
            <a:r>
              <a:rPr lang="en-US" sz="2800" i="1" dirty="0"/>
              <a:t> coincide. Define las </a:t>
            </a:r>
            <a:r>
              <a:rPr lang="en-US" sz="2800" i="1" dirty="0" err="1"/>
              <a:t>instrucciones</a:t>
            </a:r>
            <a:r>
              <a:rPr lang="en-US" sz="2800" i="1" dirty="0"/>
              <a:t> </a:t>
            </a:r>
            <a:r>
              <a:rPr lang="en-US" sz="2800" i="1" dirty="0" err="1"/>
              <a:t>una</a:t>
            </a:r>
            <a:r>
              <a:rPr lang="en-US" sz="2800" i="1" dirty="0"/>
              <a:t> </a:t>
            </a:r>
            <a:r>
              <a:rPr lang="en-US" sz="2800" i="1" dirty="0" err="1"/>
              <a:t>vez</a:t>
            </a:r>
            <a:r>
              <a:rPr lang="en-US" sz="2800" i="1" dirty="0"/>
              <a:t>, Claude las </a:t>
            </a:r>
            <a:r>
              <a:rPr lang="en-US" sz="2800" i="1" dirty="0" err="1"/>
              <a:t>reutiliza</a:t>
            </a:r>
            <a:r>
              <a:rPr lang="en-US" sz="2800" i="1" dirty="0"/>
              <a:t> </a:t>
            </a:r>
            <a:r>
              <a:rPr lang="en-US" sz="2800" i="1" dirty="0" err="1"/>
              <a:t>siempre</a:t>
            </a:r>
            <a:r>
              <a:rPr lang="en-US" sz="2800" i="1" dirty="0"/>
              <a:t>.</a:t>
            </a:r>
          </a:p>
        </p:txBody>
      </p:sp>
      <p:sp>
        <p:nvSpPr>
          <p:cNvPr id="5" name="CuadroTexto 4">
            <a:extLst>
              <a:ext uri="{FF2B5EF4-FFF2-40B4-BE49-F238E27FC236}">
                <a16:creationId xmlns:a16="http://schemas.microsoft.com/office/drawing/2014/main" id="{779F6B23-6476-CA24-9230-48BA76FBC16B}"/>
              </a:ext>
            </a:extLst>
          </p:cNvPr>
          <p:cNvSpPr txBox="1"/>
          <p:nvPr/>
        </p:nvSpPr>
        <p:spPr>
          <a:xfrm>
            <a:off x="7511957" y="1980851"/>
            <a:ext cx="7643973" cy="369332"/>
          </a:xfrm>
          <a:prstGeom prst="rect">
            <a:avLst/>
          </a:prstGeom>
          <a:noFill/>
        </p:spPr>
        <p:txBody>
          <a:bodyPr wrap="square" rtlCol="0">
            <a:spAutoFit/>
          </a:bodyPr>
          <a:lstStyle/>
          <a:p>
            <a:r>
              <a:rPr lang="en-US" dirty="0"/>
              <a:t>Creas un </a:t>
            </a:r>
            <a:r>
              <a:rPr lang="en-US" dirty="0" err="1"/>
              <a:t>archivo</a:t>
            </a:r>
            <a:r>
              <a:rPr lang="en-US" dirty="0"/>
              <a:t> SKILL.md con </a:t>
            </a:r>
            <a:r>
              <a:rPr lang="en-US" dirty="0" err="1"/>
              <a:t>instrucciones</a:t>
            </a:r>
            <a:endParaRPr lang="en-US" dirty="0"/>
          </a:p>
        </p:txBody>
      </p:sp>
      <p:sp>
        <p:nvSpPr>
          <p:cNvPr id="6" name="CuadroTexto 5">
            <a:extLst>
              <a:ext uri="{FF2B5EF4-FFF2-40B4-BE49-F238E27FC236}">
                <a16:creationId xmlns:a16="http://schemas.microsoft.com/office/drawing/2014/main" id="{97BEF558-CD5B-42F4-BEB7-9717E5B75401}"/>
              </a:ext>
            </a:extLst>
          </p:cNvPr>
          <p:cNvSpPr txBox="1"/>
          <p:nvPr/>
        </p:nvSpPr>
        <p:spPr>
          <a:xfrm>
            <a:off x="7008607" y="1792102"/>
            <a:ext cx="577064" cy="769441"/>
          </a:xfrm>
          <a:prstGeom prst="rect">
            <a:avLst/>
          </a:prstGeom>
          <a:noFill/>
        </p:spPr>
        <p:txBody>
          <a:bodyPr wrap="square" rtlCol="0">
            <a:spAutoFit/>
          </a:bodyPr>
          <a:lstStyle/>
          <a:p>
            <a:r>
              <a:rPr lang="es-MX" sz="4400" b="1" i="1" dirty="0">
                <a:solidFill>
                  <a:schemeClr val="accent2"/>
                </a:solidFill>
              </a:rPr>
              <a:t>1</a:t>
            </a:r>
            <a:endParaRPr lang="es-CL" sz="4400" b="1" i="1" dirty="0">
              <a:solidFill>
                <a:schemeClr val="accent2"/>
              </a:solidFill>
            </a:endParaRPr>
          </a:p>
        </p:txBody>
      </p:sp>
      <p:sp>
        <p:nvSpPr>
          <p:cNvPr id="7" name="CuadroTexto 6">
            <a:extLst>
              <a:ext uri="{FF2B5EF4-FFF2-40B4-BE49-F238E27FC236}">
                <a16:creationId xmlns:a16="http://schemas.microsoft.com/office/drawing/2014/main" id="{72EB2E15-5377-25A9-B5E5-9DD5965BC9ED}"/>
              </a:ext>
            </a:extLst>
          </p:cNvPr>
          <p:cNvSpPr txBox="1"/>
          <p:nvPr/>
        </p:nvSpPr>
        <p:spPr>
          <a:xfrm>
            <a:off x="7532504" y="2819135"/>
            <a:ext cx="7643973" cy="369332"/>
          </a:xfrm>
          <a:prstGeom prst="rect">
            <a:avLst/>
          </a:prstGeom>
          <a:noFill/>
        </p:spPr>
        <p:txBody>
          <a:bodyPr wrap="square" rtlCol="0">
            <a:spAutoFit/>
          </a:bodyPr>
          <a:lstStyle/>
          <a:p>
            <a:r>
              <a:rPr lang="en-US" i="1" dirty="0"/>
              <a:t>Lo </a:t>
            </a:r>
            <a:r>
              <a:rPr lang="en-US" i="1" dirty="0" err="1"/>
              <a:t>guardas</a:t>
            </a:r>
            <a:r>
              <a:rPr lang="en-US" i="1" dirty="0"/>
              <a:t> </a:t>
            </a:r>
            <a:r>
              <a:rPr lang="en-US" i="1" dirty="0" err="1"/>
              <a:t>en</a:t>
            </a:r>
            <a:r>
              <a:rPr lang="en-US" i="1" dirty="0"/>
              <a:t> .</a:t>
            </a:r>
            <a:r>
              <a:rPr lang="en-US" i="1" dirty="0" err="1"/>
              <a:t>claude</a:t>
            </a:r>
            <a:r>
              <a:rPr lang="en-US" i="1" dirty="0"/>
              <a:t>/skills/</a:t>
            </a:r>
          </a:p>
        </p:txBody>
      </p:sp>
      <p:sp>
        <p:nvSpPr>
          <p:cNvPr id="9" name="CuadroTexto 8">
            <a:extLst>
              <a:ext uri="{FF2B5EF4-FFF2-40B4-BE49-F238E27FC236}">
                <a16:creationId xmlns:a16="http://schemas.microsoft.com/office/drawing/2014/main" id="{FDF102F0-7966-903C-71E4-B620C6329641}"/>
              </a:ext>
            </a:extLst>
          </p:cNvPr>
          <p:cNvSpPr txBox="1"/>
          <p:nvPr/>
        </p:nvSpPr>
        <p:spPr>
          <a:xfrm>
            <a:off x="7008607" y="2623098"/>
            <a:ext cx="577064" cy="769441"/>
          </a:xfrm>
          <a:prstGeom prst="rect">
            <a:avLst/>
          </a:prstGeom>
          <a:noFill/>
        </p:spPr>
        <p:txBody>
          <a:bodyPr wrap="square" rtlCol="0">
            <a:spAutoFit/>
          </a:bodyPr>
          <a:lstStyle/>
          <a:p>
            <a:r>
              <a:rPr lang="es-MX" sz="4400" b="1" i="1" dirty="0">
                <a:solidFill>
                  <a:schemeClr val="accent2"/>
                </a:solidFill>
              </a:rPr>
              <a:t>2</a:t>
            </a:r>
            <a:endParaRPr lang="es-CL" sz="4400" b="1" i="1" dirty="0">
              <a:solidFill>
                <a:schemeClr val="accent2"/>
              </a:solidFill>
            </a:endParaRPr>
          </a:p>
        </p:txBody>
      </p:sp>
      <p:sp>
        <p:nvSpPr>
          <p:cNvPr id="10" name="CuadroTexto 9">
            <a:extLst>
              <a:ext uri="{FF2B5EF4-FFF2-40B4-BE49-F238E27FC236}">
                <a16:creationId xmlns:a16="http://schemas.microsoft.com/office/drawing/2014/main" id="{1CB54B5C-A62E-449E-4E16-741B43933B89}"/>
              </a:ext>
            </a:extLst>
          </p:cNvPr>
          <p:cNvSpPr txBox="1"/>
          <p:nvPr/>
        </p:nvSpPr>
        <p:spPr>
          <a:xfrm>
            <a:off x="7438482" y="3733706"/>
            <a:ext cx="7643973" cy="369332"/>
          </a:xfrm>
          <a:prstGeom prst="rect">
            <a:avLst/>
          </a:prstGeom>
          <a:noFill/>
        </p:spPr>
        <p:txBody>
          <a:bodyPr wrap="square" rtlCol="0">
            <a:spAutoFit/>
          </a:bodyPr>
          <a:lstStyle/>
          <a:p>
            <a:r>
              <a:rPr lang="en-US" dirty="0"/>
              <a:t>Claude lo </a:t>
            </a:r>
            <a:r>
              <a:rPr lang="en-US" dirty="0" err="1"/>
              <a:t>detecta</a:t>
            </a:r>
            <a:r>
              <a:rPr lang="en-US" dirty="0"/>
              <a:t> y </a:t>
            </a:r>
            <a:r>
              <a:rPr lang="en-US" dirty="0" err="1"/>
              <a:t>aplica</a:t>
            </a:r>
            <a:r>
              <a:rPr lang="en-US" dirty="0"/>
              <a:t> </a:t>
            </a:r>
            <a:r>
              <a:rPr lang="en-US" dirty="0" err="1"/>
              <a:t>automaticamente</a:t>
            </a:r>
            <a:endParaRPr lang="en-US" dirty="0"/>
          </a:p>
        </p:txBody>
      </p:sp>
      <p:sp>
        <p:nvSpPr>
          <p:cNvPr id="11" name="CuadroTexto 10">
            <a:extLst>
              <a:ext uri="{FF2B5EF4-FFF2-40B4-BE49-F238E27FC236}">
                <a16:creationId xmlns:a16="http://schemas.microsoft.com/office/drawing/2014/main" id="{929A38F0-528D-9ADF-ADDE-35DC5BC145C8}"/>
              </a:ext>
            </a:extLst>
          </p:cNvPr>
          <p:cNvSpPr txBox="1"/>
          <p:nvPr/>
        </p:nvSpPr>
        <p:spPr>
          <a:xfrm>
            <a:off x="6998330" y="3535183"/>
            <a:ext cx="577064" cy="769441"/>
          </a:xfrm>
          <a:prstGeom prst="rect">
            <a:avLst/>
          </a:prstGeom>
          <a:noFill/>
        </p:spPr>
        <p:txBody>
          <a:bodyPr wrap="square" rtlCol="0">
            <a:spAutoFit/>
          </a:bodyPr>
          <a:lstStyle/>
          <a:p>
            <a:r>
              <a:rPr lang="es-MX" sz="4400" b="1" i="1" dirty="0">
                <a:solidFill>
                  <a:schemeClr val="accent2"/>
                </a:solidFill>
              </a:rPr>
              <a:t>3</a:t>
            </a:r>
            <a:endParaRPr lang="es-CL" sz="4400" b="1" i="1" dirty="0">
              <a:solidFill>
                <a:schemeClr val="accent2"/>
              </a:solidFill>
            </a:endParaRPr>
          </a:p>
        </p:txBody>
      </p:sp>
      <p:sp>
        <p:nvSpPr>
          <p:cNvPr id="12" name="CuadroTexto 11">
            <a:extLst>
              <a:ext uri="{FF2B5EF4-FFF2-40B4-BE49-F238E27FC236}">
                <a16:creationId xmlns:a16="http://schemas.microsoft.com/office/drawing/2014/main" id="{A7C82589-42C2-E233-6EC1-6B402D4ED8C0}"/>
              </a:ext>
            </a:extLst>
          </p:cNvPr>
          <p:cNvSpPr txBox="1"/>
          <p:nvPr/>
        </p:nvSpPr>
        <p:spPr>
          <a:xfrm>
            <a:off x="7008607" y="4385712"/>
            <a:ext cx="577064" cy="769441"/>
          </a:xfrm>
          <a:prstGeom prst="rect">
            <a:avLst/>
          </a:prstGeom>
          <a:noFill/>
        </p:spPr>
        <p:txBody>
          <a:bodyPr wrap="square" rtlCol="0">
            <a:spAutoFit/>
          </a:bodyPr>
          <a:lstStyle/>
          <a:p>
            <a:r>
              <a:rPr lang="es-MX" sz="4400" b="1" i="1" dirty="0">
                <a:solidFill>
                  <a:schemeClr val="accent2"/>
                </a:solidFill>
              </a:rPr>
              <a:t>4</a:t>
            </a:r>
            <a:endParaRPr lang="es-CL" sz="4400" b="1" i="1" dirty="0">
              <a:solidFill>
                <a:schemeClr val="accent2"/>
              </a:solidFill>
            </a:endParaRPr>
          </a:p>
        </p:txBody>
      </p:sp>
      <p:sp>
        <p:nvSpPr>
          <p:cNvPr id="13" name="CuadroTexto 12">
            <a:extLst>
              <a:ext uri="{FF2B5EF4-FFF2-40B4-BE49-F238E27FC236}">
                <a16:creationId xmlns:a16="http://schemas.microsoft.com/office/drawing/2014/main" id="{4F9DFB5A-2921-05A9-11A3-6230C1305F23}"/>
              </a:ext>
            </a:extLst>
          </p:cNvPr>
          <p:cNvSpPr txBox="1"/>
          <p:nvPr/>
        </p:nvSpPr>
        <p:spPr>
          <a:xfrm>
            <a:off x="7469303" y="4523115"/>
            <a:ext cx="7643973" cy="677108"/>
          </a:xfrm>
          <a:prstGeom prst="rect">
            <a:avLst/>
          </a:prstGeom>
          <a:noFill/>
        </p:spPr>
        <p:txBody>
          <a:bodyPr wrap="square" rtlCol="0">
            <a:spAutoFit/>
          </a:bodyPr>
          <a:lstStyle/>
          <a:p>
            <a:r>
              <a:rPr lang="en-US" sz="2000" i="1" dirty="0" err="1"/>
              <a:t>Puedes</a:t>
            </a:r>
            <a:r>
              <a:rPr lang="en-US" sz="2000" i="1" dirty="0"/>
              <a:t> </a:t>
            </a:r>
            <a:r>
              <a:rPr lang="en-US" sz="2000" i="1" dirty="0" err="1"/>
              <a:t>compartirlo</a:t>
            </a:r>
            <a:r>
              <a:rPr lang="en-US" sz="2000" i="1" dirty="0"/>
              <a:t> con </a:t>
            </a:r>
            <a:r>
              <a:rPr lang="en-US" sz="2000" i="1" dirty="0" err="1"/>
              <a:t>tu</a:t>
            </a:r>
            <a:r>
              <a:rPr lang="en-US" sz="2000" i="1" dirty="0"/>
              <a:t> </a:t>
            </a:r>
            <a:r>
              <a:rPr lang="en-US" sz="2000" i="1" dirty="0" err="1"/>
              <a:t>equipo</a:t>
            </a:r>
            <a:r>
              <a:rPr lang="en-US" sz="2000" i="1" dirty="0"/>
              <a:t> via git</a:t>
            </a:r>
          </a:p>
          <a:p>
            <a:endParaRPr lang="es-MX" i="1" dirty="0"/>
          </a:p>
        </p:txBody>
      </p:sp>
      <p:sp>
        <p:nvSpPr>
          <p:cNvPr id="16" name="Text 9">
            <a:extLst>
              <a:ext uri="{FF2B5EF4-FFF2-40B4-BE49-F238E27FC236}">
                <a16:creationId xmlns:a16="http://schemas.microsoft.com/office/drawing/2014/main" id="{417901EA-3430-DE6D-1968-7301FEFDE803}"/>
              </a:ext>
            </a:extLst>
          </p:cNvPr>
          <p:cNvSpPr/>
          <p:nvPr/>
        </p:nvSpPr>
        <p:spPr>
          <a:xfrm>
            <a:off x="7113183" y="1289204"/>
            <a:ext cx="3749040" cy="347472"/>
          </a:xfrm>
          <a:prstGeom prst="rect">
            <a:avLst/>
          </a:prstGeom>
          <a:noFill/>
          <a:ln/>
        </p:spPr>
        <p:txBody>
          <a:bodyPr wrap="square" lIns="0" tIns="0" rIns="0" bIns="0" rtlCol="0" anchor="ctr"/>
          <a:lstStyle/>
          <a:p>
            <a:pPr marL="0" indent="0">
              <a:buNone/>
            </a:pPr>
            <a:r>
              <a:rPr lang="en-US" sz="2400" b="1" i="1" dirty="0">
                <a:solidFill>
                  <a:schemeClr val="accent2"/>
                </a:solidFill>
              </a:rPr>
              <a:t>¿Como funciona?</a:t>
            </a:r>
            <a:endParaRPr lang="en-US" sz="2400" i="1" dirty="0">
              <a:solidFill>
                <a:schemeClr val="accent2"/>
              </a:solidFill>
            </a:endParaRPr>
          </a:p>
        </p:txBody>
      </p:sp>
      <p:pic>
        <p:nvPicPr>
          <p:cNvPr id="19" name="Imagen 18">
            <a:extLst>
              <a:ext uri="{FF2B5EF4-FFF2-40B4-BE49-F238E27FC236}">
                <a16:creationId xmlns:a16="http://schemas.microsoft.com/office/drawing/2014/main" id="{20B88BA1-32D6-D13A-B261-2C64D552D6A4}"/>
              </a:ext>
            </a:extLst>
          </p:cNvPr>
          <p:cNvPicPr>
            <a:picLocks noChangeAspect="1"/>
          </p:cNvPicPr>
          <p:nvPr/>
        </p:nvPicPr>
        <p:blipFill>
          <a:blip r:embed="rId4"/>
          <a:stretch>
            <a:fillRect/>
          </a:stretch>
        </p:blipFill>
        <p:spPr>
          <a:xfrm>
            <a:off x="1428108" y="3770464"/>
            <a:ext cx="4497494" cy="2859518"/>
          </a:xfrm>
          <a:prstGeom prst="rect">
            <a:avLst/>
          </a:prstGeom>
        </p:spPr>
      </p:pic>
    </p:spTree>
    <p:extLst>
      <p:ext uri="{BB962C8B-B14F-4D97-AF65-F5344CB8AC3E}">
        <p14:creationId xmlns:p14="http://schemas.microsoft.com/office/powerpoint/2010/main" val="377561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8352B-ACD7-FE92-2277-9F6EF9D124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F7EA53-1786-71A0-4AAB-82E0976A6374}"/>
              </a:ext>
            </a:extLst>
          </p:cNvPr>
          <p:cNvSpPr>
            <a:spLocks noGrp="1"/>
          </p:cNvSpPr>
          <p:nvPr>
            <p:ph type="title"/>
          </p:nvPr>
        </p:nvSpPr>
        <p:spPr>
          <a:xfrm>
            <a:off x="414076" y="0"/>
            <a:ext cx="10846393" cy="1577458"/>
          </a:xfrm>
        </p:spPr>
        <p:txBody>
          <a:bodyPr>
            <a:normAutofit/>
          </a:bodyPr>
          <a:lstStyle/>
          <a:p>
            <a:r>
              <a:rPr lang="es-MX" sz="2400" b="1" i="1" dirty="0"/>
              <a:t>Agentes:  </a:t>
            </a:r>
            <a:r>
              <a:rPr lang="es-MX" sz="2400" i="1" dirty="0"/>
              <a:t>Divide y Vencerás.</a:t>
            </a:r>
            <a:endParaRPr lang="es-CL" sz="3200" i="1" dirty="0"/>
          </a:p>
        </p:txBody>
      </p:sp>
      <p:pic>
        <p:nvPicPr>
          <p:cNvPr id="4" name="Picture 2" descr="Duoc UC - Learn Chile">
            <a:extLst>
              <a:ext uri="{FF2B5EF4-FFF2-40B4-BE49-F238E27FC236}">
                <a16:creationId xmlns:a16="http://schemas.microsoft.com/office/drawing/2014/main" id="{8B57B00B-3769-FA6D-BCCB-A5FE4F4E02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14D3CB73-B0E3-F4D2-8810-4C7F7B737AA3}"/>
              </a:ext>
            </a:extLst>
          </p:cNvPr>
          <p:cNvSpPr txBox="1"/>
          <p:nvPr/>
        </p:nvSpPr>
        <p:spPr>
          <a:xfrm>
            <a:off x="440851" y="1438158"/>
            <a:ext cx="6274086" cy="2246769"/>
          </a:xfrm>
          <a:prstGeom prst="rect">
            <a:avLst/>
          </a:prstGeom>
          <a:noFill/>
        </p:spPr>
        <p:txBody>
          <a:bodyPr wrap="square">
            <a:spAutoFit/>
          </a:bodyPr>
          <a:lstStyle/>
          <a:p>
            <a:pPr algn="ctr"/>
            <a:r>
              <a:rPr lang="en-US" sz="2800" i="1" dirty="0"/>
              <a:t>Un Skill es un </a:t>
            </a:r>
            <a:r>
              <a:rPr lang="en-US" sz="2800" i="1" dirty="0" err="1"/>
              <a:t>archivo</a:t>
            </a:r>
            <a:r>
              <a:rPr lang="en-US" sz="2800" i="1" dirty="0"/>
              <a:t> Markdown con </a:t>
            </a:r>
            <a:r>
              <a:rPr lang="en-US" sz="2800" i="1" dirty="0" err="1"/>
              <a:t>instrucciones</a:t>
            </a:r>
            <a:r>
              <a:rPr lang="en-US" sz="2800" i="1" dirty="0"/>
              <a:t> que Claude </a:t>
            </a:r>
            <a:r>
              <a:rPr lang="en-US" sz="2800" i="1" dirty="0" err="1"/>
              <a:t>aplica</a:t>
            </a:r>
            <a:r>
              <a:rPr lang="en-US" sz="2800" i="1" dirty="0"/>
              <a:t> </a:t>
            </a:r>
            <a:r>
              <a:rPr lang="en-US" sz="2800" i="1" dirty="0" err="1"/>
              <a:t>automaticamente</a:t>
            </a:r>
            <a:r>
              <a:rPr lang="en-US" sz="2800" i="1" dirty="0"/>
              <a:t> </a:t>
            </a:r>
            <a:r>
              <a:rPr lang="en-US" sz="2800" i="1" dirty="0" err="1"/>
              <a:t>cuando</a:t>
            </a:r>
            <a:r>
              <a:rPr lang="en-US" sz="2800" i="1" dirty="0"/>
              <a:t> la </a:t>
            </a:r>
            <a:r>
              <a:rPr lang="en-US" sz="2800" i="1" dirty="0" err="1"/>
              <a:t>tarea</a:t>
            </a:r>
            <a:r>
              <a:rPr lang="en-US" sz="2800" i="1" dirty="0"/>
              <a:t> coincide. Define las </a:t>
            </a:r>
            <a:r>
              <a:rPr lang="en-US" sz="2800" i="1" dirty="0" err="1"/>
              <a:t>instrucciones</a:t>
            </a:r>
            <a:r>
              <a:rPr lang="en-US" sz="2800" i="1" dirty="0"/>
              <a:t> </a:t>
            </a:r>
            <a:r>
              <a:rPr lang="en-US" sz="2800" i="1" dirty="0" err="1"/>
              <a:t>una</a:t>
            </a:r>
            <a:r>
              <a:rPr lang="en-US" sz="2800" i="1" dirty="0"/>
              <a:t> </a:t>
            </a:r>
            <a:r>
              <a:rPr lang="en-US" sz="2800" i="1" dirty="0" err="1"/>
              <a:t>vez</a:t>
            </a:r>
            <a:r>
              <a:rPr lang="en-US" sz="2800" i="1" dirty="0"/>
              <a:t>, Claude las </a:t>
            </a:r>
            <a:r>
              <a:rPr lang="en-US" sz="2800" i="1" dirty="0" err="1"/>
              <a:t>reutiliza</a:t>
            </a:r>
            <a:r>
              <a:rPr lang="en-US" sz="2800" i="1" dirty="0"/>
              <a:t> </a:t>
            </a:r>
            <a:r>
              <a:rPr lang="en-US" sz="2800" i="1" dirty="0" err="1"/>
              <a:t>siempre</a:t>
            </a:r>
            <a:r>
              <a:rPr lang="en-US" sz="2800" i="1" dirty="0"/>
              <a:t>.</a:t>
            </a:r>
          </a:p>
        </p:txBody>
      </p:sp>
      <p:sp>
        <p:nvSpPr>
          <p:cNvPr id="5" name="CuadroTexto 4">
            <a:extLst>
              <a:ext uri="{FF2B5EF4-FFF2-40B4-BE49-F238E27FC236}">
                <a16:creationId xmlns:a16="http://schemas.microsoft.com/office/drawing/2014/main" id="{EC4D1D6B-16C3-D92D-B59D-A80C04E72741}"/>
              </a:ext>
            </a:extLst>
          </p:cNvPr>
          <p:cNvSpPr txBox="1"/>
          <p:nvPr/>
        </p:nvSpPr>
        <p:spPr>
          <a:xfrm>
            <a:off x="7511957" y="1980851"/>
            <a:ext cx="7643973" cy="369332"/>
          </a:xfrm>
          <a:prstGeom prst="rect">
            <a:avLst/>
          </a:prstGeom>
          <a:noFill/>
        </p:spPr>
        <p:txBody>
          <a:bodyPr wrap="square" rtlCol="0">
            <a:spAutoFit/>
          </a:bodyPr>
          <a:lstStyle/>
          <a:p>
            <a:r>
              <a:rPr lang="en-US" dirty="0"/>
              <a:t>Creas un </a:t>
            </a:r>
            <a:r>
              <a:rPr lang="en-US" dirty="0" err="1"/>
              <a:t>archivo</a:t>
            </a:r>
            <a:r>
              <a:rPr lang="en-US" dirty="0"/>
              <a:t> SKILL.md con </a:t>
            </a:r>
            <a:r>
              <a:rPr lang="en-US" dirty="0" err="1"/>
              <a:t>instrucciones</a:t>
            </a:r>
            <a:endParaRPr lang="en-US" dirty="0"/>
          </a:p>
        </p:txBody>
      </p:sp>
      <p:sp>
        <p:nvSpPr>
          <p:cNvPr id="6" name="CuadroTexto 5">
            <a:extLst>
              <a:ext uri="{FF2B5EF4-FFF2-40B4-BE49-F238E27FC236}">
                <a16:creationId xmlns:a16="http://schemas.microsoft.com/office/drawing/2014/main" id="{F9794A92-2BE0-6E67-FE9B-C2009A679761}"/>
              </a:ext>
            </a:extLst>
          </p:cNvPr>
          <p:cNvSpPr txBox="1"/>
          <p:nvPr/>
        </p:nvSpPr>
        <p:spPr>
          <a:xfrm>
            <a:off x="7008607" y="1792102"/>
            <a:ext cx="577064" cy="769441"/>
          </a:xfrm>
          <a:prstGeom prst="rect">
            <a:avLst/>
          </a:prstGeom>
          <a:noFill/>
        </p:spPr>
        <p:txBody>
          <a:bodyPr wrap="square" rtlCol="0">
            <a:spAutoFit/>
          </a:bodyPr>
          <a:lstStyle/>
          <a:p>
            <a:r>
              <a:rPr lang="es-MX" sz="4400" b="1" i="1" dirty="0">
                <a:solidFill>
                  <a:schemeClr val="accent2"/>
                </a:solidFill>
              </a:rPr>
              <a:t>1</a:t>
            </a:r>
            <a:endParaRPr lang="es-CL" sz="4400" b="1" i="1" dirty="0">
              <a:solidFill>
                <a:schemeClr val="accent2"/>
              </a:solidFill>
            </a:endParaRPr>
          </a:p>
        </p:txBody>
      </p:sp>
      <p:sp>
        <p:nvSpPr>
          <p:cNvPr id="7" name="CuadroTexto 6">
            <a:extLst>
              <a:ext uri="{FF2B5EF4-FFF2-40B4-BE49-F238E27FC236}">
                <a16:creationId xmlns:a16="http://schemas.microsoft.com/office/drawing/2014/main" id="{AA0DE796-237E-5832-BB30-495B7DE5767A}"/>
              </a:ext>
            </a:extLst>
          </p:cNvPr>
          <p:cNvSpPr txBox="1"/>
          <p:nvPr/>
        </p:nvSpPr>
        <p:spPr>
          <a:xfrm>
            <a:off x="7532504" y="2819135"/>
            <a:ext cx="7643973" cy="369332"/>
          </a:xfrm>
          <a:prstGeom prst="rect">
            <a:avLst/>
          </a:prstGeom>
          <a:noFill/>
        </p:spPr>
        <p:txBody>
          <a:bodyPr wrap="square" rtlCol="0">
            <a:spAutoFit/>
          </a:bodyPr>
          <a:lstStyle/>
          <a:p>
            <a:r>
              <a:rPr lang="en-US" i="1" dirty="0"/>
              <a:t>Lo </a:t>
            </a:r>
            <a:r>
              <a:rPr lang="en-US" i="1" dirty="0" err="1"/>
              <a:t>guardas</a:t>
            </a:r>
            <a:r>
              <a:rPr lang="en-US" i="1" dirty="0"/>
              <a:t> </a:t>
            </a:r>
            <a:r>
              <a:rPr lang="en-US" i="1" dirty="0" err="1"/>
              <a:t>en</a:t>
            </a:r>
            <a:r>
              <a:rPr lang="en-US" i="1" dirty="0"/>
              <a:t> .</a:t>
            </a:r>
            <a:r>
              <a:rPr lang="en-US" i="1" dirty="0" err="1"/>
              <a:t>claude</a:t>
            </a:r>
            <a:r>
              <a:rPr lang="en-US" i="1" dirty="0"/>
              <a:t>/skills/</a:t>
            </a:r>
          </a:p>
        </p:txBody>
      </p:sp>
      <p:sp>
        <p:nvSpPr>
          <p:cNvPr id="9" name="CuadroTexto 8">
            <a:extLst>
              <a:ext uri="{FF2B5EF4-FFF2-40B4-BE49-F238E27FC236}">
                <a16:creationId xmlns:a16="http://schemas.microsoft.com/office/drawing/2014/main" id="{072A0424-5F49-D252-1999-6F309CE3DCF7}"/>
              </a:ext>
            </a:extLst>
          </p:cNvPr>
          <p:cNvSpPr txBox="1"/>
          <p:nvPr/>
        </p:nvSpPr>
        <p:spPr>
          <a:xfrm>
            <a:off x="7008607" y="2623098"/>
            <a:ext cx="577064" cy="769441"/>
          </a:xfrm>
          <a:prstGeom prst="rect">
            <a:avLst/>
          </a:prstGeom>
          <a:noFill/>
        </p:spPr>
        <p:txBody>
          <a:bodyPr wrap="square" rtlCol="0">
            <a:spAutoFit/>
          </a:bodyPr>
          <a:lstStyle/>
          <a:p>
            <a:r>
              <a:rPr lang="es-MX" sz="4400" b="1" i="1" dirty="0">
                <a:solidFill>
                  <a:schemeClr val="accent2"/>
                </a:solidFill>
              </a:rPr>
              <a:t>2</a:t>
            </a:r>
            <a:endParaRPr lang="es-CL" sz="4400" b="1" i="1" dirty="0">
              <a:solidFill>
                <a:schemeClr val="accent2"/>
              </a:solidFill>
            </a:endParaRPr>
          </a:p>
        </p:txBody>
      </p:sp>
      <p:sp>
        <p:nvSpPr>
          <p:cNvPr id="10" name="CuadroTexto 9">
            <a:extLst>
              <a:ext uri="{FF2B5EF4-FFF2-40B4-BE49-F238E27FC236}">
                <a16:creationId xmlns:a16="http://schemas.microsoft.com/office/drawing/2014/main" id="{AC0CD6DA-919F-CC4F-5FBB-A58996BD529A}"/>
              </a:ext>
            </a:extLst>
          </p:cNvPr>
          <p:cNvSpPr txBox="1"/>
          <p:nvPr/>
        </p:nvSpPr>
        <p:spPr>
          <a:xfrm>
            <a:off x="7438482" y="3733706"/>
            <a:ext cx="7643973" cy="369332"/>
          </a:xfrm>
          <a:prstGeom prst="rect">
            <a:avLst/>
          </a:prstGeom>
          <a:noFill/>
        </p:spPr>
        <p:txBody>
          <a:bodyPr wrap="square" rtlCol="0">
            <a:spAutoFit/>
          </a:bodyPr>
          <a:lstStyle/>
          <a:p>
            <a:r>
              <a:rPr lang="en-US" dirty="0"/>
              <a:t>Claude lo </a:t>
            </a:r>
            <a:r>
              <a:rPr lang="en-US" dirty="0" err="1"/>
              <a:t>detecta</a:t>
            </a:r>
            <a:r>
              <a:rPr lang="en-US" dirty="0"/>
              <a:t> y </a:t>
            </a:r>
            <a:r>
              <a:rPr lang="en-US" dirty="0" err="1"/>
              <a:t>aplica</a:t>
            </a:r>
            <a:r>
              <a:rPr lang="en-US" dirty="0"/>
              <a:t> </a:t>
            </a:r>
            <a:r>
              <a:rPr lang="en-US" dirty="0" err="1"/>
              <a:t>automaticamente</a:t>
            </a:r>
            <a:endParaRPr lang="en-US" dirty="0"/>
          </a:p>
        </p:txBody>
      </p:sp>
      <p:sp>
        <p:nvSpPr>
          <p:cNvPr id="11" name="CuadroTexto 10">
            <a:extLst>
              <a:ext uri="{FF2B5EF4-FFF2-40B4-BE49-F238E27FC236}">
                <a16:creationId xmlns:a16="http://schemas.microsoft.com/office/drawing/2014/main" id="{30100C25-53A0-D883-DE49-1FB0FF83943A}"/>
              </a:ext>
            </a:extLst>
          </p:cNvPr>
          <p:cNvSpPr txBox="1"/>
          <p:nvPr/>
        </p:nvSpPr>
        <p:spPr>
          <a:xfrm>
            <a:off x="6998330" y="3535183"/>
            <a:ext cx="577064" cy="769441"/>
          </a:xfrm>
          <a:prstGeom prst="rect">
            <a:avLst/>
          </a:prstGeom>
          <a:noFill/>
        </p:spPr>
        <p:txBody>
          <a:bodyPr wrap="square" rtlCol="0">
            <a:spAutoFit/>
          </a:bodyPr>
          <a:lstStyle/>
          <a:p>
            <a:r>
              <a:rPr lang="es-MX" sz="4400" b="1" i="1" dirty="0">
                <a:solidFill>
                  <a:schemeClr val="accent2"/>
                </a:solidFill>
              </a:rPr>
              <a:t>3</a:t>
            </a:r>
            <a:endParaRPr lang="es-CL" sz="4400" b="1" i="1" dirty="0">
              <a:solidFill>
                <a:schemeClr val="accent2"/>
              </a:solidFill>
            </a:endParaRPr>
          </a:p>
        </p:txBody>
      </p:sp>
      <p:sp>
        <p:nvSpPr>
          <p:cNvPr id="12" name="CuadroTexto 11">
            <a:extLst>
              <a:ext uri="{FF2B5EF4-FFF2-40B4-BE49-F238E27FC236}">
                <a16:creationId xmlns:a16="http://schemas.microsoft.com/office/drawing/2014/main" id="{EBBB5134-FCC1-C384-947D-F3B024D6DCC6}"/>
              </a:ext>
            </a:extLst>
          </p:cNvPr>
          <p:cNvSpPr txBox="1"/>
          <p:nvPr/>
        </p:nvSpPr>
        <p:spPr>
          <a:xfrm>
            <a:off x="7008607" y="4385712"/>
            <a:ext cx="577064" cy="769441"/>
          </a:xfrm>
          <a:prstGeom prst="rect">
            <a:avLst/>
          </a:prstGeom>
          <a:noFill/>
        </p:spPr>
        <p:txBody>
          <a:bodyPr wrap="square" rtlCol="0">
            <a:spAutoFit/>
          </a:bodyPr>
          <a:lstStyle/>
          <a:p>
            <a:r>
              <a:rPr lang="es-MX" sz="4400" b="1" i="1" dirty="0">
                <a:solidFill>
                  <a:schemeClr val="accent2"/>
                </a:solidFill>
              </a:rPr>
              <a:t>4</a:t>
            </a:r>
            <a:endParaRPr lang="es-CL" sz="4400" b="1" i="1" dirty="0">
              <a:solidFill>
                <a:schemeClr val="accent2"/>
              </a:solidFill>
            </a:endParaRPr>
          </a:p>
        </p:txBody>
      </p:sp>
      <p:sp>
        <p:nvSpPr>
          <p:cNvPr id="13" name="CuadroTexto 12">
            <a:extLst>
              <a:ext uri="{FF2B5EF4-FFF2-40B4-BE49-F238E27FC236}">
                <a16:creationId xmlns:a16="http://schemas.microsoft.com/office/drawing/2014/main" id="{78B48124-F358-1EA9-F7AF-F1668E89C956}"/>
              </a:ext>
            </a:extLst>
          </p:cNvPr>
          <p:cNvSpPr txBox="1"/>
          <p:nvPr/>
        </p:nvSpPr>
        <p:spPr>
          <a:xfrm>
            <a:off x="7469303" y="4523115"/>
            <a:ext cx="7643973" cy="677108"/>
          </a:xfrm>
          <a:prstGeom prst="rect">
            <a:avLst/>
          </a:prstGeom>
          <a:noFill/>
        </p:spPr>
        <p:txBody>
          <a:bodyPr wrap="square" rtlCol="0">
            <a:spAutoFit/>
          </a:bodyPr>
          <a:lstStyle/>
          <a:p>
            <a:r>
              <a:rPr lang="en-US" sz="2000" i="1" dirty="0" err="1"/>
              <a:t>Puedes</a:t>
            </a:r>
            <a:r>
              <a:rPr lang="en-US" sz="2000" i="1" dirty="0"/>
              <a:t> </a:t>
            </a:r>
            <a:r>
              <a:rPr lang="en-US" sz="2000" i="1" dirty="0" err="1"/>
              <a:t>compartirlo</a:t>
            </a:r>
            <a:r>
              <a:rPr lang="en-US" sz="2000" i="1" dirty="0"/>
              <a:t> con </a:t>
            </a:r>
            <a:r>
              <a:rPr lang="en-US" sz="2000" i="1" dirty="0" err="1"/>
              <a:t>tu</a:t>
            </a:r>
            <a:r>
              <a:rPr lang="en-US" sz="2000" i="1" dirty="0"/>
              <a:t> </a:t>
            </a:r>
            <a:r>
              <a:rPr lang="en-US" sz="2000" i="1" dirty="0" err="1"/>
              <a:t>equipo</a:t>
            </a:r>
            <a:r>
              <a:rPr lang="en-US" sz="2000" i="1" dirty="0"/>
              <a:t> via git</a:t>
            </a:r>
          </a:p>
          <a:p>
            <a:endParaRPr lang="es-MX" i="1" dirty="0"/>
          </a:p>
        </p:txBody>
      </p:sp>
      <p:sp>
        <p:nvSpPr>
          <p:cNvPr id="16" name="Text 9">
            <a:extLst>
              <a:ext uri="{FF2B5EF4-FFF2-40B4-BE49-F238E27FC236}">
                <a16:creationId xmlns:a16="http://schemas.microsoft.com/office/drawing/2014/main" id="{00F1E68F-8A76-895B-4343-50AA954F9866}"/>
              </a:ext>
            </a:extLst>
          </p:cNvPr>
          <p:cNvSpPr/>
          <p:nvPr/>
        </p:nvSpPr>
        <p:spPr>
          <a:xfrm>
            <a:off x="7113183" y="1289204"/>
            <a:ext cx="3749040" cy="347472"/>
          </a:xfrm>
          <a:prstGeom prst="rect">
            <a:avLst/>
          </a:prstGeom>
          <a:noFill/>
          <a:ln/>
        </p:spPr>
        <p:txBody>
          <a:bodyPr wrap="square" lIns="0" tIns="0" rIns="0" bIns="0" rtlCol="0" anchor="ctr"/>
          <a:lstStyle/>
          <a:p>
            <a:pPr marL="0" indent="0">
              <a:buNone/>
            </a:pPr>
            <a:r>
              <a:rPr lang="en-US" sz="2400" b="1" i="1" dirty="0">
                <a:solidFill>
                  <a:schemeClr val="accent2"/>
                </a:solidFill>
              </a:rPr>
              <a:t>¿Como funciona?</a:t>
            </a:r>
            <a:endParaRPr lang="en-US" sz="2400" i="1" dirty="0">
              <a:solidFill>
                <a:schemeClr val="accent2"/>
              </a:solidFill>
            </a:endParaRPr>
          </a:p>
        </p:txBody>
      </p:sp>
      <p:pic>
        <p:nvPicPr>
          <p:cNvPr id="19" name="Imagen 18">
            <a:extLst>
              <a:ext uri="{FF2B5EF4-FFF2-40B4-BE49-F238E27FC236}">
                <a16:creationId xmlns:a16="http://schemas.microsoft.com/office/drawing/2014/main" id="{DEF6CEA2-05CC-C53E-C212-BA6867601BEF}"/>
              </a:ext>
            </a:extLst>
          </p:cNvPr>
          <p:cNvPicPr>
            <a:picLocks noChangeAspect="1"/>
          </p:cNvPicPr>
          <p:nvPr/>
        </p:nvPicPr>
        <p:blipFill>
          <a:blip r:embed="rId4"/>
          <a:stretch>
            <a:fillRect/>
          </a:stretch>
        </p:blipFill>
        <p:spPr>
          <a:xfrm>
            <a:off x="1428108" y="3770464"/>
            <a:ext cx="4497494" cy="2859518"/>
          </a:xfrm>
          <a:prstGeom prst="rect">
            <a:avLst/>
          </a:prstGeom>
        </p:spPr>
      </p:pic>
      <p:pic>
        <p:nvPicPr>
          <p:cNvPr id="17" name="Imagen 16">
            <a:extLst>
              <a:ext uri="{FF2B5EF4-FFF2-40B4-BE49-F238E27FC236}">
                <a16:creationId xmlns:a16="http://schemas.microsoft.com/office/drawing/2014/main" id="{EDC3A9EF-5C74-7F77-5E7F-72ADB22CB937}"/>
              </a:ext>
            </a:extLst>
          </p:cNvPr>
          <p:cNvPicPr>
            <a:picLocks noChangeAspect="1"/>
          </p:cNvPicPr>
          <p:nvPr/>
        </p:nvPicPr>
        <p:blipFill>
          <a:blip r:embed="rId5"/>
          <a:stretch>
            <a:fillRect/>
          </a:stretch>
        </p:blipFill>
        <p:spPr>
          <a:xfrm>
            <a:off x="290430" y="1140689"/>
            <a:ext cx="11611140" cy="5555366"/>
          </a:xfrm>
          <a:prstGeom prst="rect">
            <a:avLst/>
          </a:prstGeom>
        </p:spPr>
      </p:pic>
    </p:spTree>
    <p:extLst>
      <p:ext uri="{BB962C8B-B14F-4D97-AF65-F5344CB8AC3E}">
        <p14:creationId xmlns:p14="http://schemas.microsoft.com/office/powerpoint/2010/main" val="3697634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8D4AE-594A-5EE9-0426-ECE2E08474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A38C9E-ED9B-212B-631A-03C17019EA8F}"/>
              </a:ext>
            </a:extLst>
          </p:cNvPr>
          <p:cNvSpPr>
            <a:spLocks noGrp="1"/>
          </p:cNvSpPr>
          <p:nvPr>
            <p:ph type="title"/>
          </p:nvPr>
        </p:nvSpPr>
        <p:spPr>
          <a:xfrm>
            <a:off x="414076" y="0"/>
            <a:ext cx="10846393" cy="1577458"/>
          </a:xfrm>
        </p:spPr>
        <p:txBody>
          <a:bodyPr>
            <a:normAutofit/>
          </a:bodyPr>
          <a:lstStyle/>
          <a:p>
            <a:r>
              <a:rPr lang="es-MX" sz="2400" b="1" i="1" dirty="0"/>
              <a:t>¿A quien escuchar?:  </a:t>
            </a:r>
            <a:r>
              <a:rPr lang="es-MX" sz="2400" i="1" dirty="0"/>
              <a:t>Daniel Ávila.</a:t>
            </a:r>
            <a:endParaRPr lang="es-CL" sz="3200" i="1" dirty="0"/>
          </a:p>
        </p:txBody>
      </p:sp>
      <p:pic>
        <p:nvPicPr>
          <p:cNvPr id="4" name="Picture 2" descr="Duoc UC - Learn Chile">
            <a:extLst>
              <a:ext uri="{FF2B5EF4-FFF2-40B4-BE49-F238E27FC236}">
                <a16:creationId xmlns:a16="http://schemas.microsoft.com/office/drawing/2014/main" id="{A753055C-731D-241C-0979-4966DC4B50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E9DDCEFA-767C-21BF-D9B8-4A25D5FE0BFF}"/>
              </a:ext>
            </a:extLst>
          </p:cNvPr>
          <p:cNvSpPr txBox="1"/>
          <p:nvPr/>
        </p:nvSpPr>
        <p:spPr>
          <a:xfrm>
            <a:off x="414076" y="1486937"/>
            <a:ext cx="6274086" cy="2246769"/>
          </a:xfrm>
          <a:prstGeom prst="rect">
            <a:avLst/>
          </a:prstGeom>
          <a:noFill/>
        </p:spPr>
        <p:txBody>
          <a:bodyPr wrap="square">
            <a:spAutoFit/>
          </a:bodyPr>
          <a:lstStyle/>
          <a:p>
            <a:pPr algn="ctr"/>
            <a:r>
              <a:rPr lang="en-US" sz="2800" i="1" dirty="0"/>
              <a:t>Un Skill es un </a:t>
            </a:r>
            <a:r>
              <a:rPr lang="en-US" sz="2800" i="1" dirty="0" err="1"/>
              <a:t>archivo</a:t>
            </a:r>
            <a:r>
              <a:rPr lang="en-US" sz="2800" i="1" dirty="0"/>
              <a:t> Markdown con </a:t>
            </a:r>
            <a:r>
              <a:rPr lang="en-US" sz="2800" i="1" dirty="0" err="1"/>
              <a:t>instrucciones</a:t>
            </a:r>
            <a:r>
              <a:rPr lang="en-US" sz="2800" i="1" dirty="0"/>
              <a:t> que Claude </a:t>
            </a:r>
            <a:r>
              <a:rPr lang="en-US" sz="2800" i="1" dirty="0" err="1"/>
              <a:t>aplica</a:t>
            </a:r>
            <a:r>
              <a:rPr lang="en-US" sz="2800" i="1" dirty="0"/>
              <a:t> </a:t>
            </a:r>
            <a:r>
              <a:rPr lang="en-US" sz="2800" i="1" dirty="0" err="1"/>
              <a:t>automaticamente</a:t>
            </a:r>
            <a:r>
              <a:rPr lang="en-US" sz="2800" i="1" dirty="0"/>
              <a:t> </a:t>
            </a:r>
            <a:r>
              <a:rPr lang="en-US" sz="2800" i="1" dirty="0" err="1"/>
              <a:t>cuando</a:t>
            </a:r>
            <a:r>
              <a:rPr lang="en-US" sz="2800" i="1" dirty="0"/>
              <a:t> la </a:t>
            </a:r>
            <a:r>
              <a:rPr lang="en-US" sz="2800" i="1" dirty="0" err="1"/>
              <a:t>tarea</a:t>
            </a:r>
            <a:r>
              <a:rPr lang="en-US" sz="2800" i="1" dirty="0"/>
              <a:t> coincide. Define las </a:t>
            </a:r>
            <a:r>
              <a:rPr lang="en-US" sz="2800" i="1" dirty="0" err="1"/>
              <a:t>instrucciones</a:t>
            </a:r>
            <a:r>
              <a:rPr lang="en-US" sz="2800" i="1" dirty="0"/>
              <a:t> </a:t>
            </a:r>
            <a:r>
              <a:rPr lang="en-US" sz="2800" i="1" dirty="0" err="1"/>
              <a:t>una</a:t>
            </a:r>
            <a:r>
              <a:rPr lang="en-US" sz="2800" i="1" dirty="0"/>
              <a:t> </a:t>
            </a:r>
            <a:r>
              <a:rPr lang="en-US" sz="2800" i="1" dirty="0" err="1"/>
              <a:t>vez</a:t>
            </a:r>
            <a:r>
              <a:rPr lang="en-US" sz="2800" i="1" dirty="0"/>
              <a:t>, Claude las </a:t>
            </a:r>
            <a:r>
              <a:rPr lang="en-US" sz="2800" i="1" dirty="0" err="1"/>
              <a:t>reutiliza</a:t>
            </a:r>
            <a:r>
              <a:rPr lang="en-US" sz="2800" i="1" dirty="0"/>
              <a:t> </a:t>
            </a:r>
            <a:r>
              <a:rPr lang="en-US" sz="2800" i="1" dirty="0" err="1"/>
              <a:t>siempre</a:t>
            </a:r>
            <a:r>
              <a:rPr lang="en-US" sz="2800" i="1" dirty="0"/>
              <a:t>.</a:t>
            </a:r>
          </a:p>
        </p:txBody>
      </p:sp>
      <p:sp>
        <p:nvSpPr>
          <p:cNvPr id="5" name="CuadroTexto 4">
            <a:extLst>
              <a:ext uri="{FF2B5EF4-FFF2-40B4-BE49-F238E27FC236}">
                <a16:creationId xmlns:a16="http://schemas.microsoft.com/office/drawing/2014/main" id="{1B29A6C7-80FB-2010-1D15-8404D10863FB}"/>
              </a:ext>
            </a:extLst>
          </p:cNvPr>
          <p:cNvSpPr txBox="1"/>
          <p:nvPr/>
        </p:nvSpPr>
        <p:spPr>
          <a:xfrm>
            <a:off x="7511957" y="1980851"/>
            <a:ext cx="7643973" cy="369332"/>
          </a:xfrm>
          <a:prstGeom prst="rect">
            <a:avLst/>
          </a:prstGeom>
          <a:noFill/>
        </p:spPr>
        <p:txBody>
          <a:bodyPr wrap="square" rtlCol="0">
            <a:spAutoFit/>
          </a:bodyPr>
          <a:lstStyle/>
          <a:p>
            <a:r>
              <a:rPr lang="en-US"/>
              <a:t>https://aitmpl.com/</a:t>
            </a:r>
            <a:endParaRPr lang="en-US" dirty="0"/>
          </a:p>
        </p:txBody>
      </p:sp>
      <p:sp>
        <p:nvSpPr>
          <p:cNvPr id="6" name="CuadroTexto 5">
            <a:extLst>
              <a:ext uri="{FF2B5EF4-FFF2-40B4-BE49-F238E27FC236}">
                <a16:creationId xmlns:a16="http://schemas.microsoft.com/office/drawing/2014/main" id="{7DB6029A-308F-DF40-AC2A-379034D5DB7D}"/>
              </a:ext>
            </a:extLst>
          </p:cNvPr>
          <p:cNvSpPr txBox="1"/>
          <p:nvPr/>
        </p:nvSpPr>
        <p:spPr>
          <a:xfrm>
            <a:off x="7008607" y="1792102"/>
            <a:ext cx="577064" cy="769441"/>
          </a:xfrm>
          <a:prstGeom prst="rect">
            <a:avLst/>
          </a:prstGeom>
          <a:noFill/>
        </p:spPr>
        <p:txBody>
          <a:bodyPr wrap="square" rtlCol="0">
            <a:spAutoFit/>
          </a:bodyPr>
          <a:lstStyle/>
          <a:p>
            <a:r>
              <a:rPr lang="es-MX" sz="4400" b="1" i="1" dirty="0">
                <a:solidFill>
                  <a:schemeClr val="accent2"/>
                </a:solidFill>
              </a:rPr>
              <a:t>1</a:t>
            </a:r>
            <a:endParaRPr lang="es-CL" sz="4400" b="1" i="1" dirty="0">
              <a:solidFill>
                <a:schemeClr val="accent2"/>
              </a:solidFill>
            </a:endParaRPr>
          </a:p>
        </p:txBody>
      </p:sp>
      <p:sp>
        <p:nvSpPr>
          <p:cNvPr id="7" name="CuadroTexto 6">
            <a:extLst>
              <a:ext uri="{FF2B5EF4-FFF2-40B4-BE49-F238E27FC236}">
                <a16:creationId xmlns:a16="http://schemas.microsoft.com/office/drawing/2014/main" id="{C1D401F4-4647-1534-44AF-3172B89B9BC4}"/>
              </a:ext>
            </a:extLst>
          </p:cNvPr>
          <p:cNvSpPr txBox="1"/>
          <p:nvPr/>
        </p:nvSpPr>
        <p:spPr>
          <a:xfrm>
            <a:off x="7532504" y="2819135"/>
            <a:ext cx="7643973" cy="369332"/>
          </a:xfrm>
          <a:prstGeom prst="rect">
            <a:avLst/>
          </a:prstGeom>
          <a:noFill/>
        </p:spPr>
        <p:txBody>
          <a:bodyPr wrap="square" rtlCol="0">
            <a:spAutoFit/>
          </a:bodyPr>
          <a:lstStyle/>
          <a:p>
            <a:r>
              <a:rPr lang="en-US" i="1"/>
              <a:t>https://aitmpl.com/</a:t>
            </a:r>
            <a:endParaRPr lang="en-US" i="1" dirty="0"/>
          </a:p>
        </p:txBody>
      </p:sp>
      <p:sp>
        <p:nvSpPr>
          <p:cNvPr id="9" name="CuadroTexto 8">
            <a:extLst>
              <a:ext uri="{FF2B5EF4-FFF2-40B4-BE49-F238E27FC236}">
                <a16:creationId xmlns:a16="http://schemas.microsoft.com/office/drawing/2014/main" id="{218634A2-6406-AE1D-1730-B7B1BE441302}"/>
              </a:ext>
            </a:extLst>
          </p:cNvPr>
          <p:cNvSpPr txBox="1"/>
          <p:nvPr/>
        </p:nvSpPr>
        <p:spPr>
          <a:xfrm>
            <a:off x="7008607" y="2623098"/>
            <a:ext cx="577064" cy="769441"/>
          </a:xfrm>
          <a:prstGeom prst="rect">
            <a:avLst/>
          </a:prstGeom>
          <a:noFill/>
        </p:spPr>
        <p:txBody>
          <a:bodyPr wrap="square" rtlCol="0">
            <a:spAutoFit/>
          </a:bodyPr>
          <a:lstStyle/>
          <a:p>
            <a:r>
              <a:rPr lang="es-MX" sz="4400" b="1" i="1" dirty="0">
                <a:solidFill>
                  <a:schemeClr val="accent2"/>
                </a:solidFill>
              </a:rPr>
              <a:t>2</a:t>
            </a:r>
            <a:endParaRPr lang="es-CL" sz="4400" b="1" i="1" dirty="0">
              <a:solidFill>
                <a:schemeClr val="accent2"/>
              </a:solidFill>
            </a:endParaRPr>
          </a:p>
        </p:txBody>
      </p:sp>
      <p:sp>
        <p:nvSpPr>
          <p:cNvPr id="10" name="CuadroTexto 9">
            <a:extLst>
              <a:ext uri="{FF2B5EF4-FFF2-40B4-BE49-F238E27FC236}">
                <a16:creationId xmlns:a16="http://schemas.microsoft.com/office/drawing/2014/main" id="{28F00464-0DCD-B20A-20B8-F31755711285}"/>
              </a:ext>
            </a:extLst>
          </p:cNvPr>
          <p:cNvSpPr txBox="1"/>
          <p:nvPr/>
        </p:nvSpPr>
        <p:spPr>
          <a:xfrm>
            <a:off x="7438482" y="3733706"/>
            <a:ext cx="7643973" cy="369332"/>
          </a:xfrm>
          <a:prstGeom prst="rect">
            <a:avLst/>
          </a:prstGeom>
          <a:noFill/>
        </p:spPr>
        <p:txBody>
          <a:bodyPr wrap="square" rtlCol="0">
            <a:spAutoFit/>
          </a:bodyPr>
          <a:lstStyle/>
          <a:p>
            <a:r>
              <a:rPr lang="en-US" dirty="0"/>
              <a:t>Claude lo </a:t>
            </a:r>
            <a:r>
              <a:rPr lang="en-US" dirty="0" err="1"/>
              <a:t>detecta</a:t>
            </a:r>
            <a:r>
              <a:rPr lang="en-US" dirty="0"/>
              <a:t> y </a:t>
            </a:r>
            <a:r>
              <a:rPr lang="en-US" dirty="0" err="1"/>
              <a:t>aplica</a:t>
            </a:r>
            <a:r>
              <a:rPr lang="en-US" dirty="0"/>
              <a:t> </a:t>
            </a:r>
            <a:r>
              <a:rPr lang="en-US" dirty="0" err="1"/>
              <a:t>automaticamente</a:t>
            </a:r>
            <a:endParaRPr lang="en-US" dirty="0"/>
          </a:p>
        </p:txBody>
      </p:sp>
      <p:sp>
        <p:nvSpPr>
          <p:cNvPr id="11" name="CuadroTexto 10">
            <a:extLst>
              <a:ext uri="{FF2B5EF4-FFF2-40B4-BE49-F238E27FC236}">
                <a16:creationId xmlns:a16="http://schemas.microsoft.com/office/drawing/2014/main" id="{1AEEF3B4-126C-4DB4-A286-35B8B3C01D13}"/>
              </a:ext>
            </a:extLst>
          </p:cNvPr>
          <p:cNvSpPr txBox="1"/>
          <p:nvPr/>
        </p:nvSpPr>
        <p:spPr>
          <a:xfrm>
            <a:off x="6998330" y="3535183"/>
            <a:ext cx="577064" cy="769441"/>
          </a:xfrm>
          <a:prstGeom prst="rect">
            <a:avLst/>
          </a:prstGeom>
          <a:noFill/>
        </p:spPr>
        <p:txBody>
          <a:bodyPr wrap="square" rtlCol="0">
            <a:spAutoFit/>
          </a:bodyPr>
          <a:lstStyle/>
          <a:p>
            <a:r>
              <a:rPr lang="es-MX" sz="4400" b="1" i="1" dirty="0">
                <a:solidFill>
                  <a:schemeClr val="accent2"/>
                </a:solidFill>
              </a:rPr>
              <a:t>3</a:t>
            </a:r>
            <a:endParaRPr lang="es-CL" sz="4400" b="1" i="1" dirty="0">
              <a:solidFill>
                <a:schemeClr val="accent2"/>
              </a:solidFill>
            </a:endParaRPr>
          </a:p>
        </p:txBody>
      </p:sp>
      <p:sp>
        <p:nvSpPr>
          <p:cNvPr id="12" name="CuadroTexto 11">
            <a:extLst>
              <a:ext uri="{FF2B5EF4-FFF2-40B4-BE49-F238E27FC236}">
                <a16:creationId xmlns:a16="http://schemas.microsoft.com/office/drawing/2014/main" id="{92F9DD8F-1BF4-A82A-B130-6B32905E9C6B}"/>
              </a:ext>
            </a:extLst>
          </p:cNvPr>
          <p:cNvSpPr txBox="1"/>
          <p:nvPr/>
        </p:nvSpPr>
        <p:spPr>
          <a:xfrm>
            <a:off x="7008607" y="4385712"/>
            <a:ext cx="577064" cy="769441"/>
          </a:xfrm>
          <a:prstGeom prst="rect">
            <a:avLst/>
          </a:prstGeom>
          <a:noFill/>
        </p:spPr>
        <p:txBody>
          <a:bodyPr wrap="square" rtlCol="0">
            <a:spAutoFit/>
          </a:bodyPr>
          <a:lstStyle/>
          <a:p>
            <a:r>
              <a:rPr lang="es-MX" sz="4400" b="1" i="1" dirty="0">
                <a:solidFill>
                  <a:schemeClr val="accent2"/>
                </a:solidFill>
              </a:rPr>
              <a:t>4</a:t>
            </a:r>
            <a:endParaRPr lang="es-CL" sz="4400" b="1" i="1" dirty="0">
              <a:solidFill>
                <a:schemeClr val="accent2"/>
              </a:solidFill>
            </a:endParaRPr>
          </a:p>
        </p:txBody>
      </p:sp>
      <p:sp>
        <p:nvSpPr>
          <p:cNvPr id="13" name="CuadroTexto 12">
            <a:extLst>
              <a:ext uri="{FF2B5EF4-FFF2-40B4-BE49-F238E27FC236}">
                <a16:creationId xmlns:a16="http://schemas.microsoft.com/office/drawing/2014/main" id="{D3134F8F-CEAD-F75F-C4ED-647D77C44685}"/>
              </a:ext>
            </a:extLst>
          </p:cNvPr>
          <p:cNvSpPr txBox="1"/>
          <p:nvPr/>
        </p:nvSpPr>
        <p:spPr>
          <a:xfrm>
            <a:off x="7469303" y="4523115"/>
            <a:ext cx="7643973" cy="677108"/>
          </a:xfrm>
          <a:prstGeom prst="rect">
            <a:avLst/>
          </a:prstGeom>
          <a:noFill/>
        </p:spPr>
        <p:txBody>
          <a:bodyPr wrap="square" rtlCol="0">
            <a:spAutoFit/>
          </a:bodyPr>
          <a:lstStyle/>
          <a:p>
            <a:r>
              <a:rPr lang="en-US" sz="2000" i="1" dirty="0" err="1"/>
              <a:t>Puedes</a:t>
            </a:r>
            <a:r>
              <a:rPr lang="en-US" sz="2000" i="1" dirty="0"/>
              <a:t> </a:t>
            </a:r>
            <a:r>
              <a:rPr lang="en-US" sz="2000" i="1" dirty="0" err="1"/>
              <a:t>compartirlo</a:t>
            </a:r>
            <a:r>
              <a:rPr lang="en-US" sz="2000" i="1" dirty="0"/>
              <a:t> con </a:t>
            </a:r>
            <a:r>
              <a:rPr lang="en-US" sz="2000" i="1" dirty="0" err="1"/>
              <a:t>tu</a:t>
            </a:r>
            <a:r>
              <a:rPr lang="en-US" sz="2000" i="1" dirty="0"/>
              <a:t> </a:t>
            </a:r>
            <a:r>
              <a:rPr lang="en-US" sz="2000" i="1" dirty="0" err="1"/>
              <a:t>equipo</a:t>
            </a:r>
            <a:r>
              <a:rPr lang="en-US" sz="2000" i="1" dirty="0"/>
              <a:t> via git</a:t>
            </a:r>
          </a:p>
          <a:p>
            <a:endParaRPr lang="es-MX" i="1" dirty="0"/>
          </a:p>
        </p:txBody>
      </p:sp>
      <p:sp>
        <p:nvSpPr>
          <p:cNvPr id="16" name="Text 9">
            <a:extLst>
              <a:ext uri="{FF2B5EF4-FFF2-40B4-BE49-F238E27FC236}">
                <a16:creationId xmlns:a16="http://schemas.microsoft.com/office/drawing/2014/main" id="{F4D8CCF5-4B77-7DC7-9220-257D59BB06A3}"/>
              </a:ext>
            </a:extLst>
          </p:cNvPr>
          <p:cNvSpPr/>
          <p:nvPr/>
        </p:nvSpPr>
        <p:spPr>
          <a:xfrm>
            <a:off x="7113183" y="1289204"/>
            <a:ext cx="3749040" cy="347472"/>
          </a:xfrm>
          <a:prstGeom prst="rect">
            <a:avLst/>
          </a:prstGeom>
          <a:noFill/>
          <a:ln/>
        </p:spPr>
        <p:txBody>
          <a:bodyPr wrap="square" lIns="0" tIns="0" rIns="0" bIns="0" rtlCol="0" anchor="ctr"/>
          <a:lstStyle/>
          <a:p>
            <a:pPr marL="0" indent="0">
              <a:buNone/>
            </a:pPr>
            <a:r>
              <a:rPr lang="en-US" sz="2400" b="1" i="1" dirty="0">
                <a:solidFill>
                  <a:schemeClr val="accent2"/>
                </a:solidFill>
              </a:rPr>
              <a:t>¿Como funciona?</a:t>
            </a:r>
            <a:endParaRPr lang="en-US" sz="2400" i="1" dirty="0">
              <a:solidFill>
                <a:schemeClr val="accent2"/>
              </a:solidFill>
            </a:endParaRPr>
          </a:p>
        </p:txBody>
      </p:sp>
      <p:pic>
        <p:nvPicPr>
          <p:cNvPr id="19" name="Imagen 18">
            <a:extLst>
              <a:ext uri="{FF2B5EF4-FFF2-40B4-BE49-F238E27FC236}">
                <a16:creationId xmlns:a16="http://schemas.microsoft.com/office/drawing/2014/main" id="{E2C0E017-24C2-856C-102D-D065F1424F9C}"/>
              </a:ext>
            </a:extLst>
          </p:cNvPr>
          <p:cNvPicPr>
            <a:picLocks noChangeAspect="1"/>
          </p:cNvPicPr>
          <p:nvPr/>
        </p:nvPicPr>
        <p:blipFill>
          <a:blip r:embed="rId4"/>
          <a:stretch>
            <a:fillRect/>
          </a:stretch>
        </p:blipFill>
        <p:spPr>
          <a:xfrm>
            <a:off x="1428108" y="3770464"/>
            <a:ext cx="4497494" cy="2859518"/>
          </a:xfrm>
          <a:prstGeom prst="rect">
            <a:avLst/>
          </a:prstGeom>
        </p:spPr>
      </p:pic>
      <p:pic>
        <p:nvPicPr>
          <p:cNvPr id="14" name="Imagen 13">
            <a:extLst>
              <a:ext uri="{FF2B5EF4-FFF2-40B4-BE49-F238E27FC236}">
                <a16:creationId xmlns:a16="http://schemas.microsoft.com/office/drawing/2014/main" id="{11076522-A5C1-A2FF-1276-046AB7D11FE7}"/>
              </a:ext>
            </a:extLst>
          </p:cNvPr>
          <p:cNvPicPr>
            <a:picLocks noChangeAspect="1"/>
          </p:cNvPicPr>
          <p:nvPr/>
        </p:nvPicPr>
        <p:blipFill>
          <a:blip r:embed="rId5"/>
          <a:stretch>
            <a:fillRect/>
          </a:stretch>
        </p:blipFill>
        <p:spPr>
          <a:xfrm>
            <a:off x="532670" y="1123406"/>
            <a:ext cx="5609294" cy="5506576"/>
          </a:xfrm>
          <a:prstGeom prst="rect">
            <a:avLst/>
          </a:prstGeom>
        </p:spPr>
      </p:pic>
      <p:pic>
        <p:nvPicPr>
          <p:cNvPr id="18" name="Imagen 17">
            <a:extLst>
              <a:ext uri="{FF2B5EF4-FFF2-40B4-BE49-F238E27FC236}">
                <a16:creationId xmlns:a16="http://schemas.microsoft.com/office/drawing/2014/main" id="{863AEC4F-4F9E-7B47-5B59-24890AB1E967}"/>
              </a:ext>
            </a:extLst>
          </p:cNvPr>
          <p:cNvPicPr>
            <a:picLocks noChangeAspect="1"/>
          </p:cNvPicPr>
          <p:nvPr/>
        </p:nvPicPr>
        <p:blipFill>
          <a:blip r:embed="rId6"/>
          <a:stretch>
            <a:fillRect/>
          </a:stretch>
        </p:blipFill>
        <p:spPr>
          <a:xfrm>
            <a:off x="6141964" y="1123406"/>
            <a:ext cx="5691479" cy="5499479"/>
          </a:xfrm>
          <a:prstGeom prst="rect">
            <a:avLst/>
          </a:prstGeom>
        </p:spPr>
      </p:pic>
      <p:sp>
        <p:nvSpPr>
          <p:cNvPr id="21" name="CuadroTexto 20">
            <a:extLst>
              <a:ext uri="{FF2B5EF4-FFF2-40B4-BE49-F238E27FC236}">
                <a16:creationId xmlns:a16="http://schemas.microsoft.com/office/drawing/2014/main" id="{E65FF9F6-CBF8-0B22-2425-7BCB3D966ECF}"/>
              </a:ext>
            </a:extLst>
          </p:cNvPr>
          <p:cNvSpPr txBox="1"/>
          <p:nvPr/>
        </p:nvSpPr>
        <p:spPr>
          <a:xfrm>
            <a:off x="7113183" y="395987"/>
            <a:ext cx="7587464" cy="584775"/>
          </a:xfrm>
          <a:prstGeom prst="rect">
            <a:avLst/>
          </a:prstGeom>
          <a:noFill/>
        </p:spPr>
        <p:txBody>
          <a:bodyPr wrap="square">
            <a:spAutoFit/>
          </a:bodyPr>
          <a:lstStyle/>
          <a:p>
            <a:r>
              <a:rPr lang="es-CL" sz="3200" b="1" i="1" dirty="0"/>
              <a:t>https://aitmpl.com/</a:t>
            </a:r>
          </a:p>
        </p:txBody>
      </p:sp>
    </p:spTree>
    <p:extLst>
      <p:ext uri="{BB962C8B-B14F-4D97-AF65-F5344CB8AC3E}">
        <p14:creationId xmlns:p14="http://schemas.microsoft.com/office/powerpoint/2010/main" val="1951071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3839E-5A98-7812-AB7E-6274FBB2A3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F32FC9-286C-06B9-8FE0-68454B988D22}"/>
              </a:ext>
            </a:extLst>
          </p:cNvPr>
          <p:cNvSpPr>
            <a:spLocks noGrp="1"/>
          </p:cNvSpPr>
          <p:nvPr>
            <p:ph type="title"/>
          </p:nvPr>
        </p:nvSpPr>
        <p:spPr>
          <a:xfrm>
            <a:off x="414076" y="0"/>
            <a:ext cx="10846393" cy="1577458"/>
          </a:xfrm>
        </p:spPr>
        <p:txBody>
          <a:bodyPr>
            <a:normAutofit/>
          </a:bodyPr>
          <a:lstStyle/>
          <a:p>
            <a:r>
              <a:rPr lang="es-MX" sz="2400" b="1" i="1" dirty="0"/>
              <a:t>¿A quien escuchar?:  </a:t>
            </a:r>
            <a:r>
              <a:rPr lang="es-MX" sz="2800" i="1" dirty="0"/>
              <a:t>I</a:t>
            </a:r>
            <a:r>
              <a:rPr lang="es-CL" sz="2800" i="1" dirty="0" err="1"/>
              <a:t>an</a:t>
            </a:r>
            <a:r>
              <a:rPr lang="es-CL" sz="2800" i="1" dirty="0"/>
              <a:t> Lee, fundador de </a:t>
            </a:r>
            <a:r>
              <a:rPr lang="es-CL" sz="2800" i="1" dirty="0" err="1"/>
              <a:t>Nexor</a:t>
            </a:r>
            <a:r>
              <a:rPr lang="es-CL" sz="3200" b="1" i="1" dirty="0"/>
              <a:t>. </a:t>
            </a:r>
            <a:endParaRPr lang="es-CL" sz="3200" i="1" dirty="0"/>
          </a:p>
        </p:txBody>
      </p:sp>
      <p:pic>
        <p:nvPicPr>
          <p:cNvPr id="4" name="Picture 2" descr="Duoc UC - Learn Chile">
            <a:extLst>
              <a:ext uri="{FF2B5EF4-FFF2-40B4-BE49-F238E27FC236}">
                <a16:creationId xmlns:a16="http://schemas.microsoft.com/office/drawing/2014/main" id="{EE31651A-2AB3-2C1A-2F17-6917BFE787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2ECE1B23-7454-BAED-0A1D-6E9156753441}"/>
              </a:ext>
            </a:extLst>
          </p:cNvPr>
          <p:cNvSpPr txBox="1"/>
          <p:nvPr/>
        </p:nvSpPr>
        <p:spPr>
          <a:xfrm>
            <a:off x="8066761" y="1866991"/>
            <a:ext cx="7643973" cy="369332"/>
          </a:xfrm>
          <a:prstGeom prst="rect">
            <a:avLst/>
          </a:prstGeom>
          <a:noFill/>
        </p:spPr>
        <p:txBody>
          <a:bodyPr wrap="square" rtlCol="0">
            <a:spAutoFit/>
          </a:bodyPr>
          <a:lstStyle/>
          <a:p>
            <a:r>
              <a:rPr lang="en-US" dirty="0"/>
              <a:t>https://aitmpl.com/</a:t>
            </a:r>
          </a:p>
        </p:txBody>
      </p:sp>
      <p:sp>
        <p:nvSpPr>
          <p:cNvPr id="6" name="CuadroTexto 5">
            <a:extLst>
              <a:ext uri="{FF2B5EF4-FFF2-40B4-BE49-F238E27FC236}">
                <a16:creationId xmlns:a16="http://schemas.microsoft.com/office/drawing/2014/main" id="{AC7DB3EC-CF99-6BBF-8977-8D18EC330B0A}"/>
              </a:ext>
            </a:extLst>
          </p:cNvPr>
          <p:cNvSpPr txBox="1"/>
          <p:nvPr/>
        </p:nvSpPr>
        <p:spPr>
          <a:xfrm>
            <a:off x="7008607" y="1792102"/>
            <a:ext cx="577064" cy="769441"/>
          </a:xfrm>
          <a:prstGeom prst="rect">
            <a:avLst/>
          </a:prstGeom>
          <a:noFill/>
        </p:spPr>
        <p:txBody>
          <a:bodyPr wrap="square" rtlCol="0">
            <a:spAutoFit/>
          </a:bodyPr>
          <a:lstStyle/>
          <a:p>
            <a:r>
              <a:rPr lang="es-MX" sz="4400" b="1" i="1" dirty="0">
                <a:solidFill>
                  <a:schemeClr val="accent2"/>
                </a:solidFill>
              </a:rPr>
              <a:t>1</a:t>
            </a:r>
            <a:endParaRPr lang="es-CL" sz="4400" b="1" i="1" dirty="0">
              <a:solidFill>
                <a:schemeClr val="accent2"/>
              </a:solidFill>
            </a:endParaRPr>
          </a:p>
        </p:txBody>
      </p:sp>
      <p:sp>
        <p:nvSpPr>
          <p:cNvPr id="7" name="CuadroTexto 6">
            <a:extLst>
              <a:ext uri="{FF2B5EF4-FFF2-40B4-BE49-F238E27FC236}">
                <a16:creationId xmlns:a16="http://schemas.microsoft.com/office/drawing/2014/main" id="{7AC49F8E-C981-F9E2-DB50-FFB80DE74F8B}"/>
              </a:ext>
            </a:extLst>
          </p:cNvPr>
          <p:cNvSpPr txBox="1"/>
          <p:nvPr/>
        </p:nvSpPr>
        <p:spPr>
          <a:xfrm>
            <a:off x="7532504" y="2819135"/>
            <a:ext cx="7643973" cy="369332"/>
          </a:xfrm>
          <a:prstGeom prst="rect">
            <a:avLst/>
          </a:prstGeom>
          <a:noFill/>
        </p:spPr>
        <p:txBody>
          <a:bodyPr wrap="square" rtlCol="0">
            <a:spAutoFit/>
          </a:bodyPr>
          <a:lstStyle/>
          <a:p>
            <a:r>
              <a:rPr lang="en-US" i="1"/>
              <a:t>https://aitmpl.com/</a:t>
            </a:r>
            <a:endParaRPr lang="en-US" i="1" dirty="0"/>
          </a:p>
        </p:txBody>
      </p:sp>
      <p:sp>
        <p:nvSpPr>
          <p:cNvPr id="9" name="CuadroTexto 8">
            <a:extLst>
              <a:ext uri="{FF2B5EF4-FFF2-40B4-BE49-F238E27FC236}">
                <a16:creationId xmlns:a16="http://schemas.microsoft.com/office/drawing/2014/main" id="{340E53F5-D797-9F13-5617-BDE3AD2B019C}"/>
              </a:ext>
            </a:extLst>
          </p:cNvPr>
          <p:cNvSpPr txBox="1"/>
          <p:nvPr/>
        </p:nvSpPr>
        <p:spPr>
          <a:xfrm>
            <a:off x="7008607" y="2623098"/>
            <a:ext cx="577064" cy="769441"/>
          </a:xfrm>
          <a:prstGeom prst="rect">
            <a:avLst/>
          </a:prstGeom>
          <a:noFill/>
        </p:spPr>
        <p:txBody>
          <a:bodyPr wrap="square" rtlCol="0">
            <a:spAutoFit/>
          </a:bodyPr>
          <a:lstStyle/>
          <a:p>
            <a:r>
              <a:rPr lang="es-MX" sz="4400" b="1" i="1" dirty="0">
                <a:solidFill>
                  <a:schemeClr val="accent2"/>
                </a:solidFill>
              </a:rPr>
              <a:t>2</a:t>
            </a:r>
            <a:endParaRPr lang="es-CL" sz="4400" b="1" i="1" dirty="0">
              <a:solidFill>
                <a:schemeClr val="accent2"/>
              </a:solidFill>
            </a:endParaRPr>
          </a:p>
        </p:txBody>
      </p:sp>
      <p:pic>
        <p:nvPicPr>
          <p:cNvPr id="15" name="Imagen 14">
            <a:extLst>
              <a:ext uri="{FF2B5EF4-FFF2-40B4-BE49-F238E27FC236}">
                <a16:creationId xmlns:a16="http://schemas.microsoft.com/office/drawing/2014/main" id="{4CC46F5F-CE52-A7CA-D433-9CF756840E58}"/>
              </a:ext>
            </a:extLst>
          </p:cNvPr>
          <p:cNvPicPr>
            <a:picLocks noChangeAspect="1"/>
          </p:cNvPicPr>
          <p:nvPr/>
        </p:nvPicPr>
        <p:blipFill>
          <a:blip r:embed="rId4"/>
          <a:stretch>
            <a:fillRect/>
          </a:stretch>
        </p:blipFill>
        <p:spPr>
          <a:xfrm>
            <a:off x="2027310" y="1383416"/>
            <a:ext cx="8137379" cy="4572235"/>
          </a:xfrm>
          <a:prstGeom prst="rect">
            <a:avLst/>
          </a:prstGeom>
        </p:spPr>
      </p:pic>
      <p:sp>
        <p:nvSpPr>
          <p:cNvPr id="20" name="CuadroTexto 19">
            <a:extLst>
              <a:ext uri="{FF2B5EF4-FFF2-40B4-BE49-F238E27FC236}">
                <a16:creationId xmlns:a16="http://schemas.microsoft.com/office/drawing/2014/main" id="{0C0574AC-FCA9-76E4-C1E7-2EC45C5E75A7}"/>
              </a:ext>
            </a:extLst>
          </p:cNvPr>
          <p:cNvSpPr txBox="1"/>
          <p:nvPr/>
        </p:nvSpPr>
        <p:spPr>
          <a:xfrm>
            <a:off x="3658375" y="6151688"/>
            <a:ext cx="7854592" cy="369332"/>
          </a:xfrm>
          <a:prstGeom prst="rect">
            <a:avLst/>
          </a:prstGeom>
          <a:noFill/>
        </p:spPr>
        <p:txBody>
          <a:bodyPr wrap="square">
            <a:spAutoFit/>
          </a:bodyPr>
          <a:lstStyle/>
          <a:p>
            <a:r>
              <a:rPr lang="es-CL" dirty="0"/>
              <a:t>https://www.youtube.com/watch?v=JXn8lYzU_eg</a:t>
            </a:r>
          </a:p>
        </p:txBody>
      </p:sp>
    </p:spTree>
    <p:extLst>
      <p:ext uri="{BB962C8B-B14F-4D97-AF65-F5344CB8AC3E}">
        <p14:creationId xmlns:p14="http://schemas.microsoft.com/office/powerpoint/2010/main" val="34129670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3566</TotalTime>
  <Words>5730</Words>
  <Application>Microsoft Office PowerPoint</Application>
  <PresentationFormat>Panorámica</PresentationFormat>
  <Paragraphs>214</Paragraphs>
  <Slides>13</Slides>
  <Notes>13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Consolas</vt:lpstr>
      <vt:lpstr>Tema de Office</vt:lpstr>
      <vt:lpstr>Ingeniería de soluciones con AI</vt:lpstr>
      <vt:lpstr>Presentación de PowerPoint</vt:lpstr>
      <vt:lpstr>Claude Code: “La mejor manera de programar en el mercado”</vt:lpstr>
      <vt:lpstr>¿Cómo empezar?: Es gratis, pero si quieres usar los modelos de Anthropic, debes pagar al menos USD 17. </vt:lpstr>
      <vt:lpstr>¿Cómo empezar?: From 0 To Hero.</vt:lpstr>
      <vt:lpstr>¿Por qué es útil?: Muchos usos, poco problemas útiles.</vt:lpstr>
      <vt:lpstr>¿Comando?: Trucos fáciles para trabajar con Claude Code.</vt:lpstr>
      <vt:lpstr>MCP: Model Context Protocol</vt:lpstr>
      <vt:lpstr>Hooks: Automatización con Control</vt:lpstr>
      <vt:lpstr>Skills:  Instrucciones Reutilizables.</vt:lpstr>
      <vt:lpstr>Agentes:  Divide y Vencerás.</vt:lpstr>
      <vt:lpstr>¿A quien escuchar?:  Daniel Ávila.</vt:lpstr>
      <vt:lpstr>¿A quien escuchar?:  Ian Lee, fundador de Nexor.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34</cp:revision>
  <dcterms:created xsi:type="dcterms:W3CDTF">2026-03-06T13:35:57Z</dcterms:created>
  <dcterms:modified xsi:type="dcterms:W3CDTF">2026-06-21T16:46:35Z</dcterms:modified>
</cp:coreProperties>
</file>